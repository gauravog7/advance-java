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323" r:id="rId3"/>
    <p:sldId id="458" r:id="rId4"/>
    <p:sldId id="324" r:id="rId5"/>
    <p:sldId id="460" r:id="rId6"/>
    <p:sldId id="461" r:id="rId7"/>
    <p:sldId id="462" r:id="rId8"/>
    <p:sldId id="463" r:id="rId9"/>
    <p:sldId id="464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77" r:id="rId22"/>
    <p:sldId id="478" r:id="rId23"/>
    <p:sldId id="479" r:id="rId24"/>
    <p:sldId id="480" r:id="rId25"/>
    <p:sldId id="481" r:id="rId26"/>
    <p:sldId id="482" r:id="rId27"/>
    <p:sldId id="483" r:id="rId28"/>
    <p:sldId id="484" r:id="rId29"/>
    <p:sldId id="486" r:id="rId30"/>
    <p:sldId id="487" r:id="rId31"/>
    <p:sldId id="489" r:id="rId32"/>
    <p:sldId id="490" r:id="rId33"/>
    <p:sldId id="491" r:id="rId34"/>
    <p:sldId id="493" r:id="rId35"/>
    <p:sldId id="494" r:id="rId36"/>
    <p:sldId id="495" r:id="rId37"/>
    <p:sldId id="496" r:id="rId38"/>
    <p:sldId id="497" r:id="rId39"/>
    <p:sldId id="498" r:id="rId40"/>
    <p:sldId id="499" r:id="rId41"/>
    <p:sldId id="500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A5DF9-C080-40DF-AEA1-F94EF514F022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50827-86A0-43E8-81BB-EFC33F46E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76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41511A9E-5E23-E796-A37C-5828BC6BC5E9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1168400" y="1744663"/>
            <a:ext cx="6858000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500" b="1" dirty="0">
                <a:solidFill>
                  <a:srgbClr val="000000"/>
                </a:solidFill>
                <a:cs typeface="Times New Roman" panose="02020603050405020304" pitchFamily="18" charset="0"/>
              </a:rPr>
              <a:t>Advance</a:t>
            </a:r>
            <a:r>
              <a:rPr lang="en-IN" altLang="en-US" sz="3500" b="1" dirty="0">
                <a:solidFill>
                  <a:srgbClr val="000000"/>
                </a:solidFill>
                <a:cs typeface="Times New Roman" panose="02020603050405020304" pitchFamily="18" charset="0"/>
              </a:rPr>
              <a:t> Java</a:t>
            </a:r>
          </a:p>
        </p:txBody>
      </p:sp>
      <p:grpSp>
        <p:nvGrpSpPr>
          <p:cNvPr id="11" name="Group 26">
            <a:extLst>
              <a:ext uri="{FF2B5EF4-FFF2-40B4-BE49-F238E27FC236}">
                <a16:creationId xmlns:a16="http://schemas.microsoft.com/office/drawing/2014/main" id="{DB474A11-A826-652C-0461-95817303170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17638" y="2692400"/>
            <a:ext cx="6308725" cy="93663"/>
            <a:chOff x="1428728" y="2571744"/>
            <a:chExt cx="6309404" cy="94298"/>
          </a:xfrm>
        </p:grpSpPr>
        <p:sp>
          <p:nvSpPr>
            <p:cNvPr id="12" name="Straight Connector 8">
              <a:extLst>
                <a:ext uri="{FF2B5EF4-FFF2-40B4-BE49-F238E27FC236}">
                  <a16:creationId xmlns:a16="http://schemas.microsoft.com/office/drawing/2014/main" id="{E07CD9FD-D4CD-79E7-B5D7-FC6094BEA5B8}"/>
                </a:ext>
              </a:extLst>
            </p:cNvPr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1428728" y="2618094"/>
              <a:ext cx="6287177" cy="159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Oval 24">
              <a:extLst>
                <a:ext uri="{FF2B5EF4-FFF2-40B4-BE49-F238E27FC236}">
                  <a16:creationId xmlns:a16="http://schemas.microsoft.com/office/drawing/2014/main" id="{84FF77FC-D0D8-A137-2AB7-1C1A0661D5CE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 flipH="1" flipV="1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" name="Oval 25">
              <a:extLst>
                <a:ext uri="{FF2B5EF4-FFF2-40B4-BE49-F238E27FC236}">
                  <a16:creationId xmlns:a16="http://schemas.microsoft.com/office/drawing/2014/main" id="{FDB144FE-873D-513E-9836-7B92A1E6B019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 flipH="1" flipV="1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04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2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7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1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23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04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3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0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95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25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082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B9A7D7C4-093D-3558-082E-2361FC2F20AD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581" y="2776455"/>
            <a:ext cx="5430838" cy="280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1546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C:\Users\parul\Desktop\Cover Page with yellow patch - Version 18.png">
            <a:extLst>
              <a:ext uri="{FF2B5EF4-FFF2-40B4-BE49-F238E27FC236}">
                <a16:creationId xmlns:a16="http://schemas.microsoft.com/office/drawing/2014/main" id="{756C4F08-D2D8-AEB6-9825-5F33B007042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4946650"/>
            <a:ext cx="30670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77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52F12-2FDA-48AD-A6E8-ACD1F072F40A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48770-0E36-4D7D-8124-C06EC090C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02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0BCAC4D-696F-B836-4773-58995408631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3714750"/>
            <a:ext cx="9144000" cy="7143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Server Faces</a:t>
            </a:r>
            <a:endParaRPr lang="en-I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B27439B-57F6-0AA6-0670-092242D019A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14500" y="3071813"/>
            <a:ext cx="5715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500" b="1" dirty="0">
                <a:cs typeface="Times New Roman" panose="02020603050405020304" pitchFamily="18" charset="0"/>
              </a:rPr>
              <a:t>Unit - 3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23ADB-C3BE-2E60-0F4B-92133481DF8A}"/>
              </a:ext>
            </a:extLst>
          </p:cNvPr>
          <p:cNvSpPr txBox="1"/>
          <p:nvPr/>
        </p:nvSpPr>
        <p:spPr>
          <a:xfrm>
            <a:off x="5214257" y="32548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65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B936D777-4D08-FC9C-562C-397B5275167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0500" y="2352675"/>
            <a:ext cx="87630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is a Java framework used to build the user interface of web applications. Instead of manually handling every request and HTML element, JSF provides ready-made components such as input fields, buttons, tables, messages and forms.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is mainly concerned with building the presentation/user-interface layer of a Java web application.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allows developers to create web pages using reusable UI components such as: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fields, Password fields, Buttons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Checkboxes, Lists, Tables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CCBA97CA-D87D-215B-98B6-91DE108DF67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9B4BC39-29FF-0424-D8B1-CEFC7187CAE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87513"/>
            <a:ext cx="89535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JSF</a:t>
            </a:r>
            <a:endParaRPr lang="en-I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06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7CD4-4BF5-2BAE-FE25-F7976521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6E335676-F79A-ACB5-CAF0-63F966EC2BD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0500" y="2352675"/>
            <a:ext cx="8763000" cy="400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Page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type="text"&gt;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type="submit"&gt;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Concept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separates: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→ Application Logic → Database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2748803F-A51B-0BEE-19B9-9E0BB015F5A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FFCB104-5BF9-9D59-37B9-92346F2EEF9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687513"/>
            <a:ext cx="89535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JSF</a:t>
            </a:r>
            <a:endParaRPr lang="en-I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31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7C92-8072-29AB-1A88-633CA9EC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FBEFEB9-82E0-AB9D-0B42-57C6AE0CB91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4CA0C8D-E467-9B8E-2506-BC375390948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JSF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C56D7F-5DF7-DF3F-D1BC-C85BA2D19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Traditional Servlet-Based Applications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create a student registration form, Using Servlets, developers may need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HTML manually.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request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response HTML.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application state.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navigation.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UI with Java objects.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become difficult as the application grows.</a:t>
            </a:r>
          </a:p>
        </p:txBody>
      </p:sp>
    </p:spTree>
    <p:extLst>
      <p:ext uri="{BB962C8B-B14F-4D97-AF65-F5344CB8AC3E}">
        <p14:creationId xmlns:p14="http://schemas.microsoft.com/office/powerpoint/2010/main" val="3481405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B4A4-C5C4-B9AC-B8AC-747244FB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94E1B10-39E3-02AB-39A0-CAE200974E5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3F69108D-3337-A374-3029-506C13D0E70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JSF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0FBFBE-67DD-D838-D288-21FA375DC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2" y="2330450"/>
            <a:ext cx="8762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Provides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UI components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request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Beans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1712044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7AA4-C682-20F7-93E1-DB41513A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705D565-9408-EA53-DB7A-16CB7D72048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613F8E4F-EEFA-C356-CB6E-8C39917EB76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JSF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34A72A-4A47-B914-CA19-B4AD9204B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3685"/>
            <a:ext cx="87629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Component-Based UI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provides reusable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h:outputText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Event Handling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can generate events.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value="Submit" action="#{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studentBean.save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clicks the button, the save() method is called.</a:t>
            </a:r>
          </a:p>
        </p:txBody>
      </p:sp>
    </p:spTree>
    <p:extLst>
      <p:ext uri="{BB962C8B-B14F-4D97-AF65-F5344CB8AC3E}">
        <p14:creationId xmlns:p14="http://schemas.microsoft.com/office/powerpoint/2010/main" val="288695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D0A4-E713-AC9B-225E-FDE9440B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C3F05512-1869-57CA-C800-54DED50117B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C4EAFA3-DD55-84A5-0970-37E6556E57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JSF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5A8A0F-B995-F284-0F4A-5535C8A76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provides built-in validation.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value="#{studentBean.name}“ required="true" /&gt;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field cannot be left empty.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can convert input data into Java types.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"21"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</a:p>
        </p:txBody>
      </p:sp>
    </p:spTree>
    <p:extLst>
      <p:ext uri="{BB962C8B-B14F-4D97-AF65-F5344CB8AC3E}">
        <p14:creationId xmlns:p14="http://schemas.microsoft.com/office/powerpoint/2010/main" val="2698011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6C47-93D0-F0B6-3F94-32EBF575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958A865B-EB5B-9A65-2126-769696F3A90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81CC8BC-2195-9971-FE2F-7B961E93ED0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JSF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0AF9BB-A1B6-F8BF-FBA7-19D37DFB5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3688"/>
            <a:ext cx="87629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Managed Beans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classes can store application data and methods.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name;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name;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this.name = name;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656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2C7C-81FA-DB03-162F-6304C545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A2E06D2F-13EA-E805-A4B1-C31DFBC24ED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1908FFE-8CE6-0942-03F6-0FCAF993010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JSF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53EBF3-E94A-C048-9683-7F94936EB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8792"/>
            <a:ext cx="876299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Navigation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can control which page should be displayed after an action.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login.xhtml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Login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home.xhtml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579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A868-970B-FA66-CC83-A02ED8A38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5AED8B22-E508-7FC7-5B42-D741BF7B251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EA9059E-B661-FBCF-AC86-F638159DF7F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Architecture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63D94E-198C-C410-549C-9657F3157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99291"/>
              </p:ext>
            </p:extLst>
          </p:nvPr>
        </p:nvGraphicFramePr>
        <p:xfrm>
          <a:off x="190499" y="2538253"/>
          <a:ext cx="8572500" cy="4112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86250">
                  <a:extLst>
                    <a:ext uri="{9D8B030D-6E8A-4147-A177-3AD203B41FA5}">
                      <a16:colId xmlns:a16="http://schemas.microsoft.com/office/drawing/2014/main" val="238762201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4018276025"/>
                    </a:ext>
                  </a:extLst>
                </a:gridCol>
              </a:tblGrid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757213"/>
                  </a:ext>
                </a:extLst>
              </a:tr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Sends request and displays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902382"/>
                  </a:ext>
                </a:extLst>
              </a:tr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XHTML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Defines 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028591"/>
                  </a:ext>
                </a:extLst>
              </a:tr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FacesServlet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Main controller/front controller of JSF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179334"/>
                  </a:ext>
                </a:extLst>
              </a:tr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JSF Lifecycle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Processes the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107884"/>
                  </a:ext>
                </a:extLst>
              </a:tr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Managed Bean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Stores data and application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952232"/>
                  </a:ext>
                </a:extLst>
              </a:tr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Business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Performs application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231912"/>
                  </a:ext>
                </a:extLst>
              </a:tr>
              <a:tr h="514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Stores persistent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461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13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55AA0-710A-0A15-AD72-082DEDF3A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33459D4F-F677-50E6-D3B1-32B69F326AB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14BEEF2-7CE5-9010-8AA8-6BB7E3CB94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FacesServlet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DA6448-6E59-CCDB-AF0F-D14216739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FacesServlet is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controller servlet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JSF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receives incoming JSF requests and controls the JSF request-processing lifecycle.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JSF requests.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the JSF lifecycle.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UI components.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validation.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bean properties.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Invokes application methods.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final response.</a:t>
            </a:r>
          </a:p>
        </p:txBody>
      </p:sp>
    </p:spTree>
    <p:extLst>
      <p:ext uri="{BB962C8B-B14F-4D97-AF65-F5344CB8AC3E}">
        <p14:creationId xmlns:p14="http://schemas.microsoft.com/office/powerpoint/2010/main" val="3489622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3D017-FB70-0326-A930-AAA906FE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F74D035-279A-4FA8-BFD6-3E6F09EC1BB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31536B8-E881-1D9C-94C4-BB51C4F7104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Life Cycle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A4C81D-16A9-2370-5112-87C9A98C0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28" y="2428412"/>
            <a:ext cx="876299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JSF lifecycle defines the sequence of steps through which a request passes before a response is generated.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Main Phases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Restore View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Apply Request Values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Process Validations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Update Model Values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Invoke Application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Render Response</a:t>
            </a:r>
          </a:p>
        </p:txBody>
      </p:sp>
    </p:spTree>
    <p:extLst>
      <p:ext uri="{BB962C8B-B14F-4D97-AF65-F5344CB8AC3E}">
        <p14:creationId xmlns:p14="http://schemas.microsoft.com/office/powerpoint/2010/main" val="3032093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3757-24EF-0423-0200-09251219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79965B48-B7F1-290D-1C6A-6823EF00F70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F8B27D2-B868-72B8-D79F-449FE26A312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Life Cycle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27FBB3-11EF-EC82-CA1C-344D4C408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2330450"/>
            <a:ext cx="876299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Restore View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creates or restores the component tree representing the page.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student.xhtml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Tree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new request, JSF creates the initial view.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Apply Request Values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obtains submitted values from the browser.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receives these values.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Rahul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JSF processes submitted request values.</a:t>
            </a:r>
          </a:p>
        </p:txBody>
      </p:sp>
    </p:spTree>
    <p:extLst>
      <p:ext uri="{BB962C8B-B14F-4D97-AF65-F5344CB8AC3E}">
        <p14:creationId xmlns:p14="http://schemas.microsoft.com/office/powerpoint/2010/main" val="22864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4A73-90C8-70F4-85D2-A8D57580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F90E5DBF-F28F-049D-90BF-B4519FE370D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EBC6BC6-D118-E0B7-D1C2-0E07A8D3DA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Life Cycle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696DEC-BDCC-D983-1551-1DE058C46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0429"/>
            <a:ext cx="8762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Process Validations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validates the submitted values.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value="#{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required="true" /&gt;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conversion/validation process fails, so JSF does not proceed normally to updating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errors can cause JSF to skip directly toward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Response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the page can be displayed again with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2575849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0A20-BAB5-1059-5591-66F8B130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FC5F1BBF-45E0-4CD4-F0E1-6004359204C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E39FF1A-27CE-9874-0938-58B21FB0A30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Life Cycle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D8C350-0DE4-55BB-6CD1-B71BA2AD7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1293"/>
            <a:ext cx="87629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Update Model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validation succeeds, JSF transfers submitted values into the Bean.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Rahul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"Rahul"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</p:txBody>
      </p:sp>
    </p:spTree>
    <p:extLst>
      <p:ext uri="{BB962C8B-B14F-4D97-AF65-F5344CB8AC3E}">
        <p14:creationId xmlns:p14="http://schemas.microsoft.com/office/powerpoint/2010/main" val="1432857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81AB4-7972-6327-7908-DE7F32397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AA54891B-4617-D32A-D9C7-DA368CC2CAF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C4575EE-F4CA-5364-AF91-7413812015A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Life Cycle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B056A1-A722-F44C-D1D9-469C68D5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Invoke Application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invokes the application method specified by the component.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value="Register"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action="#{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studentBean.register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calls: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register()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save student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"success";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442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3D0D-6DC8-5453-2177-FC5F3F051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950D1AC0-6697-F067-133E-D3DD14E8941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3954509-4BE4-B4EB-AFF7-9C51E1A9218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Life Cycle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E107AF-5E77-188D-B123-15BD35597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8400"/>
            <a:ext cx="87629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Render Response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JSF generates the response and sends it to the browser.</a:t>
            </a:r>
          </a:p>
        </p:txBody>
      </p:sp>
    </p:spTree>
    <p:extLst>
      <p:ext uri="{BB962C8B-B14F-4D97-AF65-F5344CB8AC3E}">
        <p14:creationId xmlns:p14="http://schemas.microsoft.com/office/powerpoint/2010/main" val="1938639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AE30-B7CE-2F31-E446-A738F699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81374A7-E435-2EB5-4C7D-8E4E8DB19DF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7032264-B3DF-792B-BA94-658A5017706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@Named Annotation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58E45C-1DD7-E339-B375-90372E36B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286000"/>
            <a:ext cx="8762999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JSF applications commonly use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beans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@Named annotation makes a Java object accessible using an Expression Language name from a JSF page.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jakarta.inject.Named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@Named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name;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String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return name; }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name) { this.name = name;}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can now be referenced as: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#{studentBean}</a:t>
            </a:r>
          </a:p>
        </p:txBody>
      </p:sp>
    </p:spTree>
    <p:extLst>
      <p:ext uri="{BB962C8B-B14F-4D97-AF65-F5344CB8AC3E}">
        <p14:creationId xmlns:p14="http://schemas.microsoft.com/office/powerpoint/2010/main" val="1174860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08EA4-16F5-2830-A611-288AB42E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5D6230FB-EB00-DC70-32FA-A85F5876306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0554581-B2D1-D539-D443-0504C000DD3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Bean Scope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664F45-DF51-F602-E790-3BA5C7C46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41262"/>
            <a:ext cx="87629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determines how long a Managed Bean object exists and where it can be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CDI scopes include: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AC24E3-A519-8368-F893-D281F6388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144499"/>
              </p:ext>
            </p:extLst>
          </p:nvPr>
        </p:nvGraphicFramePr>
        <p:xfrm>
          <a:off x="225878" y="3796853"/>
          <a:ext cx="8613322" cy="27781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06661">
                  <a:extLst>
                    <a:ext uri="{9D8B030D-6E8A-4147-A177-3AD203B41FA5}">
                      <a16:colId xmlns:a16="http://schemas.microsoft.com/office/drawing/2014/main" val="2034773464"/>
                    </a:ext>
                  </a:extLst>
                </a:gridCol>
                <a:gridCol w="4306661">
                  <a:extLst>
                    <a:ext uri="{9D8B030D-6E8A-4147-A177-3AD203B41FA5}">
                      <a16:colId xmlns:a16="http://schemas.microsoft.com/office/drawing/2014/main" val="1150390361"/>
                    </a:ext>
                  </a:extLst>
                </a:gridCol>
              </a:tblGrid>
              <a:tr h="483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93379"/>
                  </a:ext>
                </a:extLst>
              </a:tr>
              <a:tr h="483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@RequestScoped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for one HTTP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465935"/>
                  </a:ext>
                </a:extLst>
              </a:tr>
              <a:tr h="845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@ViewScoped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while the same JSF view is being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54544"/>
                  </a:ext>
                </a:extLst>
              </a:tr>
              <a:tr h="483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@SessionScoped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throughout a user's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716166"/>
                  </a:ext>
                </a:extLst>
              </a:tr>
              <a:tr h="483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@ApplicationScoped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across the entire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5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902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84D1-716C-4E83-26F0-307CB7EB6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D0C2364E-D91B-CED9-0BE4-837404BCCAF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6BC3BF08-1032-F5CA-B415-7DC3B6862A1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Bean Scope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7464F5-CFD8-1EFF-39FB-09B5228D3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@Named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@RequestScoped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name;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69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2917-EE75-C685-B68B-65586121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56C7E554-C307-DF92-5E72-1BF18625783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A06BAF9-8BCF-89CC-915D-509A01E02F1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JSF UI Components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345E97-1377-105D-7E93-357BCF166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JSF provides a collection of reusable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Components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components represent elements that users interact with on a web page.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7A9A8A-9F56-F2B0-EF74-4C2DC0CE5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017193"/>
              </p:ext>
            </p:extLst>
          </p:nvPr>
        </p:nvGraphicFramePr>
        <p:xfrm>
          <a:off x="220435" y="3575229"/>
          <a:ext cx="8599714" cy="3215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9857">
                  <a:extLst>
                    <a:ext uri="{9D8B030D-6E8A-4147-A177-3AD203B41FA5}">
                      <a16:colId xmlns:a16="http://schemas.microsoft.com/office/drawing/2014/main" val="3320615076"/>
                    </a:ext>
                  </a:extLst>
                </a:gridCol>
                <a:gridCol w="4299857">
                  <a:extLst>
                    <a:ext uri="{9D8B030D-6E8A-4147-A177-3AD203B41FA5}">
                      <a16:colId xmlns:a16="http://schemas.microsoft.com/office/drawing/2014/main" val="2548243804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5692382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h:form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form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5625772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h:inputText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input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32123333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h:inputSecret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input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162341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h:outputText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text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64953666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h:outputLabel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label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7668854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h:commandButton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button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3006114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h:commandLink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command link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4842390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h:dataTable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tabular data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812836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h:message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component message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67743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0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6528A-40DF-7FF9-50F0-3AA19DF7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0B274D88-088B-D918-3F17-A6A2844C0C2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BCA539F0-B9A6-9E69-616F-A68D4160504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h:form Component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77BDFB-2FBD-1036-A889-1DECF6AE9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515116"/>
            <a:ext cx="8762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h:form is a JSF component used to create an HTML 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the container within which JSF input and command components normally 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h:outputLabel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value="Name:"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value="#{studentBean.name}"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value="Submit"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action="#{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studentBean.register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300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21FF-1AA7-A054-6141-61861AD5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527F5BF5-44A7-E83B-2797-8F5A1B85013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97076B2-0C94-209C-99EB-27676A9410C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h:inputText Component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93160A-E8D9-5591-2EF5-A2A8D0A1A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h:inputText is used for single-line text input..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id="name"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value="#{studentBean.name}"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required="true"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="50" /&gt;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03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FF513-D1E9-9F09-7510-2B3489211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7FAEF90A-3272-1059-968A-D77588D29E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C8F9882-B5BE-EC6A-8ED8-A68CB36D967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h:inputSecret Component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B916E5-4D27-A0D3-7C07-45E023C11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48236"/>
            <a:ext cx="87629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h:inputSecret is used when the user needs to enter password-like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h:outputLabel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value="Password:" /&gt;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h:inputSecret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loginBean.password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12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DBE2-A7B5-2A87-9B07-9D7D50BD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B8B0DCC8-3BD2-FE89-5DCD-C4FF3FAFE6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8968B85-8DB4-A7CF-B9AB-B36DDDB0CEF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h:inputTextarea Component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689255-7888-1943-250B-3AD73D3F8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h:inputTextarea is used for multi-line text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when users need to enter longer 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studentBean.address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   rows="5"    cols="40" /&gt;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13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9FC5-448B-EEDC-1F82-595310E2A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7C0068CA-166A-1A44-2D97-077834355E8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B340A3B-A2BC-7A1B-7577-9EC02BC4212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h:inputHidden Component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67DAA3-7DA8-9BFF-8C3F-2540C3DD7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8133"/>
            <a:ext cx="876299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h:inputHidden is used to maintain a value that is not displayed as a visible input field.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h:inputHidden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studentBean.studentId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hidden field is not a suitable place for sensitive information or for values that must be trusted without server-side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73207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1212-7AEA-F248-D706-182C9E0EA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06FA18C9-F0C3-ACD1-D48F-F99C1377C46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0E8E13C-EE40-7A51-EC04-8B4692F49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h:commandButton Component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4E04DF-5AB7-0B62-4957-0D884F762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459504"/>
            <a:ext cx="876299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 creates a button that can submit a JSF form and invoke an 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value="Submit"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action="#{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studentBean.submit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</p:txBody>
      </p:sp>
    </p:spTree>
    <p:extLst>
      <p:ext uri="{BB962C8B-B14F-4D97-AF65-F5344CB8AC3E}">
        <p14:creationId xmlns:p14="http://schemas.microsoft.com/office/powerpoint/2010/main" val="3959363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AE3E-8D6F-21CA-5878-3EA57ACE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C02664B-43FE-A97F-7FF8-2BC83FD013A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B81BFF0-19AA-582C-8731-25AC2DF8D6D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h:commandLink Component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A1E8B7-BCF7-4EE7-69C9-A6A5DA930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459504"/>
            <a:ext cx="876299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h:commandLink creates a clickable link that can participate in JSF command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h:commandLink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value="View Student"    action="#{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studentBean.view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</p:txBody>
      </p:sp>
    </p:spTree>
    <p:extLst>
      <p:ext uri="{BB962C8B-B14F-4D97-AF65-F5344CB8AC3E}">
        <p14:creationId xmlns:p14="http://schemas.microsoft.com/office/powerpoint/2010/main" val="3003889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13F9-5256-C20A-84B9-2273E488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57AF2F4-5774-E5B1-76F0-C5F407305F2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D8F906A-BB58-9780-876A-9F061E778C5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h:message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8D8A92B-713B-DA84-E49C-49F83EFE4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330450"/>
            <a:ext cx="8762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h:message displays a validation/conversion message associated with one specific JSF component.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id="name"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value="#{studentBean.name}"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required="true"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requiredMessage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="Please enter your name" /&gt;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h:message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for="name" /&gt;</a:t>
            </a:r>
          </a:p>
        </p:txBody>
      </p:sp>
    </p:spTree>
    <p:extLst>
      <p:ext uri="{BB962C8B-B14F-4D97-AF65-F5344CB8AC3E}">
        <p14:creationId xmlns:p14="http://schemas.microsoft.com/office/powerpoint/2010/main" val="3246340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FA2A-E51D-784E-BBF8-D288E39C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03823F82-8AB3-3ABE-D6B2-E8D43C0BE72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EF81C2A-AA80-A8A6-2BC3-0DCFCFE4B9F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h:messages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D83B49-EC6D-792A-CFC9-B534A7D8E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3685"/>
            <a:ext cx="87629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h:messages is used to display multiple JSF messages on a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h:messages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id="name“  value="#{studentBean.name}“ required="true"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id="age“ value="#{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value="Register“  action="#{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studentBean.register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13752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95D1-0F66-8939-E99A-B5EC8AFB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F49D9E9C-D13D-7CA5-E3C8-ECFD51FABAA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5B1152F-3F9A-53AE-DD70-9AB12147F52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 err="1"/>
              <a:t>Facelets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7334B1-77B8-4106-107F-E7EE2E749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Facelets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view declaration language used to create JSF user interfaces.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developers to create JSF pages using XHTML and JSF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Facelets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define the presentation/view of a JSF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xhtml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page file;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Facelets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interprets the page as a JSF view containing components.</a:t>
            </a:r>
          </a:p>
        </p:txBody>
      </p:sp>
    </p:spTree>
    <p:extLst>
      <p:ext uri="{BB962C8B-B14F-4D97-AF65-F5344CB8AC3E}">
        <p14:creationId xmlns:p14="http://schemas.microsoft.com/office/powerpoint/2010/main" val="740897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C009-5FC7-254B-C560-9064C9A1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86C94856-04B3-B7F5-D54E-F914F1376C4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197767C-6C50-57D8-B222-79FFD61F7D8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JSF XML Namespaces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E0AD01-25B7-5849-376C-05E1B0A28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52646"/>
            <a:ext cx="8762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Modern Jakarta Faces Namespace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xmlns:h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="jakarta.faces.html“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us to 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h:inputText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h:outputText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h:commandButton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Facelets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tags: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xmlns:ui="jakarta.faces.facelets“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&lt;ui:composition&gt;&lt;ui:define&gt;&lt;ui:insert&gt;&lt;ui:include&gt;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="http://www.w3.org/1999/xhtml"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xmlns:h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="jakarta.faces.html"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xmlns:ui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jakarta.faces.facelets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1303920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2B55-F247-8CF6-2337-0C7213DB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11BC3713-2BC8-5020-C37E-6E6A0A8D06D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8E2E3A4-39C5-864A-8817-7F67EF145D7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/>
              <a:t>Template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C74E98-668C-29AB-2481-819575C21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3685"/>
            <a:ext cx="87629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important concepts is that JSF does not simply treat the page as ordinary HTML.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Facelets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declarations are used to construct a JSF component tree.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pages provide only their specific content.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duplicate code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design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maintenance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layout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598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E026-7B24-B90E-0D4E-5E29A27E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8D58F0DB-AEB7-270D-6AAC-D6C35338D5D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5F6C405-C0F1-105C-AEDC-0D62CB5960B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/>
              <a:t>Template example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9F8293-1748-C117-EB95-4BE5FB07D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333685"/>
            <a:ext cx="87629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="http://www.w3.org/1999/xhtml"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xmlns:h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="jakarta.faces.html"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xmlns:ui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jakarta.faces.facelets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h:head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&gt;&lt;title&gt;Student Management System&lt;/title&gt;&lt;/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h:head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h:body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&lt;header&gt;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&lt;h1&gt;Student Management System&lt;/h1&gt;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&lt;/header&gt;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&lt;nav&gt;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Home | Students | Courses | Contact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&lt;/nav&gt;</a:t>
            </a:r>
          </a:p>
        </p:txBody>
      </p:sp>
    </p:spTree>
    <p:extLst>
      <p:ext uri="{BB962C8B-B14F-4D97-AF65-F5344CB8AC3E}">
        <p14:creationId xmlns:p14="http://schemas.microsoft.com/office/powerpoint/2010/main" val="2077842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2325-6A35-46A3-DE4A-F7F530B0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B53F4230-8F2F-B441-B3C5-AEDFB227A1A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88F76ED-8FEB-EA28-093B-F24F1201550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/>
              <a:t>Template example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1456BF-51E9-B908-7DBF-6E06C9113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79595"/>
            <a:ext cx="8762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&lt;main&gt;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ui:insert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name="content"&gt;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Default Content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ui:insert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&lt;/main&gt;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&lt;footer&gt;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&lt;p&gt;© Student Management System&lt;/p&gt;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&lt;/footer&gt;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h:body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0258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8AE1-6699-56BB-5AD7-385A0946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38EC4977-942B-CE5D-6CEB-56AA032C5CE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597F22C-E99E-351D-B817-C47330EDB46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 err="1"/>
              <a:t>ui:composition</a:t>
            </a:r>
            <a:r>
              <a:rPr lang="en-US" b="1" dirty="0"/>
              <a:t> and </a:t>
            </a:r>
            <a:r>
              <a:rPr lang="en-US" b="1" dirty="0" err="1"/>
              <a:t>ui:define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E18D4A-B9E3-95DE-711B-1B4FCB6BD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321005"/>
            <a:ext cx="876299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ui:composition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specify the content associated with a template.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ui:define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content for a named section in the template.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ui:insert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name="content" /&gt;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template.xhtml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783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60E4-FE5A-6088-928E-7622AB83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9E85B9B2-7072-C15E-3F93-4E1F7DA930E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1CF2EC1-176E-E1F3-7544-F08FEFC8C92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 err="1"/>
              <a:t>ui:composition</a:t>
            </a:r>
            <a:r>
              <a:rPr lang="en-US" b="1" dirty="0"/>
              <a:t> and </a:t>
            </a:r>
            <a:r>
              <a:rPr lang="en-US" b="1" dirty="0" err="1"/>
              <a:t>ui:define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8A8F68-F927-2F54-BF65-B6159576A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1" y="2232901"/>
            <a:ext cx="876299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&lt;</a:t>
            </a:r>
            <a:r>
              <a:rPr lang="en-IN" sz="2000" dirty="0" err="1"/>
              <a:t>ui:composition</a:t>
            </a:r>
            <a:endParaRPr lang="en-IN" sz="2000" dirty="0"/>
          </a:p>
          <a:p>
            <a:r>
              <a:rPr lang="en-IN" sz="2000" dirty="0"/>
              <a:t>    template="/</a:t>
            </a:r>
            <a:r>
              <a:rPr lang="en-IN" sz="2000" dirty="0" err="1"/>
              <a:t>template.xhtml</a:t>
            </a:r>
            <a:r>
              <a:rPr lang="en-IN" sz="2000" dirty="0"/>
              <a:t>"&gt;</a:t>
            </a:r>
          </a:p>
          <a:p>
            <a:endParaRPr lang="en-IN" sz="2000" dirty="0"/>
          </a:p>
          <a:p>
            <a:r>
              <a:rPr lang="en-IN" sz="2000" dirty="0"/>
              <a:t>    &lt;</a:t>
            </a:r>
            <a:r>
              <a:rPr lang="en-IN" sz="2000" dirty="0" err="1"/>
              <a:t>ui:define</a:t>
            </a:r>
            <a:r>
              <a:rPr lang="en-IN" sz="2000" dirty="0"/>
              <a:t> name="content"&gt;</a:t>
            </a:r>
          </a:p>
          <a:p>
            <a:endParaRPr lang="en-IN" sz="2000" dirty="0"/>
          </a:p>
          <a:p>
            <a:r>
              <a:rPr lang="en-IN" sz="2000" dirty="0"/>
              <a:t>        &lt;h2&gt;Student Registration&lt;/h2&gt;</a:t>
            </a:r>
          </a:p>
          <a:p>
            <a:endParaRPr lang="en-IN" sz="2000" dirty="0"/>
          </a:p>
          <a:p>
            <a:r>
              <a:rPr lang="en-IN" sz="2000" dirty="0"/>
              <a:t>        &lt;</a:t>
            </a:r>
            <a:r>
              <a:rPr lang="en-IN" sz="2000" dirty="0" err="1"/>
              <a:t>h:form</a:t>
            </a:r>
            <a:r>
              <a:rPr lang="en-IN" sz="2000" dirty="0"/>
              <a:t>&gt;</a:t>
            </a:r>
          </a:p>
          <a:p>
            <a:r>
              <a:rPr lang="en-IN" sz="2000" dirty="0"/>
              <a:t>            &lt;</a:t>
            </a:r>
            <a:r>
              <a:rPr lang="en-IN" sz="2000" dirty="0" err="1"/>
              <a:t>h:outputText</a:t>
            </a:r>
            <a:endParaRPr lang="en-IN" sz="2000" dirty="0"/>
          </a:p>
          <a:p>
            <a:r>
              <a:rPr lang="en-IN" sz="2000" dirty="0"/>
              <a:t>                value="Enter student details" /&gt;</a:t>
            </a:r>
          </a:p>
          <a:p>
            <a:r>
              <a:rPr lang="en-IN" sz="2000" dirty="0"/>
              <a:t>        &lt;/</a:t>
            </a:r>
            <a:r>
              <a:rPr lang="en-IN" sz="2000" dirty="0" err="1"/>
              <a:t>h:form</a:t>
            </a:r>
            <a:r>
              <a:rPr lang="en-IN" sz="2000" dirty="0"/>
              <a:t>&gt;</a:t>
            </a:r>
          </a:p>
          <a:p>
            <a:endParaRPr lang="en-IN" sz="2000" dirty="0"/>
          </a:p>
          <a:p>
            <a:r>
              <a:rPr lang="en-IN" sz="2000" dirty="0"/>
              <a:t>    &lt;/</a:t>
            </a:r>
            <a:r>
              <a:rPr lang="en-IN" sz="2000" dirty="0" err="1"/>
              <a:t>ui:define</a:t>
            </a:r>
            <a:r>
              <a:rPr lang="en-IN" sz="2000" dirty="0"/>
              <a:t>&gt;</a:t>
            </a:r>
          </a:p>
          <a:p>
            <a:endParaRPr lang="en-IN" sz="2000" dirty="0"/>
          </a:p>
          <a:p>
            <a:r>
              <a:rPr lang="en-IN" sz="2000" dirty="0"/>
              <a:t>&lt;/</a:t>
            </a:r>
            <a:r>
              <a:rPr lang="en-IN" sz="2000" dirty="0" err="1"/>
              <a:t>ui:composition</a:t>
            </a:r>
            <a:r>
              <a:rPr lang="en-IN" sz="2000" dirty="0"/>
              <a:t>&gt;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95530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373D-7B02-8714-D645-2956BEAA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ED05F9EF-2F71-12CC-6BB4-6E8D93BD793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E24C14D-D57B-4746-8924-AD86BD59A10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 err="1"/>
              <a:t>ui:include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6D2231-7E51-652C-DBB8-0A4DAED5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0450"/>
            <a:ext cx="87629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ui:include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reuse 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Facelets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fragment inside another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the same content repeatedly, we create a separate file.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ui:include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="/pages/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header.xhtml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/&gt;</a:t>
            </a:r>
          </a:p>
        </p:txBody>
      </p:sp>
    </p:spTree>
    <p:extLst>
      <p:ext uri="{BB962C8B-B14F-4D97-AF65-F5344CB8AC3E}">
        <p14:creationId xmlns:p14="http://schemas.microsoft.com/office/powerpoint/2010/main" val="3001538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2640-AA23-6C97-ED96-C7D01922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7E4758F4-6DE4-EFAC-E9C4-5CB60DBC587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F4D68FB-55FD-CC5B-2297-BE11CD6CE51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 err="1"/>
              <a:t>ui:include</a:t>
            </a:r>
            <a:r>
              <a:rPr lang="en-US" b="1" dirty="0"/>
              <a:t> vs Template</a:t>
            </a:r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FE6D1B-0EC5-1EA1-1547-070960536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90563"/>
              </p:ext>
            </p:extLst>
          </p:nvPr>
        </p:nvGraphicFramePr>
        <p:xfrm>
          <a:off x="185057" y="2525486"/>
          <a:ext cx="8479971" cy="40821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6657">
                  <a:extLst>
                    <a:ext uri="{9D8B030D-6E8A-4147-A177-3AD203B41FA5}">
                      <a16:colId xmlns:a16="http://schemas.microsoft.com/office/drawing/2014/main" val="3103103267"/>
                    </a:ext>
                  </a:extLst>
                </a:gridCol>
                <a:gridCol w="2826657">
                  <a:extLst>
                    <a:ext uri="{9D8B030D-6E8A-4147-A177-3AD203B41FA5}">
                      <a16:colId xmlns:a16="http://schemas.microsoft.com/office/drawing/2014/main" val="2882597931"/>
                    </a:ext>
                  </a:extLst>
                </a:gridCol>
                <a:gridCol w="2826657">
                  <a:extLst>
                    <a:ext uri="{9D8B030D-6E8A-4147-A177-3AD203B41FA5}">
                      <a16:colId xmlns:a16="http://schemas.microsoft.com/office/drawing/2014/main" val="2271079811"/>
                    </a:ext>
                  </a:extLst>
                </a:gridCol>
              </a:tblGrid>
              <a:tr h="563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Include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27226"/>
                  </a:ext>
                </a:extLst>
              </a:tr>
              <a:tr h="563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page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Reuse a fragment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256389"/>
                  </a:ext>
                </a:extLst>
              </a:tr>
              <a:tr h="985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Important tags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ui:composition, ui:define, ui:insert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ui:include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906884"/>
                  </a:ext>
                </a:extLst>
              </a:tr>
              <a:tr h="985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Common application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Reusable small sections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616578"/>
                  </a:ext>
                </a:extLst>
              </a:tr>
              <a:tr h="985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Header + menu + content + footer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Common header/footer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4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6975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F892-EF14-8294-F950-E906788A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8A9BA0A8-740A-A8F0-FAFD-4D290F7DA6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8AD58F6-F597-FD76-31B8-E6345755A88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h:dataTable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9D3E2E-D6D2-1B24-BC6B-8BD4516AF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49411"/>
            <a:ext cx="87629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h:dataTable is a JSF component used to display a collection of data in a table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particularly useful for displaying database records.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59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8D33-4B1D-4A51-CE78-FE6B1CB2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412A9A11-DEAD-00A6-5336-1FFBF5DF7DD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643063"/>
            <a:ext cx="9144000" cy="642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8865E29-0338-543F-76C5-F5BBAD076A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85" y="1687513"/>
            <a:ext cx="886641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b="1" dirty="0"/>
              <a:t>h:dataTable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5FD6AC-A544-46B1-8E9C-3EE50EE1D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" y="2330450"/>
            <a:ext cx="876299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Example:</a:t>
            </a:r>
          </a:p>
          <a:p>
            <a:r>
              <a:rPr lang="en-IN" sz="2400" dirty="0"/>
              <a:t>&lt;</a:t>
            </a:r>
            <a:r>
              <a:rPr lang="en-IN" sz="2400" dirty="0" err="1"/>
              <a:t>h:form</a:t>
            </a:r>
            <a:r>
              <a:rPr lang="en-IN" sz="2400" dirty="0"/>
              <a:t>&gt; </a:t>
            </a:r>
          </a:p>
          <a:p>
            <a:r>
              <a:rPr lang="en-IN" sz="2400" dirty="0"/>
              <a:t>&lt;</a:t>
            </a:r>
            <a:r>
              <a:rPr lang="en-IN" sz="2400" dirty="0" err="1"/>
              <a:t>h:dataTable</a:t>
            </a:r>
            <a:r>
              <a:rPr lang="en-IN" sz="2400" dirty="0"/>
              <a:t> value="#{</a:t>
            </a:r>
            <a:r>
              <a:rPr lang="en-IN" sz="2400" dirty="0" err="1"/>
              <a:t>studentBean.students</a:t>
            </a:r>
            <a:r>
              <a:rPr lang="en-IN" sz="2400" dirty="0"/>
              <a:t>}" var="student"&gt; &lt;</a:t>
            </a:r>
            <a:r>
              <a:rPr lang="en-IN" sz="2400" dirty="0" err="1"/>
              <a:t>h:column</a:t>
            </a:r>
            <a:r>
              <a:rPr lang="en-IN" sz="2400" dirty="0"/>
              <a:t>&gt; </a:t>
            </a:r>
          </a:p>
          <a:p>
            <a:r>
              <a:rPr lang="en-IN" sz="2400" dirty="0"/>
              <a:t>&lt;</a:t>
            </a:r>
            <a:r>
              <a:rPr lang="en-IN" sz="2400" dirty="0" err="1"/>
              <a:t>f:facet</a:t>
            </a:r>
            <a:r>
              <a:rPr lang="en-IN" sz="2400" dirty="0"/>
              <a:t> name="header"&gt; ID &lt;/</a:t>
            </a:r>
            <a:r>
              <a:rPr lang="en-IN" sz="2400" dirty="0" err="1"/>
              <a:t>f:facet</a:t>
            </a:r>
            <a:r>
              <a:rPr lang="en-IN" sz="2400" dirty="0"/>
              <a:t>&gt; </a:t>
            </a:r>
          </a:p>
          <a:p>
            <a:r>
              <a:rPr lang="en-IN" sz="2400" dirty="0"/>
              <a:t>&lt;</a:t>
            </a:r>
            <a:r>
              <a:rPr lang="en-IN" sz="2400" dirty="0" err="1"/>
              <a:t>h:outputText</a:t>
            </a:r>
            <a:r>
              <a:rPr lang="en-IN" sz="2400" dirty="0"/>
              <a:t> value="#{student.id}" /&gt; </a:t>
            </a:r>
          </a:p>
          <a:p>
            <a:r>
              <a:rPr lang="en-IN" sz="2400" dirty="0"/>
              <a:t>&lt;/</a:t>
            </a:r>
            <a:r>
              <a:rPr lang="en-IN" sz="2400" dirty="0" err="1"/>
              <a:t>h:column</a:t>
            </a:r>
            <a:r>
              <a:rPr lang="en-IN" sz="2400" dirty="0"/>
              <a:t>&gt;</a:t>
            </a:r>
          </a:p>
          <a:p>
            <a:r>
              <a:rPr lang="en-IN" sz="2400" dirty="0"/>
              <a:t>&lt;/</a:t>
            </a:r>
            <a:r>
              <a:rPr lang="en-IN" sz="2400" dirty="0" err="1"/>
              <a:t>h:dataTable</a:t>
            </a:r>
            <a:r>
              <a:rPr lang="en-IN" sz="2400" dirty="0"/>
              <a:t>&gt;</a:t>
            </a:r>
          </a:p>
          <a:p>
            <a:r>
              <a:rPr lang="en-IN" sz="2400" dirty="0"/>
              <a:t> &lt;/</a:t>
            </a:r>
            <a:r>
              <a:rPr lang="en-IN" sz="2400" dirty="0" err="1"/>
              <a:t>h:form</a:t>
            </a:r>
            <a:r>
              <a:rPr lang="en-IN" sz="2400" dirty="0"/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070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6435</TotalTime>
  <Words>2282</Words>
  <Application>Microsoft Office PowerPoint</Application>
  <PresentationFormat>On-screen Show (4:3)</PresentationFormat>
  <Paragraphs>402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Kumar</dc:creator>
  <cp:lastModifiedBy>Gaurav Kumar</cp:lastModifiedBy>
  <cp:revision>387</cp:revision>
  <dcterms:created xsi:type="dcterms:W3CDTF">2024-08-22T07:30:41Z</dcterms:created>
  <dcterms:modified xsi:type="dcterms:W3CDTF">2026-09-21T02:52:44Z</dcterms:modified>
</cp:coreProperties>
</file>