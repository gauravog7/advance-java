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7" r:id="rId3"/>
    <p:sldId id="349" r:id="rId4"/>
    <p:sldId id="363" r:id="rId5"/>
    <p:sldId id="350" r:id="rId6"/>
    <p:sldId id="364" r:id="rId7"/>
    <p:sldId id="365" r:id="rId8"/>
    <p:sldId id="366" r:id="rId9"/>
    <p:sldId id="352" r:id="rId10"/>
    <p:sldId id="353" r:id="rId11"/>
    <p:sldId id="368" r:id="rId12"/>
    <p:sldId id="369" r:id="rId13"/>
    <p:sldId id="370" r:id="rId14"/>
    <p:sldId id="367" r:id="rId15"/>
    <p:sldId id="371" r:id="rId16"/>
    <p:sldId id="372" r:id="rId17"/>
    <p:sldId id="373" r:id="rId18"/>
    <p:sldId id="357" r:id="rId19"/>
    <p:sldId id="374" r:id="rId20"/>
    <p:sldId id="375" r:id="rId21"/>
    <p:sldId id="358" r:id="rId22"/>
    <p:sldId id="359" r:id="rId23"/>
    <p:sldId id="360" r:id="rId24"/>
    <p:sldId id="361" r:id="rId25"/>
    <p:sldId id="362" r:id="rId26"/>
    <p:sldId id="376" r:id="rId27"/>
    <p:sldId id="377" r:id="rId28"/>
    <p:sldId id="378" r:id="rId29"/>
    <p:sldId id="380" r:id="rId30"/>
    <p:sldId id="381" r:id="rId31"/>
    <p:sldId id="38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image" Target="../media/image6.png"/><Relationship Id="rId4" Type="http://schemas.openxmlformats.org/officeDocument/2006/relationships/tags" Target="../tags/tag11.xm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FBD68B-9F31-15C9-8B3F-2DD75B6C325A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41511A9E-5E23-E796-A37C-5828BC6BC5E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168400" y="1744663"/>
            <a:ext cx="6858000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500" b="1" dirty="0">
                <a:solidFill>
                  <a:srgbClr val="000000"/>
                </a:solidFill>
                <a:cs typeface="Times New Roman" panose="02020603050405020304" pitchFamily="18" charset="0"/>
              </a:rPr>
              <a:t>Advance</a:t>
            </a:r>
            <a:r>
              <a:rPr lang="en-IN" altLang="en-US" sz="3500" b="1" dirty="0">
                <a:solidFill>
                  <a:srgbClr val="000000"/>
                </a:solidFill>
                <a:cs typeface="Times New Roman" panose="02020603050405020304" pitchFamily="18" charset="0"/>
              </a:rPr>
              <a:t> Java</a:t>
            </a:r>
          </a:p>
        </p:txBody>
      </p:sp>
      <p:pic>
        <p:nvPicPr>
          <p:cNvPr id="10" name="Picture 2" descr="C:\Users\parul\Desktop\Registered Logosd.png">
            <a:extLst>
              <a:ext uri="{FF2B5EF4-FFF2-40B4-BE49-F238E27FC236}">
                <a16:creationId xmlns:a16="http://schemas.microsoft.com/office/drawing/2014/main" id="{62F37BAC-D94A-B74B-3F86-CAD4E9A449E4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500063"/>
            <a:ext cx="2381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6">
            <a:extLst>
              <a:ext uri="{FF2B5EF4-FFF2-40B4-BE49-F238E27FC236}">
                <a16:creationId xmlns:a16="http://schemas.microsoft.com/office/drawing/2014/main" id="{DB474A11-A826-652C-0461-9581730317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17638" y="2692400"/>
            <a:ext cx="6308725" cy="93663"/>
            <a:chOff x="1428728" y="2571744"/>
            <a:chExt cx="6309404" cy="94298"/>
          </a:xfrm>
        </p:grpSpPr>
        <p:sp>
          <p:nvSpPr>
            <p:cNvPr id="12" name="Straight Connector 8">
              <a:extLst>
                <a:ext uri="{FF2B5EF4-FFF2-40B4-BE49-F238E27FC236}">
                  <a16:creationId xmlns:a16="http://schemas.microsoft.com/office/drawing/2014/main" id="{E07CD9FD-D4CD-79E7-B5D7-FC6094BEA5B8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428728" y="2618094"/>
              <a:ext cx="6287177" cy="159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Oval 24">
              <a:extLst>
                <a:ext uri="{FF2B5EF4-FFF2-40B4-BE49-F238E27FC236}">
                  <a16:creationId xmlns:a16="http://schemas.microsoft.com/office/drawing/2014/main" id="{84FF77FC-D0D8-A137-2AB7-1C1A0661D5CE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 flipV="1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" name="Oval 25">
              <a:extLst>
                <a:ext uri="{FF2B5EF4-FFF2-40B4-BE49-F238E27FC236}">
                  <a16:creationId xmlns:a16="http://schemas.microsoft.com/office/drawing/2014/main" id="{FDB144FE-873D-513E-9836-7B92A1E6B01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flipH="1" flipV="1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04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2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7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1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23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04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3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0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95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2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082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9A7D7C4-093D-3558-082E-2361FC2F20AD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581" y="2776455"/>
            <a:ext cx="5430838" cy="280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546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F1C6B10-A66A-EE19-163E-508F602734D1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0" y="3214688"/>
            <a:ext cx="9144000" cy="36433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7" name="Picture 2" descr="C:\Users\parul\Desktop\1.png">
            <a:extLst>
              <a:ext uri="{FF2B5EF4-FFF2-40B4-BE49-F238E27FC236}">
                <a16:creationId xmlns:a16="http://schemas.microsoft.com/office/drawing/2014/main" id="{AA4FDE8B-913C-1DC1-C64A-36FD71474DA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1950"/>
            <a:ext cx="67056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Users\parul\Desktop\2.png">
            <a:extLst>
              <a:ext uri="{FF2B5EF4-FFF2-40B4-BE49-F238E27FC236}">
                <a16:creationId xmlns:a16="http://schemas.microsoft.com/office/drawing/2014/main" id="{30B829C5-769E-319D-94FC-0D0621C33681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4000500"/>
            <a:ext cx="42767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C:\Users\parul\Desktop\Cover Page with yellow patch - Version 18.png">
            <a:extLst>
              <a:ext uri="{FF2B5EF4-FFF2-40B4-BE49-F238E27FC236}">
                <a16:creationId xmlns:a16="http://schemas.microsoft.com/office/drawing/2014/main" id="{756C4F08-D2D8-AEB6-9825-5F33B007042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4946650"/>
            <a:ext cx="30670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ED5DA546-EEBA-EEDD-085B-719D7612E30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0" y="6003925"/>
            <a:ext cx="9144000" cy="3571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D01DF74C-FD39-4225-9267-664E1B9FC74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3249613" y="5997575"/>
            <a:ext cx="2644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cs typeface="Times New Roman" panose="02020603050405020304" pitchFamily="18" charset="0"/>
              </a:rPr>
              <a:t>www.paruluniversity.ac.in</a:t>
            </a:r>
          </a:p>
        </p:txBody>
      </p:sp>
    </p:spTree>
    <p:extLst>
      <p:ext uri="{BB962C8B-B14F-4D97-AF65-F5344CB8AC3E}">
        <p14:creationId xmlns:p14="http://schemas.microsoft.com/office/powerpoint/2010/main" val="116077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52F12-2FDA-48AD-A6E8-ACD1F072F40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02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0BCAC4D-696F-B836-4773-58995408631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3714750"/>
            <a:ext cx="9144000" cy="7143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3500" b="1" dirty="0">
                <a:solidFill>
                  <a:schemeClr val="bg1"/>
                </a:solidFill>
                <a:cs typeface="Times New Roman" panose="02020603050405020304" pitchFamily="18" charset="0"/>
              </a:rPr>
              <a:t>Hibernate</a:t>
            </a:r>
            <a:endParaRPr lang="en-IN" altLang="en-US" sz="35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B27439B-57F6-0AA6-0670-092242D019A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4500" y="3071813"/>
            <a:ext cx="5715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500" b="1" dirty="0">
                <a:cs typeface="Times New Roman" panose="02020603050405020304" pitchFamily="18" charset="0"/>
              </a:rPr>
              <a:t>Unit -4</a:t>
            </a:r>
          </a:p>
        </p:txBody>
      </p:sp>
    </p:spTree>
    <p:extLst>
      <p:ext uri="{BB962C8B-B14F-4D97-AF65-F5344CB8AC3E}">
        <p14:creationId xmlns:p14="http://schemas.microsoft.com/office/powerpoint/2010/main" val="54765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9BC6-FECE-5DAB-487B-9F3F54CB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DA0257EF-A136-3966-6A11-FA65B52B092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BA9F6DE-71F5-2C9F-1F09-55BD281F95E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19B126-FD28-B8F6-3B65-7733DDE960C5}"/>
              </a:ext>
            </a:extLst>
          </p:cNvPr>
          <p:cNvSpPr txBox="1"/>
          <p:nvPr/>
        </p:nvSpPr>
        <p:spPr>
          <a:xfrm>
            <a:off x="76200" y="2286000"/>
            <a:ext cx="9067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is an </a:t>
            </a:r>
            <a:r>
              <a:rPr lang="en-US" sz="2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bject-</a:t>
            </a:r>
            <a:r>
              <a:rPr lang="en-US" sz="2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elational </a:t>
            </a:r>
            <a:r>
              <a:rPr lang="en-US" sz="27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apping (ORM) solution for JAVA.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an open source, powerful framework for  Java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maps Java classes to database tables and from Java data types to SQL data types and relieves the developer from 95% of common data persistence related programming tasks.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7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sits between traditional Java objects and database server to handle all the works in persisting those objects based on the appropriate O/R mechanisms and patterns.</a:t>
            </a:r>
          </a:p>
        </p:txBody>
      </p:sp>
    </p:spTree>
    <p:extLst>
      <p:ext uri="{BB962C8B-B14F-4D97-AF65-F5344CB8AC3E}">
        <p14:creationId xmlns:p14="http://schemas.microsoft.com/office/powerpoint/2010/main" val="286714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224D-08B9-F333-6E68-2B43E12B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CDBE00B-9C56-16D3-3F73-F8FF25F86D6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991D5C8-3972-960B-1BE3-9BC791B1DC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8B8D5-FA58-669C-CE44-C94D203D6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3" y="2764552"/>
            <a:ext cx="7826827" cy="27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0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5C6F-C0F2-D5EC-2269-BABB219F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671D43C5-61C4-0805-BF61-7BDCC6F1BA0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6342523-923B-572A-BE75-4F64605E6DF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Hibernate?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C2C2DE-C2EB-B3AA-161E-110B105A84C6}"/>
              </a:ext>
            </a:extLst>
          </p:cNvPr>
          <p:cNvSpPr txBox="1"/>
          <p:nvPr/>
        </p:nvSpPr>
        <p:spPr>
          <a:xfrm>
            <a:off x="76200" y="2286000"/>
            <a:ext cx="906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JDBC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boilerplate code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has to be written manually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Object-to-table conversion is manual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processed manually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Database-specific SQL can create dependency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large applications becomes difficult</a:t>
            </a:r>
          </a:p>
        </p:txBody>
      </p:sp>
    </p:spTree>
    <p:extLst>
      <p:ext uri="{BB962C8B-B14F-4D97-AF65-F5344CB8AC3E}">
        <p14:creationId xmlns:p14="http://schemas.microsoft.com/office/powerpoint/2010/main" val="405161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3824-5925-613D-A6C8-4B9B1DB0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1DA327B-F0D8-F5B0-92F5-128D377AB97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DD7987F-FD68-A894-4BDF-75B90BE6070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C0289-D980-0EB0-33A7-EB5C08457B53}"/>
              </a:ext>
            </a:extLst>
          </p:cNvPr>
          <p:cNvSpPr txBox="1"/>
          <p:nvPr/>
        </p:nvSpPr>
        <p:spPr>
          <a:xfrm>
            <a:off x="76200" y="2286000"/>
            <a:ext cx="9067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JDBC boilerplate code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object-oriented database interaction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automatic object-relational mapping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database-specific SQL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transaction management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relationships between objects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HQL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caching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database operations easier to maintain</a:t>
            </a:r>
          </a:p>
        </p:txBody>
      </p:sp>
    </p:spTree>
    <p:extLst>
      <p:ext uri="{BB962C8B-B14F-4D97-AF65-F5344CB8AC3E}">
        <p14:creationId xmlns:p14="http://schemas.microsoft.com/office/powerpoint/2010/main" val="304649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4BC22-FFC1-0E2D-2D7C-5BD2278A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40B334FF-C587-7F40-E41C-8959D1252B0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BBB6DB4-A679-D198-3E82-C0CD081315C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ORM: Object-Relational Mapping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5CEF8-636F-1218-987F-933BD5F2B23E}"/>
              </a:ext>
            </a:extLst>
          </p:cNvPr>
          <p:cNvSpPr txBox="1"/>
          <p:nvPr/>
        </p:nvSpPr>
        <p:spPr>
          <a:xfrm>
            <a:off x="76200" y="2286000"/>
            <a:ext cx="906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ORM is a technique that connects: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2327C3-D697-71D7-50F8-A08498EAD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66485"/>
              </p:ext>
            </p:extLst>
          </p:nvPr>
        </p:nvGraphicFramePr>
        <p:xfrm>
          <a:off x="76200" y="2853670"/>
          <a:ext cx="8877300" cy="3841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8650">
                  <a:extLst>
                    <a:ext uri="{9D8B030D-6E8A-4147-A177-3AD203B41FA5}">
                      <a16:colId xmlns:a16="http://schemas.microsoft.com/office/drawing/2014/main" val="4017285053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3169403650"/>
                    </a:ext>
                  </a:extLst>
                </a:gridCol>
              </a:tblGrid>
              <a:tr h="76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860588"/>
                  </a:ext>
                </a:extLst>
              </a:tr>
              <a:tr h="76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634266"/>
                  </a:ext>
                </a:extLst>
              </a:tr>
              <a:tr h="76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698877"/>
                  </a:ext>
                </a:extLst>
              </a:tr>
              <a:tr h="76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Variable/Property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Column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042786"/>
                  </a:ext>
                </a:extLst>
              </a:tr>
              <a:tr h="76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Object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41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420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00703-4007-D3E5-205E-34F6AC0F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8387A3F-763C-BA4E-D63F-67517ECA9C2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2D7B54C-A62E-C535-264A-282569A37A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</a:t>
            </a: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A112C-DCF5-661A-EAD6-731967D1B08E}"/>
              </a:ext>
            </a:extLst>
          </p:cNvPr>
          <p:cNvSpPr txBox="1"/>
          <p:nvPr/>
        </p:nvSpPr>
        <p:spPr>
          <a:xfrm>
            <a:off x="76200" y="2286000"/>
            <a:ext cx="9067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ORM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Java objects to relational database tables.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Database Independence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can work with different relational databases with appropriate configuration.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HQL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Hibernate Query Language for working with persistent objects.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Automatic SQL Generation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can generate SQL based on operations performed on objects.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Transaction 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transaction handling through the Hibernate Transaction API. </a:t>
            </a:r>
          </a:p>
        </p:txBody>
      </p:sp>
    </p:spTree>
    <p:extLst>
      <p:ext uri="{BB962C8B-B14F-4D97-AF65-F5344CB8AC3E}">
        <p14:creationId xmlns:p14="http://schemas.microsoft.com/office/powerpoint/2010/main" val="2449212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2656-DA01-BB02-AD9F-8819D90D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DC78721-12FE-DEEA-297F-2E01C7A9763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F1C840A-053F-E417-A4B4-D36CF69004F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</a:t>
            </a: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145307-8AAF-AFFC-7C0D-11FD526D459C}"/>
              </a:ext>
            </a:extLst>
          </p:cNvPr>
          <p:cNvSpPr txBox="1"/>
          <p:nvPr/>
        </p:nvSpPr>
        <p:spPr>
          <a:xfrm>
            <a:off x="76200" y="2286000"/>
            <a:ext cx="9067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Caching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caching mechanisms to reduce unnecessary database access.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Lazy Loading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data can be loaded when it is actually required.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Mapping Support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relationships such as: 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Many-to-One </a:t>
            </a:r>
          </a:p>
          <a:p>
            <a:pPr lvl="1"/>
            <a:r>
              <a:rPr lang="en-IN" sz="2400" dirty="0"/>
              <a:t>Many-to-Many</a:t>
            </a:r>
          </a:p>
        </p:txBody>
      </p:sp>
    </p:spTree>
    <p:extLst>
      <p:ext uri="{BB962C8B-B14F-4D97-AF65-F5344CB8AC3E}">
        <p14:creationId xmlns:p14="http://schemas.microsoft.com/office/powerpoint/2010/main" val="328902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366FB-2498-F5D5-AB1D-6B7CB7FE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5FAC00C-8CC2-2EF6-8EFB-5C7FCF9F664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554D747-F581-4B8A-0999-EA89012815B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Configuration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3BED37-1DE3-EB62-EF0C-3F6D57163A8C}"/>
              </a:ext>
            </a:extLst>
          </p:cNvPr>
          <p:cNvSpPr txBox="1"/>
          <p:nvPr/>
        </p:nvSpPr>
        <p:spPr>
          <a:xfrm>
            <a:off x="76200" y="2286000"/>
            <a:ext cx="906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requires a set of configuration settings related to database and other related parameters.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such information is usually supplied as a standard Java properties file called 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hibernate.properties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as an XML file named 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hibernate.cfg.xml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499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C7D2-6D6C-4E91-F764-3D420CF5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D17D8155-6488-59F9-84D8-B8608AC3DAF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33703163-E751-49D2-A984-5AD1A69EEC8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Configuration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0FEF0-2718-3C4B-F3FA-E608068753B7}"/>
              </a:ext>
            </a:extLst>
          </p:cNvPr>
          <p:cNvSpPr txBox="1"/>
          <p:nvPr/>
        </p:nvSpPr>
        <p:spPr>
          <a:xfrm>
            <a:off x="76200" y="2286000"/>
            <a:ext cx="9067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&lt;hibernate-configuration&gt;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&lt;session-factory&gt;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&lt;property name="connection.url"&gt;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jdbc:mysql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://localhost/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studentdb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&lt;/property&gt;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&lt;property name="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connection.username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root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&lt;/property&gt;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&lt;property name="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connection.password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root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&lt;/property&gt;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&lt;property name="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connection.driver_class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com.mysql.cj.jdbc.Driver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&lt;/property&gt;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&lt;/session-factory&gt;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&lt;/hibernate-configuration&gt;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4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2B1D-9953-DA4D-69FD-32F7EC6A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BEB1642-9BE5-CDE7-E4A3-F1B51B2FE62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FF4495F-3F70-3CF8-B683-57FB2531CBA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Object States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9F77B-219C-4D71-5F64-EF79CE4B141A}"/>
              </a:ext>
            </a:extLst>
          </p:cNvPr>
          <p:cNvSpPr txBox="1"/>
          <p:nvPr/>
        </p:nvSpPr>
        <p:spPr>
          <a:xfrm>
            <a:off x="76200" y="2286000"/>
            <a:ext cx="90678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states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newly created.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associated with a Hibernate Session.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represent a database row yet.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associated with a Session.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tracks changes to the object.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can be synchronized with the database.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Detached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was previously persistent.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has been closed or object has been detached.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no longer automatically tracks its changes.</a:t>
            </a:r>
          </a:p>
        </p:txBody>
      </p:sp>
    </p:spTree>
    <p:extLst>
      <p:ext uri="{BB962C8B-B14F-4D97-AF65-F5344CB8AC3E}">
        <p14:creationId xmlns:p14="http://schemas.microsoft.com/office/powerpoint/2010/main" val="359877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C8FC-3FB3-089B-C084-297B1DA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44A6E80-ACF9-0176-7B26-85C61A50495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B14E19C-CD33-4FAD-AFA5-3F34C003D43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Persistent Class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C60ED-505F-9F05-80C2-3F5166E5AAF4}"/>
              </a:ext>
            </a:extLst>
          </p:cNvPr>
          <p:cNvSpPr txBox="1"/>
          <p:nvPr/>
        </p:nvSpPr>
        <p:spPr>
          <a:xfrm>
            <a:off x="76200" y="2286000"/>
            <a:ext cx="9067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Class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 class whose objects can be stored in the database using Hibernate.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 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int id;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course;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Getters and setters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323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2A82-C325-F95C-DC72-21D99B59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B14E272-C3C9-92CB-291F-E5A011E480F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6CEAFD4-0A92-96C3-F025-78BEF57446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Mapping a Persistent Class Using Annotations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1F823-4BA9-2B99-4B87-97AB4599DEAB}"/>
              </a:ext>
            </a:extLst>
          </p:cNvPr>
          <p:cNvSpPr txBox="1"/>
          <p:nvPr/>
        </p:nvSpPr>
        <p:spPr>
          <a:xfrm>
            <a:off x="76200" y="2286000"/>
            <a:ext cx="906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@Entity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@Table(name = "student")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 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@Id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@GeneratedValue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int id;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@Column(name =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course;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60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4C91-7B34-4B85-6C57-0E27DF46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FE5994E-8122-5367-1834-C6C49970A4C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548FBB8-EF6E-1C87-9751-78940DDEA5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Components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BABF2-EC4B-BB9F-922B-8A71FA92BB1A}"/>
              </a:ext>
            </a:extLst>
          </p:cNvPr>
          <p:cNvSpPr txBox="1"/>
          <p:nvPr/>
        </p:nvSpPr>
        <p:spPr>
          <a:xfrm>
            <a:off x="76200" y="2286000"/>
            <a:ext cx="9067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components we'll use throughout the unit are: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Configuration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Hibernate configuration information.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manages Hibernate Session objects.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Session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interact with the database through Hibernate.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Transaction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 unit of database work.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Query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execute HQL/SQL queries.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Criteria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construct database queries programmatically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859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9BA8-6AFE-6D2D-F784-77A574FB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E3C01CA-CC6A-90C0-83F6-D46E235F264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BAD53D-C551-6E2D-A697-65852BDA3ED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916BE-5F94-C865-8740-EE351B6E3583}"/>
              </a:ext>
            </a:extLst>
          </p:cNvPr>
          <p:cNvSpPr txBox="1"/>
          <p:nvPr/>
        </p:nvSpPr>
        <p:spPr>
          <a:xfrm>
            <a:off x="76200" y="2286000"/>
            <a:ext cx="9067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responsible for creating Hibernate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from Hibernate configuration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created once for an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create multiple Sessions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heavyweight object compared with a Session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throughout the application's lifetime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factory =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configuration.buildSessionFactory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Sessions; Session performs database operations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52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AEB6-B1EC-A992-1952-0CA74D22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880DF2EE-D2BD-30EE-C0F5-149F2BE13B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4DD30FF-A08C-AA06-0036-2BAA837C16D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560F0-F0AE-E995-8EDE-DDFBD374A12F}"/>
              </a:ext>
            </a:extLst>
          </p:cNvPr>
          <p:cNvSpPr txBox="1"/>
          <p:nvPr/>
        </p:nvSpPr>
        <p:spPr>
          <a:xfrm>
            <a:off x="76200" y="2286000"/>
            <a:ext cx="9067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an interaction between the Java application and Hibernate/database.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Session manages the interaction between the persistent object and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sessionFactory.openSession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Session operations: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delete()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createQuery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3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D206-AB0F-95B3-6DEC-750E058F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F135ADF-8454-BBE5-C2D7-5A008021ED4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2B99012-7BCF-677D-4B9A-32ADB9588EF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A74AE4-5FCC-9BD4-CC8D-AA8994EE044A}"/>
              </a:ext>
            </a:extLst>
          </p:cNvPr>
          <p:cNvSpPr txBox="1"/>
          <p:nvPr/>
        </p:nvSpPr>
        <p:spPr>
          <a:xfrm>
            <a:off x="76200" y="2286000"/>
            <a:ext cx="906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unit of work that should be completed atomically.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session.beginTransaction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session.persist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(student);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tx.commit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tx.rollback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38958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72C1-CB36-E7D6-A5D7-105F36E1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27802E6-6CDE-F597-27F1-E8AA8F0BA40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82D5292-F33E-8BEF-2E6F-8C4AA60810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D4C74-B28D-36A7-33DB-E9B8CBDBC430}"/>
              </a:ext>
            </a:extLst>
          </p:cNvPr>
          <p:cNvSpPr txBox="1"/>
          <p:nvPr/>
        </p:nvSpPr>
        <p:spPr>
          <a:xfrm>
            <a:off x="76200" y="2286000"/>
            <a:ext cx="9067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sessionFactory.openSession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session.beginTransaction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perform DB operations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session.save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Student(...));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tx.commit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// All good, save to DB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catch (Exception e)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tx.rollback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// Something went wrong, cancel 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3073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4DDC-1DF7-065D-736C-751B1D3F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8A16F6DB-40C2-86BE-E1BC-08EEB5164FC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7057D55-96DE-FAEB-8DC4-F4796A0AB2B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Session: CRUD Operations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A75161-8611-88A1-FCFC-A91420071EE0}"/>
              </a:ext>
            </a:extLst>
          </p:cNvPr>
          <p:cNvSpPr txBox="1"/>
          <p:nvPr/>
        </p:nvSpPr>
        <p:spPr>
          <a:xfrm>
            <a:off x="76200" y="2286000"/>
            <a:ext cx="9067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session.persist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(student);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session.get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Student.class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1);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student.setName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("Rahul");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session.merge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(student);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session.remove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(student);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232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2287-ED94-A6A1-5D26-AECB2115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0C289CC-0317-FA06-FB92-9A258E14C4E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442D47A-8D68-D193-E79B-8550C0513C0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with MVC Architecture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426D0-2CCB-091E-F473-FED8CDA85229}"/>
              </a:ext>
            </a:extLst>
          </p:cNvPr>
          <p:cNvSpPr txBox="1"/>
          <p:nvPr/>
        </p:nvSpPr>
        <p:spPr>
          <a:xfrm>
            <a:off x="76200" y="2286000"/>
            <a:ext cx="9067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is commonly used as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persistence/data-access layer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MVC-based application.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=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— Model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application data.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— 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user interface.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— Controller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requests and coordinates application logic.</a:t>
            </a:r>
          </a:p>
        </p:txBody>
      </p:sp>
    </p:spTree>
    <p:extLst>
      <p:ext uri="{BB962C8B-B14F-4D97-AF65-F5344CB8AC3E}">
        <p14:creationId xmlns:p14="http://schemas.microsoft.com/office/powerpoint/2010/main" val="2360022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B067-FF52-CF95-0F62-97372B8B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4FC2C69-9686-6336-706B-DBC6254B6C0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8459BFA-8602-15CF-B68A-697B04650B1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500AE-D1D1-4619-4256-C7591BBFB1D1}"/>
              </a:ext>
            </a:extLst>
          </p:cNvPr>
          <p:cNvSpPr txBox="1"/>
          <p:nvPr/>
        </p:nvSpPr>
        <p:spPr>
          <a:xfrm>
            <a:off x="76200" y="2286000"/>
            <a:ext cx="89807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 (HQL) is an object-oriented query language, similar to SQL, but instead of operating on tables and columns, HQL works with persistent objects and their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 queries are translated by Hibernate into conventional SQL queries, which in turns perform action on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Clause:-</a:t>
            </a:r>
          </a:p>
          <a:p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"FROM Employee"; </a:t>
            </a:r>
          </a:p>
          <a:p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results = 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query.list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141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E4F7-C28D-9B18-227D-E33EB9D8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4B73D26-14FB-6454-71B9-84B789B15FF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6C42B7F-9A1A-3201-4E21-88696C261F8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D70A1-E6AA-E951-A766-84E9726EB411}"/>
              </a:ext>
            </a:extLst>
          </p:cNvPr>
          <p:cNvSpPr txBox="1"/>
          <p:nvPr/>
        </p:nvSpPr>
        <p:spPr>
          <a:xfrm>
            <a:off x="76200" y="2286000"/>
            <a:ext cx="89807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IN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Clause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"SELECT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E.firstName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Employee E"; 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results =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query.list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clause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"FROM Employee E WHERE E.id = 10"; 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results = </a:t>
            </a:r>
            <a:r>
              <a:rPr lang="en-IN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query.list</a:t>
            </a:r>
            <a:r>
              <a:rPr lang="en-I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706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D04C-AF9A-2A38-4132-58151056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C195499-458E-903E-1233-A87E449F139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041DB2A-9C18-A15E-4E9C-2F53A51A6CB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29AE9-F8E3-E3D7-C87F-A91C7CE342E7}"/>
              </a:ext>
            </a:extLst>
          </p:cNvPr>
          <p:cNvSpPr txBox="1"/>
          <p:nvPr/>
        </p:nvSpPr>
        <p:spPr>
          <a:xfrm>
            <a:off x="76200" y="2286000"/>
            <a:ext cx="898071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Clause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"UPDATE Employee set salary = :salary " + "WHERE id = :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query.setParameter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("salary", 1000);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query.setParameter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 10);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result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query.executeUpdate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("Rows affected: " + result);</a:t>
            </a:r>
            <a:endParaRPr lang="en-IN" sz="3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52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E51CE-5107-9354-88FD-6EE420A2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95C44C0D-442D-50C0-6F1A-EF4404B1E4A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E367372-AAF4-0863-F7CD-5BE5A4DEEDF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A36EF-3358-8DEF-10D5-3AF34EFBDF28}"/>
              </a:ext>
            </a:extLst>
          </p:cNvPr>
          <p:cNvSpPr txBox="1"/>
          <p:nvPr/>
        </p:nvSpPr>
        <p:spPr>
          <a:xfrm>
            <a:off x="76200" y="2286000"/>
            <a:ext cx="89807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IN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Clause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"DELETE FROM Employee " + "WHERE id = :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query.setParameter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 10);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result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query.executeUpdate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("Rows affected: " + result);</a:t>
            </a:r>
            <a:endParaRPr lang="en-IN" sz="3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96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6D68-1356-54EA-C911-2AF58415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4E1E8BEF-48F1-0B85-0B88-0C90ED44A94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C610703-B30D-E7F5-0C90-D3F7D45A14A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Query Language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9D084-F4F6-7CB7-4591-8035C1B8F73E}"/>
              </a:ext>
            </a:extLst>
          </p:cNvPr>
          <p:cNvSpPr txBox="1"/>
          <p:nvPr/>
        </p:nvSpPr>
        <p:spPr>
          <a:xfrm>
            <a:off x="76200" y="2286000"/>
            <a:ext cx="89807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Clause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"INSERT INTO Employee(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salary)" + "SELECT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salary FROM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old_employee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session.createQuery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result =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query.executeUpdate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("Rows affected: " + result);</a:t>
            </a:r>
            <a:endParaRPr lang="en-IN" sz="3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03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5F4D-A8DF-0AE7-52B6-013CE9A4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3A5349A-14D6-B45D-7A9E-C56DBC3AE6E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A58A19E-7B79-53BE-4400-E8E5D609762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Query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FCD21-6A28-2315-A7BD-53081D1FA1C0}"/>
              </a:ext>
            </a:extLst>
          </p:cNvPr>
          <p:cNvSpPr txBox="1"/>
          <p:nvPr/>
        </p:nvSpPr>
        <p:spPr>
          <a:xfrm>
            <a:off x="76200" y="2286000"/>
            <a:ext cx="89807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Criteria API allows us to create database queries programmatically using Java objects and methods instead of writing the complete query as a string.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</a:t>
            </a: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HQL:</a:t>
            </a:r>
            <a:endParaRPr lang="en-US" sz="3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hql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"FROM Student WHERE course = :course";</a:t>
            </a:r>
          </a:p>
          <a:p>
            <a:endParaRPr lang="en-IN" sz="3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599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C0D0-8D5B-390B-C8C8-F5B9A1D4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B504A91B-5A67-DBAE-DF11-F3EB82F1C63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4810714-F00F-F738-CE35-0D50772C1C7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Query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3988D-D1D6-DF7D-582C-0A770184EE8A}"/>
              </a:ext>
            </a:extLst>
          </p:cNvPr>
          <p:cNvSpPr txBox="1"/>
          <p:nvPr/>
        </p:nvSpPr>
        <p:spPr>
          <a:xfrm>
            <a:off x="76200" y="2286000"/>
            <a:ext cx="898071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CriteriaBuilder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session.getCriteriaBuilder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CriteriaQuery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&lt;Student&gt;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cb.createQuery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Student.class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Root&lt;Student&gt; root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cq.from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Student.class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cq.select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.where(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cb.equal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root.get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("course"), "MCA")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en-IN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67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BE52-EC2D-FB03-3883-9833D234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5D434DF-C90E-FAEA-9E61-8E91936AACE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53E64E0-FF29-A289-2BFA-9682B566ACD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Query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D5344-B8A8-EA2B-2F15-2A60FB9B47AD}"/>
              </a:ext>
            </a:extLst>
          </p:cNvPr>
          <p:cNvSpPr txBox="1"/>
          <p:nvPr/>
        </p:nvSpPr>
        <p:spPr>
          <a:xfrm>
            <a:off x="76200" y="2286000"/>
            <a:ext cx="898071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CriteriaBuilder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session.getCriteriaBuilder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CriteriaQuery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&lt;Student&gt;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cb.createQuery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Student.class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Root&lt;Student&gt; root =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cq.from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Student.class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cq.select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.where(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cb.equal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root.get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("course"), "MCA")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en-IN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16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ECE1-A2FE-229E-4E84-865A110F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632E3025-C199-E925-3134-F34D34B3685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C8A5C36-09F7-98A4-C176-07EA0E579A4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Mapping Types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BE2D5-ECE4-5781-9E4E-4F22E2E9F37E}"/>
              </a:ext>
            </a:extLst>
          </p:cNvPr>
          <p:cNvSpPr txBox="1"/>
          <p:nvPr/>
        </p:nvSpPr>
        <p:spPr>
          <a:xfrm>
            <a:off x="76200" y="2286000"/>
            <a:ext cx="89807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how Java objects and their relationships correspond to database tables and relationships.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supports relationships such as: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@OneToOne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Passport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@OneToMany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List&lt;Student&gt; students;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144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9E3F-3A27-9EAD-A142-435475C2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4CCBF2F-4975-F9F6-A385-E9F158EE2C1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D370D3D-B70A-518D-8D00-0739E90604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 Mapping Types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16582-8E4A-0B04-2F9F-01A48A7A194F}"/>
              </a:ext>
            </a:extLst>
          </p:cNvPr>
          <p:cNvSpPr txBox="1"/>
          <p:nvPr/>
        </p:nvSpPr>
        <p:spPr>
          <a:xfrm>
            <a:off x="76200" y="2286000"/>
            <a:ext cx="89807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Many-to-One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@ManyToOne 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@JoinColumn(name = "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 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Department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@ManyToMany 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List&lt;Course&gt; courses;</a:t>
            </a:r>
          </a:p>
        </p:txBody>
      </p:sp>
    </p:spTree>
    <p:extLst>
      <p:ext uri="{BB962C8B-B14F-4D97-AF65-F5344CB8AC3E}">
        <p14:creationId xmlns:p14="http://schemas.microsoft.com/office/powerpoint/2010/main" val="980552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A801-FB12-2091-BB1E-04E53416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87329BC-B1DB-1AA2-71B9-10801DC96A0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42BBA66-8B94-09DD-834D-A58AF633164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" y="1687513"/>
            <a:ext cx="887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SQL in Hibernate</a:t>
            </a:r>
            <a:endParaRPr lang="en-IN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3616C-F3FA-738E-D0C3-25DA0223ADCA}"/>
              </a:ext>
            </a:extLst>
          </p:cNvPr>
          <p:cNvSpPr txBox="1"/>
          <p:nvPr/>
        </p:nvSpPr>
        <p:spPr>
          <a:xfrm>
            <a:off x="76200" y="2286000"/>
            <a:ext cx="8980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need to execute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SQL directly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provides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createNativeQuery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purpose.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"SELECT * FROM student";</a:t>
            </a:r>
          </a:p>
          <a:p>
            <a:pPr lvl="0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List&lt;Object[]&gt; students =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session.createNativeQuery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getResultList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031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5768</TotalTime>
  <Words>1642</Words>
  <Application>Microsoft Office PowerPoint</Application>
  <PresentationFormat>On-screen Show (4:3)</PresentationFormat>
  <Paragraphs>286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Kumar</dc:creator>
  <cp:lastModifiedBy>Gaurav Kumar</cp:lastModifiedBy>
  <cp:revision>197</cp:revision>
  <dcterms:created xsi:type="dcterms:W3CDTF">2024-08-22T07:30:41Z</dcterms:created>
  <dcterms:modified xsi:type="dcterms:W3CDTF">2026-09-24T04:00:33Z</dcterms:modified>
</cp:coreProperties>
</file>