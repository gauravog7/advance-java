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23" r:id="rId3"/>
    <p:sldId id="326" r:id="rId4"/>
    <p:sldId id="331" r:id="rId5"/>
    <p:sldId id="332" r:id="rId6"/>
    <p:sldId id="333" r:id="rId7"/>
    <p:sldId id="334" r:id="rId8"/>
    <p:sldId id="335" r:id="rId9"/>
    <p:sldId id="337" r:id="rId10"/>
    <p:sldId id="338" r:id="rId11"/>
    <p:sldId id="350" r:id="rId12"/>
    <p:sldId id="351" r:id="rId13"/>
    <p:sldId id="352" r:id="rId14"/>
    <p:sldId id="353" r:id="rId15"/>
    <p:sldId id="354" r:id="rId16"/>
    <p:sldId id="355" r:id="rId17"/>
    <p:sldId id="356" r:id="rId18"/>
    <p:sldId id="357" r:id="rId19"/>
    <p:sldId id="358" r:id="rId20"/>
    <p:sldId id="35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15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xml"/><Relationship Id="rId7"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0.xml"/><Relationship Id="rId7"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6.png"/><Relationship Id="rId4" Type="http://schemas.openxmlformats.org/officeDocument/2006/relationships/tags" Target="../tags/tag11.xml"/><Relationship Id="rId9"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9FBD68B-9F31-15C9-8B3F-2DD75B6C325A}"/>
              </a:ext>
            </a:extLst>
          </p:cNvPr>
          <p:cNvPicPr>
            <a:picLocks noChangeAspect="1" noChangeArrowheads="1"/>
          </p:cNvPicPr>
          <p:nvPr userDrawn="1">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0" y="0"/>
            <a:ext cx="9144000" cy="690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Box 4">
            <a:extLst>
              <a:ext uri="{FF2B5EF4-FFF2-40B4-BE49-F238E27FC236}">
                <a16:creationId xmlns:a16="http://schemas.microsoft.com/office/drawing/2014/main" id="{41511A9E-5E23-E796-A37C-5828BC6BC5E9}"/>
              </a:ext>
            </a:extLst>
          </p:cNvPr>
          <p:cNvSpPr>
            <a:spLocks noChangeArrowheads="1"/>
          </p:cNvSpPr>
          <p:nvPr userDrawn="1">
            <p:custDataLst>
              <p:tags r:id="rId2"/>
            </p:custDataLst>
          </p:nvPr>
        </p:nvSpPr>
        <p:spPr bwMode="auto">
          <a:xfrm>
            <a:off x="1168400" y="1744663"/>
            <a:ext cx="6858000"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US" altLang="en-US" sz="3500" b="1" dirty="0">
                <a:solidFill>
                  <a:srgbClr val="000000"/>
                </a:solidFill>
                <a:cs typeface="Times New Roman" panose="02020603050405020304" pitchFamily="18" charset="0"/>
              </a:rPr>
              <a:t>Advance</a:t>
            </a:r>
            <a:r>
              <a:rPr lang="en-IN" altLang="en-US" sz="3500" b="1" dirty="0">
                <a:solidFill>
                  <a:srgbClr val="000000"/>
                </a:solidFill>
                <a:cs typeface="Times New Roman" panose="02020603050405020304" pitchFamily="18" charset="0"/>
              </a:rPr>
              <a:t> Java</a:t>
            </a:r>
          </a:p>
        </p:txBody>
      </p:sp>
      <p:pic>
        <p:nvPicPr>
          <p:cNvPr id="10" name="Picture 2" descr="C:\Users\parul\Desktop\Registered Logosd.png">
            <a:extLst>
              <a:ext uri="{FF2B5EF4-FFF2-40B4-BE49-F238E27FC236}">
                <a16:creationId xmlns:a16="http://schemas.microsoft.com/office/drawing/2014/main" id="{62F37BAC-D94A-B74B-3F86-CAD4E9A449E4}"/>
              </a:ext>
            </a:extLst>
          </p:cNvPr>
          <p:cNvPicPr>
            <a:picLocks noChangeAspect="1" noChangeArrowheads="1"/>
          </p:cNvPicPr>
          <p:nvPr userDrawn="1">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3381375" y="500063"/>
            <a:ext cx="23812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11" name="Group 26">
            <a:extLst>
              <a:ext uri="{FF2B5EF4-FFF2-40B4-BE49-F238E27FC236}">
                <a16:creationId xmlns:a16="http://schemas.microsoft.com/office/drawing/2014/main" id="{DB474A11-A826-652C-0461-958173031701}"/>
              </a:ext>
            </a:extLst>
          </p:cNvPr>
          <p:cNvGrpSpPr>
            <a:grpSpLocks/>
          </p:cNvGrpSpPr>
          <p:nvPr userDrawn="1"/>
        </p:nvGrpSpPr>
        <p:grpSpPr bwMode="auto">
          <a:xfrm>
            <a:off x="1417638" y="2692400"/>
            <a:ext cx="6308725" cy="93663"/>
            <a:chOff x="1428728" y="2571744"/>
            <a:chExt cx="6309404" cy="94298"/>
          </a:xfrm>
        </p:grpSpPr>
        <p:sp>
          <p:nvSpPr>
            <p:cNvPr id="12" name="Straight Connector 8">
              <a:extLst>
                <a:ext uri="{FF2B5EF4-FFF2-40B4-BE49-F238E27FC236}">
                  <a16:creationId xmlns:a16="http://schemas.microsoft.com/office/drawing/2014/main" id="{E07CD9FD-D4CD-79E7-B5D7-FC6094BEA5B8}"/>
                </a:ext>
              </a:extLst>
            </p:cNvPr>
            <p:cNvSpPr>
              <a:spLocks noChangeShapeType="1"/>
            </p:cNvSpPr>
            <p:nvPr>
              <p:custDataLst>
                <p:tags r:id="rId4"/>
              </p:custDataLst>
            </p:nvPr>
          </p:nvSpPr>
          <p:spPr bwMode="auto">
            <a:xfrm>
              <a:off x="1428728" y="2618094"/>
              <a:ext cx="6287177" cy="1598"/>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 name="Oval 24">
              <a:extLst>
                <a:ext uri="{FF2B5EF4-FFF2-40B4-BE49-F238E27FC236}">
                  <a16:creationId xmlns:a16="http://schemas.microsoft.com/office/drawing/2014/main" id="{84FF77FC-D0D8-A137-2AB7-1C1A0661D5CE}"/>
                </a:ext>
              </a:extLst>
            </p:cNvPr>
            <p:cNvSpPr>
              <a:spLocks noChangeArrowheads="1"/>
            </p:cNvSpPr>
            <p:nvPr>
              <p:custDataLst>
                <p:tags r:id="rId5"/>
              </p:custDataLst>
            </p:nvPr>
          </p:nvSpPr>
          <p:spPr bwMode="auto">
            <a:xfrm flipH="1" flipV="1">
              <a:off x="1428728" y="2571744"/>
              <a:ext cx="93672"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14" name="Oval 25">
              <a:extLst>
                <a:ext uri="{FF2B5EF4-FFF2-40B4-BE49-F238E27FC236}">
                  <a16:creationId xmlns:a16="http://schemas.microsoft.com/office/drawing/2014/main" id="{FDB144FE-873D-513E-9836-7B92A1E6B019}"/>
                </a:ext>
              </a:extLst>
            </p:cNvPr>
            <p:cNvSpPr>
              <a:spLocks noChangeArrowheads="1"/>
            </p:cNvSpPr>
            <p:nvPr>
              <p:custDataLst>
                <p:tags r:id="rId6"/>
              </p:custDataLst>
            </p:nvPr>
          </p:nvSpPr>
          <p:spPr bwMode="auto">
            <a:xfrm flipH="1" flipV="1">
              <a:off x="7644459" y="2571744"/>
              <a:ext cx="93673"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grpSp>
    </p:spTree>
    <p:extLst>
      <p:ext uri="{BB962C8B-B14F-4D97-AF65-F5344CB8AC3E}">
        <p14:creationId xmlns:p14="http://schemas.microsoft.com/office/powerpoint/2010/main" val="631046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1090520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952F12-2FDA-48AD-A6E8-ACD1F072F40A}"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4997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952F12-2FDA-48AD-A6E8-ACD1F072F40A}"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76119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952F12-2FDA-48AD-A6E8-ACD1F072F40A}" type="datetimeFigureOut">
              <a:rPr lang="en-IN" smtClean="0"/>
              <a:t>17-07-2026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07223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952F12-2FDA-48AD-A6E8-ACD1F072F40A}" type="datetimeFigureOut">
              <a:rPr lang="en-IN" smtClean="0"/>
              <a:t>17-07-2026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709040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952F12-2FDA-48AD-A6E8-ACD1F072F40A}" type="datetimeFigureOut">
              <a:rPr lang="en-IN" smtClean="0"/>
              <a:t>17-07-2026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5263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952F12-2FDA-48AD-A6E8-ACD1F072F40A}"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495505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952F12-2FDA-48AD-A6E8-ACD1F072F40A}"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097958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283925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334082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B9A7D7C4-093D-3558-082E-2361FC2F20AD}"/>
              </a:ext>
            </a:extLst>
          </p:cNvPr>
          <p:cNvPicPr>
            <a:picLocks noChangeAspect="1" noChangeArrowheads="1"/>
          </p:cNvPicPr>
          <p:nvPr userDrawn="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856581" y="2776455"/>
            <a:ext cx="5430838"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Tree>
    <p:extLst>
      <p:ext uri="{BB962C8B-B14F-4D97-AF65-F5344CB8AC3E}">
        <p14:creationId xmlns:p14="http://schemas.microsoft.com/office/powerpoint/2010/main" val="2951546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AF1C6B10-A66A-EE19-163E-508F602734D1}"/>
              </a:ext>
            </a:extLst>
          </p:cNvPr>
          <p:cNvSpPr>
            <a:spLocks noChangeArrowheads="1"/>
          </p:cNvSpPr>
          <p:nvPr userDrawn="1">
            <p:custDataLst>
              <p:tags r:id="rId1"/>
            </p:custDataLst>
          </p:nvPr>
        </p:nvSpPr>
        <p:spPr bwMode="auto">
          <a:xfrm>
            <a:off x="0" y="3214688"/>
            <a:ext cx="9144000" cy="3643312"/>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pic>
        <p:nvPicPr>
          <p:cNvPr id="7" name="Picture 2" descr="C:\Users\parul\Desktop\1.png">
            <a:extLst>
              <a:ext uri="{FF2B5EF4-FFF2-40B4-BE49-F238E27FC236}">
                <a16:creationId xmlns:a16="http://schemas.microsoft.com/office/drawing/2014/main" id="{AA4FDE8B-913C-1DC1-C64A-36FD71474DA8}"/>
              </a:ext>
            </a:extLst>
          </p:cNvPr>
          <p:cNvPicPr>
            <a:picLocks noChangeAspect="1" noChangeArrowheads="1"/>
          </p:cNvPicPr>
          <p:nvPr userDrawn="1">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1219200" y="361950"/>
            <a:ext cx="67056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 name="Picture 3" descr="C:\Users\parul\Desktop\2.png">
            <a:extLst>
              <a:ext uri="{FF2B5EF4-FFF2-40B4-BE49-F238E27FC236}">
                <a16:creationId xmlns:a16="http://schemas.microsoft.com/office/drawing/2014/main" id="{30B829C5-769E-319D-94FC-0D0621C33681}"/>
              </a:ext>
            </a:extLst>
          </p:cNvPr>
          <p:cNvPicPr>
            <a:picLocks noChangeAspect="1" noChangeArrowheads="1"/>
          </p:cNvPicPr>
          <p:nvPr userDrawn="1">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2433638" y="4000500"/>
            <a:ext cx="42767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4" descr="C:\Users\parul\Desktop\Cover Page with yellow patch - Version 18.png">
            <a:extLst>
              <a:ext uri="{FF2B5EF4-FFF2-40B4-BE49-F238E27FC236}">
                <a16:creationId xmlns:a16="http://schemas.microsoft.com/office/drawing/2014/main" id="{756C4F08-D2D8-AEB6-9825-5F33B0070428}"/>
              </a:ext>
            </a:extLst>
          </p:cNvPr>
          <p:cNvPicPr>
            <a:picLocks noChangeAspect="1" noChangeArrowheads="1"/>
          </p:cNvPicPr>
          <p:nvPr userDrawn="1">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3038475" y="4946650"/>
            <a:ext cx="30670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Rectangle 7">
            <a:extLst>
              <a:ext uri="{FF2B5EF4-FFF2-40B4-BE49-F238E27FC236}">
                <a16:creationId xmlns:a16="http://schemas.microsoft.com/office/drawing/2014/main" id="{ED5DA546-EEBA-EEDD-085B-719D7612E30F}"/>
              </a:ext>
            </a:extLst>
          </p:cNvPr>
          <p:cNvSpPr>
            <a:spLocks noChangeArrowheads="1"/>
          </p:cNvSpPr>
          <p:nvPr userDrawn="1">
            <p:custDataLst>
              <p:tags r:id="rId5"/>
            </p:custDataLst>
          </p:nvPr>
        </p:nvSpPr>
        <p:spPr bwMode="auto">
          <a:xfrm>
            <a:off x="0" y="6003925"/>
            <a:ext cx="9144000" cy="357188"/>
          </a:xfrm>
          <a:prstGeom prst="rect">
            <a:avLst/>
          </a:prstGeom>
          <a:solidFill>
            <a:srgbClr val="FFFFFF"/>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11" name="TextBox 8">
            <a:extLst>
              <a:ext uri="{FF2B5EF4-FFF2-40B4-BE49-F238E27FC236}">
                <a16:creationId xmlns:a16="http://schemas.microsoft.com/office/drawing/2014/main" id="{D01DF74C-FD39-4225-9267-664E1B9FC744}"/>
              </a:ext>
            </a:extLst>
          </p:cNvPr>
          <p:cNvSpPr>
            <a:spLocks noChangeArrowheads="1"/>
          </p:cNvSpPr>
          <p:nvPr userDrawn="1">
            <p:custDataLst>
              <p:tags r:id="rId6"/>
            </p:custDataLst>
          </p:nvPr>
        </p:nvSpPr>
        <p:spPr bwMode="auto">
          <a:xfrm>
            <a:off x="3249613" y="5997575"/>
            <a:ext cx="2644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US" altLang="en-US" sz="1800">
                <a:solidFill>
                  <a:schemeClr val="tx2"/>
                </a:solidFill>
                <a:cs typeface="Times New Roman" panose="02020603050405020304" pitchFamily="18" charset="0"/>
              </a:rPr>
              <a:t>www.paruluniversity.ac.in</a:t>
            </a:r>
          </a:p>
        </p:txBody>
      </p:sp>
    </p:spTree>
    <p:extLst>
      <p:ext uri="{BB962C8B-B14F-4D97-AF65-F5344CB8AC3E}">
        <p14:creationId xmlns:p14="http://schemas.microsoft.com/office/powerpoint/2010/main" val="1160776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952F12-2FDA-48AD-A6E8-ACD1F072F40A}" type="datetimeFigureOut">
              <a:rPr lang="en-IN" smtClean="0"/>
              <a:t>17-07-2026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948770-0E36-4D7D-8124-C06EC090C77E}" type="slidenum">
              <a:rPr lang="en-IN" smtClean="0"/>
              <a:t>‹#›</a:t>
            </a:fld>
            <a:endParaRPr lang="en-IN"/>
          </a:p>
        </p:txBody>
      </p:sp>
    </p:spTree>
    <p:extLst>
      <p:ext uri="{BB962C8B-B14F-4D97-AF65-F5344CB8AC3E}">
        <p14:creationId xmlns:p14="http://schemas.microsoft.com/office/powerpoint/2010/main" val="9660286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xml"/><Relationship Id="rId1" Type="http://schemas.openxmlformats.org/officeDocument/2006/relationships/tags" Target="../tags/tag14.xml"/></Relationships>
</file>

<file path=ppt/slides/_rels/slide2.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2.xml"/><Relationship Id="rId1" Type="http://schemas.openxmlformats.org/officeDocument/2006/relationships/tags" Target="../tags/tag2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4.xml"/><Relationship Id="rId1" Type="http://schemas.openxmlformats.org/officeDocument/2006/relationships/tags" Target="../tags/tag2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6.xml"/><Relationship Id="rId1" Type="http://schemas.openxmlformats.org/officeDocument/2006/relationships/tags" Target="../tags/tag2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8.xml"/><Relationship Id="rId1" Type="http://schemas.openxmlformats.org/officeDocument/2006/relationships/tags" Target="../tags/tag2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0.xml"/><Relationship Id="rId1" Type="http://schemas.openxmlformats.org/officeDocument/2006/relationships/tags" Target="../tags/tag2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2.xml"/><Relationship Id="rId1" Type="http://schemas.openxmlformats.org/officeDocument/2006/relationships/tags" Target="../tags/tag3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4.xml"/><Relationship Id="rId1" Type="http://schemas.openxmlformats.org/officeDocument/2006/relationships/tags" Target="../tags/tag3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6.xml"/><Relationship Id="rId1" Type="http://schemas.openxmlformats.org/officeDocument/2006/relationships/tags" Target="../tags/tag3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8.xml"/><Relationship Id="rId1" Type="http://schemas.openxmlformats.org/officeDocument/2006/relationships/tags" Target="../tags/tag3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0.xml"/><Relationship Id="rId1" Type="http://schemas.openxmlformats.org/officeDocument/2006/relationships/tags" Target="../tags/tag3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2.xml"/><Relationship Id="rId1" Type="http://schemas.openxmlformats.org/officeDocument/2006/relationships/tags" Target="../tags/tag4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4.xml"/><Relationship Id="rId1" Type="http://schemas.openxmlformats.org/officeDocument/2006/relationships/tags" Target="../tags/tag4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6.xml"/><Relationship Id="rId1" Type="http://schemas.openxmlformats.org/officeDocument/2006/relationships/tags" Target="../tags/tag4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0.xml"/><Relationship Id="rId1" Type="http://schemas.openxmlformats.org/officeDocument/2006/relationships/tags" Target="../tags/tag49.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2.xml"/><Relationship Id="rId1" Type="http://schemas.openxmlformats.org/officeDocument/2006/relationships/tags" Target="../tags/tag5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4.xml"/><Relationship Id="rId1" Type="http://schemas.openxmlformats.org/officeDocument/2006/relationships/tags" Target="../tags/tag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50BCAC4D-696F-B836-4773-589954086317}"/>
              </a:ext>
            </a:extLst>
          </p:cNvPr>
          <p:cNvSpPr>
            <a:spLocks noChangeArrowheads="1"/>
          </p:cNvSpPr>
          <p:nvPr>
            <p:custDataLst>
              <p:tags r:id="rId1"/>
            </p:custDataLst>
          </p:nvPr>
        </p:nvSpPr>
        <p:spPr bwMode="auto">
          <a:xfrm>
            <a:off x="0" y="3714750"/>
            <a:ext cx="9144000" cy="714375"/>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None/>
            </a:pPr>
            <a:r>
              <a:rPr lang="en-US" altLang="en-US" sz="3500" b="1" dirty="0">
                <a:solidFill>
                  <a:schemeClr val="bg1"/>
                </a:solidFill>
                <a:cs typeface="Times New Roman" panose="02020603050405020304" pitchFamily="18" charset="0"/>
              </a:rPr>
              <a:t>J</a:t>
            </a:r>
            <a:r>
              <a:rPr lang="en-IN" altLang="en-US" sz="3500" b="1" dirty="0">
                <a:solidFill>
                  <a:schemeClr val="bg1"/>
                </a:solidFill>
                <a:cs typeface="Times New Roman" panose="02020603050405020304" pitchFamily="18" charset="0"/>
              </a:rPr>
              <a:t>ava Database Connectivity</a:t>
            </a:r>
          </a:p>
        </p:txBody>
      </p:sp>
      <p:sp>
        <p:nvSpPr>
          <p:cNvPr id="5" name="TextBox 6">
            <a:extLst>
              <a:ext uri="{FF2B5EF4-FFF2-40B4-BE49-F238E27FC236}">
                <a16:creationId xmlns:a16="http://schemas.microsoft.com/office/drawing/2014/main" id="{2B27439B-57F6-0AA6-0670-092242D019AD}"/>
              </a:ext>
            </a:extLst>
          </p:cNvPr>
          <p:cNvSpPr>
            <a:spLocks noChangeArrowheads="1"/>
          </p:cNvSpPr>
          <p:nvPr>
            <p:custDataLst>
              <p:tags r:id="rId2"/>
            </p:custDataLst>
          </p:nvPr>
        </p:nvSpPr>
        <p:spPr bwMode="auto">
          <a:xfrm>
            <a:off x="1714500" y="3071813"/>
            <a:ext cx="571500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IN" altLang="en-US" sz="3500" b="1" dirty="0">
                <a:cs typeface="Times New Roman" panose="02020603050405020304" pitchFamily="18" charset="0"/>
              </a:rPr>
              <a:t>Unit -1</a:t>
            </a:r>
          </a:p>
        </p:txBody>
      </p:sp>
    </p:spTree>
    <p:extLst>
      <p:ext uri="{BB962C8B-B14F-4D97-AF65-F5344CB8AC3E}">
        <p14:creationId xmlns:p14="http://schemas.microsoft.com/office/powerpoint/2010/main" val="54765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B936D777-4D08-FC9C-562C-397B52751678}"/>
              </a:ext>
            </a:extLst>
          </p:cNvPr>
          <p:cNvSpPr txBox="1">
            <a:spLocks noChangeArrowheads="1"/>
          </p:cNvSpPr>
          <p:nvPr>
            <p:custDataLst>
              <p:tags r:id="rId1"/>
            </p:custDataLst>
          </p:nvPr>
        </p:nvSpPr>
        <p:spPr bwMode="auto">
          <a:xfrm>
            <a:off x="190500" y="2352675"/>
            <a:ext cx="8675204"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324000" algn="just">
              <a:spcBef>
                <a:spcPct val="0"/>
              </a:spcBef>
            </a:pPr>
            <a:r>
              <a:rPr lang="en-US" b="1" i="0" dirty="0">
                <a:solidFill>
                  <a:schemeClr val="tx1">
                    <a:lumMod val="95000"/>
                    <a:lumOff val="5000"/>
                  </a:schemeClr>
                </a:solidFill>
                <a:effectLst/>
                <a:latin typeface="Times New Roman" panose="02020603050405020304" pitchFamily="18" charset="0"/>
                <a:cs typeface="Times New Roman" panose="02020603050405020304" pitchFamily="18" charset="0"/>
              </a:rPr>
              <a:t>JDBC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stands for </a:t>
            </a:r>
            <a:r>
              <a:rPr lang="en-US" b="1" i="0" dirty="0">
                <a:solidFill>
                  <a:schemeClr val="tx1">
                    <a:lumMod val="95000"/>
                    <a:lumOff val="5000"/>
                  </a:schemeClr>
                </a:solidFill>
                <a:effectLst/>
                <a:latin typeface="Times New Roman" panose="02020603050405020304" pitchFamily="18" charset="0"/>
                <a:cs typeface="Times New Roman" panose="02020603050405020304" pitchFamily="18" charset="0"/>
              </a:rPr>
              <a:t>Java Database Connectivity.</a:t>
            </a:r>
            <a:endParaRPr lang="en-US" sz="4800" b="1"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324000" algn="just">
              <a:spcBef>
                <a:spcPct val="0"/>
              </a:spcBef>
            </a:pPr>
            <a:r>
              <a:rPr lang="en-US" b="1" i="0" dirty="0">
                <a:solidFill>
                  <a:schemeClr val="tx1">
                    <a:lumMod val="95000"/>
                    <a:lumOff val="5000"/>
                  </a:schemeClr>
                </a:solidFill>
                <a:effectLst/>
                <a:latin typeface="Times New Roman" panose="02020603050405020304" pitchFamily="18" charset="0"/>
                <a:cs typeface="Times New Roman" panose="02020603050405020304" pitchFamily="18" charset="0"/>
              </a:rPr>
              <a:t>JDBC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is</a:t>
            </a:r>
            <a:r>
              <a:rPr lang="en-US" b="0" i="0" dirty="0">
                <a:solidFill>
                  <a:srgbClr val="FFFFFF"/>
                </a:solidFill>
                <a:effectLst/>
                <a:latin typeface="Times New Roman" panose="02020603050405020304" pitchFamily="18" charset="0"/>
                <a:cs typeface="Times New Roman" panose="02020603050405020304" pitchFamily="18" charset="0"/>
              </a:rPr>
              <a:t> </a:t>
            </a:r>
            <a:r>
              <a:rPr lang="en-US" b="1" i="0" dirty="0">
                <a:solidFill>
                  <a:schemeClr val="tx1">
                    <a:lumMod val="95000"/>
                    <a:lumOff val="5000"/>
                  </a:schemeClr>
                </a:solidFill>
                <a:effectLst/>
                <a:latin typeface="Times New Roman" panose="02020603050405020304" pitchFamily="18" charset="0"/>
                <a:cs typeface="Times New Roman" panose="02020603050405020304" pitchFamily="18" charset="0"/>
              </a:rPr>
              <a:t>Java API</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 to connect and execute the query with the database.</a:t>
            </a:r>
          </a:p>
          <a:p>
            <a:pPr marL="324000" algn="just">
              <a:spcBef>
                <a:spcPct val="0"/>
              </a:spcBef>
            </a:pP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It is used to write programs required to access databases.</a:t>
            </a:r>
          </a:p>
          <a:p>
            <a:pPr marL="324000" algn="just">
              <a:spcBef>
                <a:spcPct val="0"/>
              </a:spcBef>
            </a:pP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The classes</a:t>
            </a:r>
            <a:r>
              <a:rPr lang="en-US" b="0" i="1"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US" b="0" dirty="0">
                <a:solidFill>
                  <a:schemeClr val="tx1">
                    <a:lumMod val="95000"/>
                    <a:lumOff val="5000"/>
                  </a:schemeClr>
                </a:solidFill>
                <a:effectLst/>
                <a:latin typeface="Times New Roman" panose="02020603050405020304" pitchFamily="18" charset="0"/>
                <a:cs typeface="Times New Roman" panose="02020603050405020304" pitchFamily="18" charset="0"/>
              </a:rPr>
              <a:t>and interfaces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of JDBC</a:t>
            </a:r>
            <a:r>
              <a:rPr lang="en-US" b="0" i="1"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allow</a:t>
            </a:r>
            <a:r>
              <a:rPr lang="en-US" b="0" i="1"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the application</a:t>
            </a:r>
            <a:r>
              <a:rPr lang="en-US" b="0" i="1"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to</a:t>
            </a:r>
            <a:r>
              <a:rPr lang="en-US" b="0" i="1"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send</a:t>
            </a:r>
            <a:r>
              <a:rPr lang="en-US" b="0" i="1"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requests</a:t>
            </a:r>
            <a:r>
              <a:rPr lang="en-US" b="0" i="1"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made by users to the specified database.</a:t>
            </a:r>
          </a:p>
          <a:p>
            <a:pPr algn="just">
              <a:spcBef>
                <a:spcPct val="0"/>
              </a:spcBef>
            </a:pPr>
            <a:endParaRPr lang="en-US" sz="40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just">
              <a:spcBef>
                <a:spcPct val="0"/>
              </a:spcBef>
            </a:pPr>
            <a:endParaRPr lang="en-US" altLang="en-US" sz="2400" dirty="0">
              <a:solidFill>
                <a:schemeClr val="tx1">
                  <a:lumMod val="95000"/>
                  <a:lumOff val="5000"/>
                </a:schemeClr>
              </a:solidFill>
            </a:endParaRPr>
          </a:p>
        </p:txBody>
      </p:sp>
      <p:sp>
        <p:nvSpPr>
          <p:cNvPr id="3" name="Rectangle 7">
            <a:extLst>
              <a:ext uri="{FF2B5EF4-FFF2-40B4-BE49-F238E27FC236}">
                <a16:creationId xmlns:a16="http://schemas.microsoft.com/office/drawing/2014/main" id="{CCBA97CA-D87D-215B-98B6-91DE108DF67C}"/>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C9B4BC39-29FF-0424-D8B1-CEFC7187CAEF}"/>
              </a:ext>
            </a:extLst>
          </p:cNvPr>
          <p:cNvSpPr>
            <a:spLocks noChangeArrowheads="1"/>
          </p:cNvSpPr>
          <p:nvPr>
            <p:custDataLst>
              <p:tags r:id="rId3"/>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3000" b="1" dirty="0">
                <a:solidFill>
                  <a:schemeClr val="bg1"/>
                </a:solidFill>
                <a:cs typeface="Times New Roman" panose="02020603050405020304" pitchFamily="18" charset="0"/>
              </a:rPr>
              <a:t>JDBC</a:t>
            </a:r>
            <a:endParaRPr lang="en-IN" altLang="en-US" sz="3000" b="1"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667069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E3218-1193-FC87-1DB4-B896F638230A}"/>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C71E69AC-7F6F-E3D2-2578-8ADDA1D6AC71}"/>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sz="3600" b="1" dirty="0">
                <a:solidFill>
                  <a:schemeClr val="bg1"/>
                </a:solidFill>
              </a:rPr>
              <a:t>JDBC Architecture</a:t>
            </a:r>
            <a:endParaRPr lang="en-US" altLang="en-US" sz="2800" b="1" dirty="0">
              <a:solidFill>
                <a:schemeClr val="bg1"/>
              </a:solidFill>
              <a:latin typeface="Arial" panose="020B0604020202020204" pitchFamily="34" charset="0"/>
            </a:endParaRPr>
          </a:p>
        </p:txBody>
      </p:sp>
      <p:sp>
        <p:nvSpPr>
          <p:cNvPr id="4" name="TextBox 6">
            <a:extLst>
              <a:ext uri="{FF2B5EF4-FFF2-40B4-BE49-F238E27FC236}">
                <a16:creationId xmlns:a16="http://schemas.microsoft.com/office/drawing/2014/main" id="{83678DD0-2833-F26A-C552-B1576EF08798}"/>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7" name="TextBox 6">
            <a:extLst>
              <a:ext uri="{FF2B5EF4-FFF2-40B4-BE49-F238E27FC236}">
                <a16:creationId xmlns:a16="http://schemas.microsoft.com/office/drawing/2014/main" id="{9002B2BB-4752-74BE-4B8A-0D0CD59B8CDA}"/>
              </a:ext>
            </a:extLst>
          </p:cNvPr>
          <p:cNvSpPr txBox="1"/>
          <p:nvPr/>
        </p:nvSpPr>
        <p:spPr>
          <a:xfrm>
            <a:off x="97971" y="2286000"/>
            <a:ext cx="8855529" cy="1231106"/>
          </a:xfrm>
          <a:prstGeom prst="rect">
            <a:avLst/>
          </a:prstGeom>
          <a:noFill/>
        </p:spPr>
        <p:txBody>
          <a:bodyPr wrap="square" rtlCol="0">
            <a:spAutoFit/>
          </a:bodyPr>
          <a:lstStyle/>
          <a:p>
            <a:pPr marL="457200" indent="-457200">
              <a:buFont typeface="Arial" panose="020B0604020202020204" pitchFamily="34" charset="0"/>
              <a:buChar char="•"/>
            </a:pPr>
            <a:endParaRPr lang="en-US" sz="3200" dirty="0"/>
          </a:p>
          <a:p>
            <a:endParaRPr lang="en-US" sz="2400" dirty="0"/>
          </a:p>
          <a:p>
            <a:endParaRPr lang="en-IN" dirty="0"/>
          </a:p>
        </p:txBody>
      </p:sp>
      <p:pic>
        <p:nvPicPr>
          <p:cNvPr id="2" name="Picture 1">
            <a:extLst>
              <a:ext uri="{FF2B5EF4-FFF2-40B4-BE49-F238E27FC236}">
                <a16:creationId xmlns:a16="http://schemas.microsoft.com/office/drawing/2014/main" id="{CB6EAFE0-6670-11C6-7E13-D76C6B0D5655}"/>
              </a:ext>
            </a:extLst>
          </p:cNvPr>
          <p:cNvPicPr>
            <a:picLocks noGrp="1" noChangeAspect="1" noChangeArrowheads="1"/>
          </p:cNvPicPr>
          <p:nvPr/>
        </p:nvPicPr>
        <p:blipFill>
          <a:blip r:embed="rId4"/>
          <a:srcRect/>
          <a:stretch>
            <a:fillRect/>
          </a:stretch>
        </p:blipFill>
        <p:spPr bwMode="auto">
          <a:xfrm>
            <a:off x="1851256" y="2330449"/>
            <a:ext cx="5308999" cy="4353379"/>
          </a:xfrm>
          <a:prstGeom prst="rect">
            <a:avLst/>
          </a:prstGeom>
          <a:noFill/>
        </p:spPr>
      </p:pic>
    </p:spTree>
    <p:extLst>
      <p:ext uri="{BB962C8B-B14F-4D97-AF65-F5344CB8AC3E}">
        <p14:creationId xmlns:p14="http://schemas.microsoft.com/office/powerpoint/2010/main" val="1158021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E4851-3A0A-0AB0-4E6F-DD86903DFA5B}"/>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5F0B332B-3137-D4A8-E12B-6D65B0AE1BB3}"/>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sz="3600" b="1" dirty="0">
                <a:solidFill>
                  <a:schemeClr val="bg1"/>
                </a:solidFill>
              </a:rPr>
              <a:t>Common JDBC Components</a:t>
            </a:r>
            <a:endParaRPr lang="en-US" altLang="en-US" sz="2800" b="1" dirty="0">
              <a:solidFill>
                <a:schemeClr val="bg1"/>
              </a:solidFill>
              <a:latin typeface="Arial" panose="020B0604020202020204" pitchFamily="34" charset="0"/>
            </a:endParaRPr>
          </a:p>
        </p:txBody>
      </p:sp>
      <p:sp>
        <p:nvSpPr>
          <p:cNvPr id="4" name="TextBox 6">
            <a:extLst>
              <a:ext uri="{FF2B5EF4-FFF2-40B4-BE49-F238E27FC236}">
                <a16:creationId xmlns:a16="http://schemas.microsoft.com/office/drawing/2014/main" id="{D649D146-1CBD-A72B-41AD-802526F7DB5D}"/>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7" name="TextBox 6">
            <a:extLst>
              <a:ext uri="{FF2B5EF4-FFF2-40B4-BE49-F238E27FC236}">
                <a16:creationId xmlns:a16="http://schemas.microsoft.com/office/drawing/2014/main" id="{6FCB4D12-83FF-A5BB-0690-E139EEFA8F09}"/>
              </a:ext>
            </a:extLst>
          </p:cNvPr>
          <p:cNvSpPr txBox="1"/>
          <p:nvPr/>
        </p:nvSpPr>
        <p:spPr>
          <a:xfrm>
            <a:off x="97971" y="2286000"/>
            <a:ext cx="8855529" cy="1231106"/>
          </a:xfrm>
          <a:prstGeom prst="rect">
            <a:avLst/>
          </a:prstGeom>
          <a:noFill/>
        </p:spPr>
        <p:txBody>
          <a:bodyPr wrap="square" rtlCol="0">
            <a:spAutoFit/>
          </a:bodyPr>
          <a:lstStyle/>
          <a:p>
            <a:pPr marL="457200" indent="-457200">
              <a:buFont typeface="Arial" panose="020B0604020202020204" pitchFamily="34" charset="0"/>
              <a:buChar char="•"/>
            </a:pPr>
            <a:endParaRPr lang="en-US" sz="3200" dirty="0"/>
          </a:p>
          <a:p>
            <a:endParaRPr lang="en-US" sz="2400" dirty="0"/>
          </a:p>
          <a:p>
            <a:endParaRPr lang="en-IN" dirty="0"/>
          </a:p>
        </p:txBody>
      </p:sp>
      <p:sp>
        <p:nvSpPr>
          <p:cNvPr id="5" name="TextBox 4">
            <a:extLst>
              <a:ext uri="{FF2B5EF4-FFF2-40B4-BE49-F238E27FC236}">
                <a16:creationId xmlns:a16="http://schemas.microsoft.com/office/drawing/2014/main" id="{571BD21B-737F-5E43-3759-C21D0B713E3A}"/>
              </a:ext>
            </a:extLst>
          </p:cNvPr>
          <p:cNvSpPr txBox="1"/>
          <p:nvPr/>
        </p:nvSpPr>
        <p:spPr>
          <a:xfrm>
            <a:off x="97971" y="2286000"/>
            <a:ext cx="8855529" cy="4770537"/>
          </a:xfrm>
          <a:prstGeom prst="rect">
            <a:avLst/>
          </a:prstGeom>
          <a:noFill/>
        </p:spPr>
        <p:txBody>
          <a:bodyPr wrap="square" rtlCol="0">
            <a:spAutoFit/>
          </a:bodyPr>
          <a:lstStyle/>
          <a:p>
            <a:r>
              <a:rPr lang="en-US" sz="2800" dirty="0"/>
              <a:t>JDBC provides an API for connecting and executing queries with databases.</a:t>
            </a:r>
          </a:p>
          <a:p>
            <a:r>
              <a:rPr lang="en-US" sz="2800" dirty="0"/>
              <a:t>The main components are :</a:t>
            </a:r>
          </a:p>
          <a:p>
            <a:endParaRPr lang="en-US" sz="2800" dirty="0"/>
          </a:p>
          <a:p>
            <a:pPr>
              <a:buFont typeface="Arial" panose="020B0604020202020204" pitchFamily="34" charset="0"/>
              <a:buChar char="•"/>
            </a:pPr>
            <a:r>
              <a:rPr lang="en-US" sz="2800" b="1" dirty="0" err="1"/>
              <a:t>DriverManager</a:t>
            </a:r>
            <a:endParaRPr lang="en-US" sz="2800" dirty="0"/>
          </a:p>
          <a:p>
            <a:pPr>
              <a:buFont typeface="Arial" panose="020B0604020202020204" pitchFamily="34" charset="0"/>
              <a:buChar char="•"/>
            </a:pPr>
            <a:r>
              <a:rPr lang="en-US" sz="2800" b="1" dirty="0"/>
              <a:t>Driver</a:t>
            </a:r>
            <a:endParaRPr lang="en-US" sz="2800" dirty="0"/>
          </a:p>
          <a:p>
            <a:pPr>
              <a:buFont typeface="Arial" panose="020B0604020202020204" pitchFamily="34" charset="0"/>
              <a:buChar char="•"/>
            </a:pPr>
            <a:r>
              <a:rPr lang="en-US" sz="2800" b="1" dirty="0"/>
              <a:t>Connection</a:t>
            </a:r>
            <a:endParaRPr lang="en-US" sz="2800" dirty="0"/>
          </a:p>
          <a:p>
            <a:pPr>
              <a:buFont typeface="Arial" panose="020B0604020202020204" pitchFamily="34" charset="0"/>
              <a:buChar char="•"/>
            </a:pPr>
            <a:r>
              <a:rPr lang="en-US" sz="2800" b="1" dirty="0"/>
              <a:t>Statement</a:t>
            </a:r>
            <a:endParaRPr lang="en-US" sz="2800" dirty="0"/>
          </a:p>
          <a:p>
            <a:pPr>
              <a:buFont typeface="Arial" panose="020B0604020202020204" pitchFamily="34" charset="0"/>
              <a:buChar char="•"/>
            </a:pPr>
            <a:r>
              <a:rPr lang="en-US" sz="2800" b="1" dirty="0" err="1"/>
              <a:t>ResultSet</a:t>
            </a:r>
            <a:endParaRPr lang="en-US" sz="2800" dirty="0"/>
          </a:p>
          <a:p>
            <a:pPr>
              <a:buFont typeface="Arial" panose="020B0604020202020204" pitchFamily="34" charset="0"/>
              <a:buChar char="•"/>
            </a:pPr>
            <a:r>
              <a:rPr lang="en-US" sz="2800" b="1" dirty="0" err="1"/>
              <a:t>SQLException</a:t>
            </a:r>
            <a:endParaRPr lang="en-US" sz="2800" dirty="0"/>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3467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5B768-999C-A763-6B06-B39E296E2E3F}"/>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482150D-A4ED-892E-CA76-6A160C0E0035}"/>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sz="3600" dirty="0">
                <a:solidFill>
                  <a:schemeClr val="bg1"/>
                </a:solidFill>
                <a:latin typeface="Times New Roman" panose="02020603050405020304" pitchFamily="18" charset="0"/>
                <a:cs typeface="Times New Roman" panose="02020603050405020304" pitchFamily="18" charset="0"/>
              </a:rPr>
              <a:t>Driver Manager</a:t>
            </a:r>
            <a:endParaRPr lang="en-US" altLang="en-US" sz="5400" b="1" dirty="0">
              <a:solidFill>
                <a:schemeClr val="bg1"/>
              </a:solidFill>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ADFB1B48-E546-23A0-A37E-A0D9170DB7D8}"/>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7" name="TextBox 6">
            <a:extLst>
              <a:ext uri="{FF2B5EF4-FFF2-40B4-BE49-F238E27FC236}">
                <a16:creationId xmlns:a16="http://schemas.microsoft.com/office/drawing/2014/main" id="{225853E2-B8A8-88C0-523D-E5F7BC9BB157}"/>
              </a:ext>
            </a:extLst>
          </p:cNvPr>
          <p:cNvSpPr txBox="1"/>
          <p:nvPr/>
        </p:nvSpPr>
        <p:spPr>
          <a:xfrm>
            <a:off x="97971" y="2286000"/>
            <a:ext cx="8855529" cy="1231106"/>
          </a:xfrm>
          <a:prstGeom prst="rect">
            <a:avLst/>
          </a:prstGeom>
          <a:noFill/>
        </p:spPr>
        <p:txBody>
          <a:bodyPr wrap="square" rtlCol="0">
            <a:spAutoFit/>
          </a:bodyPr>
          <a:lstStyle/>
          <a:p>
            <a:pPr marL="457200" indent="-457200">
              <a:buFont typeface="Arial" panose="020B0604020202020204" pitchFamily="34" charset="0"/>
              <a:buChar char="•"/>
            </a:pPr>
            <a:endParaRPr lang="en-US" sz="3200" dirty="0"/>
          </a:p>
          <a:p>
            <a:endParaRPr lang="en-US" sz="2400" dirty="0"/>
          </a:p>
          <a:p>
            <a:endParaRPr lang="en-IN" dirty="0"/>
          </a:p>
        </p:txBody>
      </p:sp>
      <p:sp>
        <p:nvSpPr>
          <p:cNvPr id="5" name="TextBox 4">
            <a:extLst>
              <a:ext uri="{FF2B5EF4-FFF2-40B4-BE49-F238E27FC236}">
                <a16:creationId xmlns:a16="http://schemas.microsoft.com/office/drawing/2014/main" id="{3E706B19-84F6-7A1F-D9BD-1B30AF286A06}"/>
              </a:ext>
            </a:extLst>
          </p:cNvPr>
          <p:cNvSpPr txBox="1"/>
          <p:nvPr/>
        </p:nvSpPr>
        <p:spPr>
          <a:xfrm>
            <a:off x="97971" y="2286000"/>
            <a:ext cx="8855529" cy="4339650"/>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Manages a list of database drivers.</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establishes a connection between the Java application and the database.</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selects the appropriate driver based on the connection URL</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Example:</a:t>
            </a:r>
          </a:p>
          <a:p>
            <a:r>
              <a:rPr lang="en-US" sz="2800" dirty="0">
                <a:latin typeface="Times New Roman" panose="02020603050405020304" pitchFamily="18" charset="0"/>
                <a:cs typeface="Times New Roman" panose="02020603050405020304" pitchFamily="18" charset="0"/>
              </a:rPr>
              <a:t>Connection con = </a:t>
            </a:r>
            <a:r>
              <a:rPr lang="en-US" sz="2800" dirty="0" err="1">
                <a:latin typeface="Times New Roman" panose="02020603050405020304" pitchFamily="18" charset="0"/>
                <a:cs typeface="Times New Roman" panose="02020603050405020304" pitchFamily="18" charset="0"/>
              </a:rPr>
              <a:t>DriverManager.getConnection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jdbc:mysql</a:t>
            </a:r>
            <a:r>
              <a:rPr lang="en-US" sz="2800" dirty="0">
                <a:latin typeface="Times New Roman" panose="02020603050405020304" pitchFamily="18" charset="0"/>
                <a:cs typeface="Times New Roman" panose="02020603050405020304" pitchFamily="18" charset="0"/>
              </a:rPr>
              <a:t>://localhost:3306/</a:t>
            </a:r>
            <a:r>
              <a:rPr lang="en-US" sz="2800" dirty="0" err="1">
                <a:latin typeface="Times New Roman" panose="02020603050405020304" pitchFamily="18" charset="0"/>
                <a:cs typeface="Times New Roman" panose="02020603050405020304" pitchFamily="18" charset="0"/>
              </a:rPr>
              <a:t>mydb</a:t>
            </a:r>
            <a:r>
              <a:rPr lang="en-US" sz="2800" dirty="0">
                <a:latin typeface="Times New Roman" panose="02020603050405020304" pitchFamily="18" charset="0"/>
                <a:cs typeface="Times New Roman" panose="02020603050405020304" pitchFamily="18" charset="0"/>
              </a:rPr>
              <a:t>", "user", "password");</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0710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1D18E-1A03-B73B-84E4-8C40D3709743}"/>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0448AC3E-B0A6-571D-11CC-619362670B13}"/>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sz="4000" dirty="0">
                <a:solidFill>
                  <a:schemeClr val="bg1"/>
                </a:solidFill>
                <a:latin typeface="Times New Roman" panose="02020603050405020304" pitchFamily="18" charset="0"/>
                <a:cs typeface="Times New Roman" panose="02020603050405020304" pitchFamily="18" charset="0"/>
              </a:rPr>
              <a:t>Driver</a:t>
            </a:r>
            <a:endParaRPr lang="en-US" altLang="en-US" sz="6000" b="1" dirty="0">
              <a:solidFill>
                <a:schemeClr val="bg1"/>
              </a:solidFill>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687AE7F9-0DA1-5586-44F1-EEB12CDE7758}"/>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7" name="TextBox 6">
            <a:extLst>
              <a:ext uri="{FF2B5EF4-FFF2-40B4-BE49-F238E27FC236}">
                <a16:creationId xmlns:a16="http://schemas.microsoft.com/office/drawing/2014/main" id="{232E1FEC-9373-E6FF-18FD-3A479B711A5B}"/>
              </a:ext>
            </a:extLst>
          </p:cNvPr>
          <p:cNvSpPr txBox="1"/>
          <p:nvPr/>
        </p:nvSpPr>
        <p:spPr>
          <a:xfrm>
            <a:off x="97971" y="2286000"/>
            <a:ext cx="8855529" cy="1231106"/>
          </a:xfrm>
          <a:prstGeom prst="rect">
            <a:avLst/>
          </a:prstGeom>
          <a:noFill/>
        </p:spPr>
        <p:txBody>
          <a:bodyPr wrap="square" rtlCol="0">
            <a:spAutoFit/>
          </a:bodyPr>
          <a:lstStyle/>
          <a:p>
            <a:pPr marL="457200" indent="-457200">
              <a:buFont typeface="Arial" panose="020B0604020202020204" pitchFamily="34" charset="0"/>
              <a:buChar char="•"/>
            </a:pPr>
            <a:endParaRPr lang="en-US" sz="3200" dirty="0"/>
          </a:p>
          <a:p>
            <a:endParaRPr lang="en-US" sz="2400" dirty="0"/>
          </a:p>
          <a:p>
            <a:endParaRPr lang="en-IN" dirty="0"/>
          </a:p>
        </p:txBody>
      </p:sp>
      <p:sp>
        <p:nvSpPr>
          <p:cNvPr id="5" name="TextBox 4">
            <a:extLst>
              <a:ext uri="{FF2B5EF4-FFF2-40B4-BE49-F238E27FC236}">
                <a16:creationId xmlns:a16="http://schemas.microsoft.com/office/drawing/2014/main" id="{5977189C-6CEF-A877-B8A0-F914B16DAB12}"/>
              </a:ext>
            </a:extLst>
          </p:cNvPr>
          <p:cNvSpPr txBox="1"/>
          <p:nvPr/>
        </p:nvSpPr>
        <p:spPr>
          <a:xfrm>
            <a:off x="97971" y="2286000"/>
            <a:ext cx="8855529" cy="3970318"/>
          </a:xfrm>
          <a:prstGeom prst="rect">
            <a:avLst/>
          </a:prstGeom>
          <a:noFill/>
        </p:spPr>
        <p:txBody>
          <a:bodyPr wrap="square" rtlCol="0">
            <a:spAutoFit/>
          </a:bodyPr>
          <a:lstStyle/>
          <a:p>
            <a:pPr marL="342900" indent="-342900">
              <a:buFont typeface="Arial" panose="020B0604020202020204" pitchFamily="34" charset="0"/>
              <a:buChar char="•"/>
            </a:pPr>
            <a:r>
              <a:rPr lang="en-US" sz="3600" dirty="0"/>
              <a:t>It Acts as an interface between the JDBC API and the database</a:t>
            </a:r>
            <a:r>
              <a:rPr lang="en-US" sz="36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3600" dirty="0"/>
              <a:t>It loads the specific database driver.</a:t>
            </a:r>
          </a:p>
          <a:p>
            <a:pPr marL="342900" indent="-342900">
              <a:buFont typeface="Arial" panose="020B0604020202020204" pitchFamily="34" charset="0"/>
              <a:buChar char="•"/>
            </a:pPr>
            <a:r>
              <a:rPr lang="en-US" sz="3600" dirty="0"/>
              <a:t>It translates Java calls into database-specific calls.</a:t>
            </a:r>
          </a:p>
          <a:p>
            <a:pPr marL="342900" indent="-3429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Example:</a:t>
            </a:r>
          </a:p>
          <a:p>
            <a:r>
              <a:rPr lang="en-IN" sz="3600" dirty="0" err="1"/>
              <a:t>Class.forName</a:t>
            </a:r>
            <a:r>
              <a:rPr lang="en-IN" sz="3600" dirty="0"/>
              <a:t>("</a:t>
            </a:r>
            <a:r>
              <a:rPr lang="en-IN" sz="3600" dirty="0" err="1"/>
              <a:t>com.mysql.cj.jdbc.Driver</a:t>
            </a:r>
            <a:r>
              <a:rPr lang="en-IN" sz="3600" dirty="0"/>
              <a: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339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2C8BD-46B0-54A3-D9CB-A508000C9C1D}"/>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6194429A-14F3-75C6-9E2C-88A6EB653977}"/>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4000" b="1" dirty="0">
                <a:solidFill>
                  <a:schemeClr val="bg1"/>
                </a:solidFill>
                <a:latin typeface="Times New Roman" panose="02020603050405020304" pitchFamily="18" charset="0"/>
                <a:cs typeface="Times New Roman" panose="02020603050405020304" pitchFamily="18" charset="0"/>
              </a:rPr>
              <a:t>C</a:t>
            </a:r>
            <a:r>
              <a:rPr lang="en-IN" altLang="en-US" sz="4000" b="1" dirty="0" err="1">
                <a:solidFill>
                  <a:schemeClr val="bg1"/>
                </a:solidFill>
                <a:latin typeface="Times New Roman" panose="02020603050405020304" pitchFamily="18" charset="0"/>
                <a:cs typeface="Times New Roman" panose="02020603050405020304" pitchFamily="18" charset="0"/>
              </a:rPr>
              <a:t>onnection</a:t>
            </a:r>
            <a:endParaRPr lang="en-US" altLang="en-US" sz="4000" b="1" dirty="0">
              <a:solidFill>
                <a:schemeClr val="bg1"/>
              </a:solidFill>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6CD606D1-56F6-2FA0-0989-3C40DC0180C2}"/>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7" name="TextBox 6">
            <a:extLst>
              <a:ext uri="{FF2B5EF4-FFF2-40B4-BE49-F238E27FC236}">
                <a16:creationId xmlns:a16="http://schemas.microsoft.com/office/drawing/2014/main" id="{05F23BEC-AE88-5D89-873A-5675A9C95FC7}"/>
              </a:ext>
            </a:extLst>
          </p:cNvPr>
          <p:cNvSpPr txBox="1"/>
          <p:nvPr/>
        </p:nvSpPr>
        <p:spPr>
          <a:xfrm>
            <a:off x="97971" y="2286000"/>
            <a:ext cx="8855529" cy="1231106"/>
          </a:xfrm>
          <a:prstGeom prst="rect">
            <a:avLst/>
          </a:prstGeom>
          <a:noFill/>
        </p:spPr>
        <p:txBody>
          <a:bodyPr wrap="square" rtlCol="0">
            <a:spAutoFit/>
          </a:bodyPr>
          <a:lstStyle/>
          <a:p>
            <a:pPr marL="457200" indent="-457200">
              <a:buFont typeface="Arial" panose="020B0604020202020204" pitchFamily="34" charset="0"/>
              <a:buChar char="•"/>
            </a:pPr>
            <a:endParaRPr lang="en-US" sz="3200" dirty="0"/>
          </a:p>
          <a:p>
            <a:endParaRPr lang="en-US" sz="2400" dirty="0"/>
          </a:p>
          <a:p>
            <a:endParaRPr lang="en-IN" dirty="0"/>
          </a:p>
        </p:txBody>
      </p:sp>
      <p:sp>
        <p:nvSpPr>
          <p:cNvPr id="5" name="TextBox 4">
            <a:extLst>
              <a:ext uri="{FF2B5EF4-FFF2-40B4-BE49-F238E27FC236}">
                <a16:creationId xmlns:a16="http://schemas.microsoft.com/office/drawing/2014/main" id="{D4B1A10F-35EA-37BB-16EC-6011F45E3568}"/>
              </a:ext>
            </a:extLst>
          </p:cNvPr>
          <p:cNvSpPr txBox="1"/>
          <p:nvPr/>
        </p:nvSpPr>
        <p:spPr>
          <a:xfrm>
            <a:off x="97971" y="2286000"/>
            <a:ext cx="8855529" cy="3970318"/>
          </a:xfrm>
          <a:prstGeom prst="rect">
            <a:avLst/>
          </a:prstGeom>
          <a:noFill/>
        </p:spPr>
        <p:txBody>
          <a:bodyPr wrap="square" rtlCol="0">
            <a:spAutoFit/>
          </a:bodyPr>
          <a:lstStyle/>
          <a:p>
            <a:pPr marL="342900" indent="-342900">
              <a:buFont typeface="Arial" panose="020B0604020202020204" pitchFamily="34" charset="0"/>
              <a:buChar char="•"/>
            </a:pPr>
            <a:r>
              <a:rPr lang="en-US" sz="3600" dirty="0"/>
              <a:t>It represents a session with the database.</a:t>
            </a:r>
          </a:p>
          <a:p>
            <a:pPr marL="342900" indent="-342900">
              <a:buFont typeface="Arial" panose="020B0604020202020204" pitchFamily="34" charset="0"/>
              <a:buChar char="•"/>
            </a:pPr>
            <a:r>
              <a:rPr lang="en-US" sz="3600" dirty="0"/>
              <a:t>It sends SQL statements to the database.</a:t>
            </a:r>
          </a:p>
          <a:p>
            <a:pPr marL="342900" indent="-342900">
              <a:buFont typeface="Arial" panose="020B0604020202020204" pitchFamily="34" charset="0"/>
              <a:buChar char="•"/>
            </a:pPr>
            <a:r>
              <a:rPr lang="en-IN" sz="3600" dirty="0"/>
              <a:t>It manages transactions.</a:t>
            </a:r>
          </a:p>
          <a:p>
            <a:pPr marL="342900" indent="-3429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Example:</a:t>
            </a:r>
          </a:p>
          <a:p>
            <a:r>
              <a:rPr lang="en-IN" sz="3600" dirty="0"/>
              <a:t>Connection con = </a:t>
            </a:r>
            <a:r>
              <a:rPr lang="en-IN" sz="3600" dirty="0" err="1"/>
              <a:t>DriverManager.getConnection</a:t>
            </a:r>
            <a:r>
              <a:rPr lang="en-IN" sz="3600" dirty="0"/>
              <a:t>("</a:t>
            </a:r>
            <a:r>
              <a:rPr lang="en-IN" sz="3600" dirty="0" err="1"/>
              <a:t>jdbc:mysql</a:t>
            </a:r>
            <a:r>
              <a:rPr lang="en-IN" sz="3600" dirty="0"/>
              <a:t>://localhost:3306/</a:t>
            </a:r>
            <a:r>
              <a:rPr lang="en-IN" sz="3600" dirty="0" err="1"/>
              <a:t>mydb</a:t>
            </a:r>
            <a:r>
              <a:rPr lang="en-IN" sz="3600" dirty="0"/>
              <a:t>", "user", "password");</a:t>
            </a:r>
          </a:p>
        </p:txBody>
      </p:sp>
    </p:spTree>
    <p:extLst>
      <p:ext uri="{BB962C8B-B14F-4D97-AF65-F5344CB8AC3E}">
        <p14:creationId xmlns:p14="http://schemas.microsoft.com/office/powerpoint/2010/main" val="1629841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966E-629B-91AB-BF0C-1E4A5578D5E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6ABD7532-D6C3-B78A-C3E0-8D5859C2977C}"/>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sz="3600" b="1" dirty="0">
                <a:solidFill>
                  <a:schemeClr val="bg1"/>
                </a:solidFill>
                <a:latin typeface="Times New Roman" panose="02020603050405020304" pitchFamily="18" charset="0"/>
                <a:cs typeface="Times New Roman" panose="02020603050405020304" pitchFamily="18" charset="0"/>
              </a:rPr>
              <a:t>Statement</a:t>
            </a:r>
            <a:endParaRPr lang="en-US" altLang="en-US" sz="5400" b="1" dirty="0">
              <a:solidFill>
                <a:schemeClr val="bg1"/>
              </a:solidFill>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4B7118F8-F3C1-C75C-6D48-4E41157AE41F}"/>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7" name="TextBox 6">
            <a:extLst>
              <a:ext uri="{FF2B5EF4-FFF2-40B4-BE49-F238E27FC236}">
                <a16:creationId xmlns:a16="http://schemas.microsoft.com/office/drawing/2014/main" id="{7259DB9D-48AA-A77C-7188-2128F4B04252}"/>
              </a:ext>
            </a:extLst>
          </p:cNvPr>
          <p:cNvSpPr txBox="1"/>
          <p:nvPr/>
        </p:nvSpPr>
        <p:spPr>
          <a:xfrm>
            <a:off x="97971" y="2286000"/>
            <a:ext cx="8855529" cy="1231106"/>
          </a:xfrm>
          <a:prstGeom prst="rect">
            <a:avLst/>
          </a:prstGeom>
          <a:noFill/>
        </p:spPr>
        <p:txBody>
          <a:bodyPr wrap="square" rtlCol="0">
            <a:spAutoFit/>
          </a:bodyPr>
          <a:lstStyle/>
          <a:p>
            <a:pPr marL="457200" indent="-457200">
              <a:buFont typeface="Arial" panose="020B0604020202020204" pitchFamily="34" charset="0"/>
              <a:buChar char="•"/>
            </a:pPr>
            <a:endParaRPr lang="en-US" sz="3200" dirty="0"/>
          </a:p>
          <a:p>
            <a:endParaRPr lang="en-US" sz="2400" dirty="0"/>
          </a:p>
          <a:p>
            <a:endParaRPr lang="en-IN" dirty="0"/>
          </a:p>
        </p:txBody>
      </p:sp>
      <p:sp>
        <p:nvSpPr>
          <p:cNvPr id="5" name="TextBox 4">
            <a:extLst>
              <a:ext uri="{FF2B5EF4-FFF2-40B4-BE49-F238E27FC236}">
                <a16:creationId xmlns:a16="http://schemas.microsoft.com/office/drawing/2014/main" id="{D1613E9F-C3BA-F6FB-AC69-C2B5D4EAFED8}"/>
              </a:ext>
            </a:extLst>
          </p:cNvPr>
          <p:cNvSpPr txBox="1"/>
          <p:nvPr/>
        </p:nvSpPr>
        <p:spPr>
          <a:xfrm>
            <a:off x="97971" y="2286000"/>
            <a:ext cx="8855529" cy="3970318"/>
          </a:xfrm>
          <a:prstGeom prst="rect">
            <a:avLst/>
          </a:prstGeom>
          <a:noFill/>
        </p:spPr>
        <p:txBody>
          <a:bodyPr wrap="square" rtlCol="0">
            <a:spAutoFit/>
          </a:bodyPr>
          <a:lstStyle/>
          <a:p>
            <a:pPr marL="342900" indent="-34290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It executes SQL queries.</a:t>
            </a:r>
          </a:p>
          <a:p>
            <a:pPr marL="342900" indent="-342900">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Statement:</a:t>
            </a:r>
            <a:r>
              <a:rPr lang="en-IN" sz="3600" dirty="0">
                <a:latin typeface="Times New Roman" panose="02020603050405020304" pitchFamily="18" charset="0"/>
                <a:cs typeface="Times New Roman" panose="02020603050405020304" pitchFamily="18" charset="0"/>
              </a:rPr>
              <a:t> For simple SQL queries.</a:t>
            </a:r>
          </a:p>
          <a:p>
            <a:pPr marL="342900" indent="-342900">
              <a:buFont typeface="Arial" panose="020B0604020202020204" pitchFamily="34" charset="0"/>
              <a:buChar char="•"/>
            </a:pPr>
            <a:r>
              <a:rPr lang="en-US" sz="3600" b="1" dirty="0" err="1">
                <a:latin typeface="Times New Roman" panose="02020603050405020304" pitchFamily="18" charset="0"/>
                <a:cs typeface="Times New Roman" panose="02020603050405020304" pitchFamily="18" charset="0"/>
              </a:rPr>
              <a:t>PreparedStatement</a:t>
            </a:r>
            <a:r>
              <a:rPr lang="en-US" sz="3600" b="1" dirty="0">
                <a:latin typeface="Times New Roman" panose="02020603050405020304" pitchFamily="18" charset="0"/>
                <a:cs typeface="Times New Roman" panose="02020603050405020304" pitchFamily="18" charset="0"/>
              </a:rPr>
              <a:t>:</a:t>
            </a:r>
            <a:r>
              <a:rPr lang="en-US" sz="3600" dirty="0">
                <a:latin typeface="Times New Roman" panose="02020603050405020304" pitchFamily="18" charset="0"/>
                <a:cs typeface="Times New Roman" panose="02020603050405020304" pitchFamily="18" charset="0"/>
              </a:rPr>
              <a:t> For parameterized queries to prevent SQL injection.</a:t>
            </a:r>
          </a:p>
          <a:p>
            <a:pPr marL="342900" indent="-342900">
              <a:buFont typeface="Arial" panose="020B0604020202020204" pitchFamily="34" charset="0"/>
              <a:buChar char="•"/>
            </a:pPr>
            <a:r>
              <a:rPr lang="en-IN" sz="3600" b="1" dirty="0" err="1">
                <a:latin typeface="Times New Roman" panose="02020603050405020304" pitchFamily="18" charset="0"/>
                <a:cs typeface="Times New Roman" panose="02020603050405020304" pitchFamily="18" charset="0"/>
              </a:rPr>
              <a:t>CallableStatement</a:t>
            </a:r>
            <a:r>
              <a:rPr lang="en-IN" sz="3600" b="1" dirty="0">
                <a:latin typeface="Times New Roman" panose="02020603050405020304" pitchFamily="18" charset="0"/>
                <a:cs typeface="Times New Roman" panose="02020603050405020304" pitchFamily="18" charset="0"/>
              </a:rPr>
              <a:t>:</a:t>
            </a:r>
            <a:r>
              <a:rPr lang="en-IN" sz="3600" dirty="0">
                <a:latin typeface="Times New Roman" panose="02020603050405020304" pitchFamily="18" charset="0"/>
                <a:cs typeface="Times New Roman" panose="02020603050405020304" pitchFamily="18" charset="0"/>
              </a:rPr>
              <a:t> For stored procedures.</a:t>
            </a:r>
          </a:p>
          <a:p>
            <a:pPr marL="342900" indent="-3429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Example:</a:t>
            </a:r>
          </a:p>
          <a:p>
            <a:r>
              <a:rPr lang="en-IN" sz="3600" dirty="0">
                <a:latin typeface="Times New Roman" panose="02020603050405020304" pitchFamily="18" charset="0"/>
                <a:cs typeface="Times New Roman" panose="02020603050405020304" pitchFamily="18" charset="0"/>
              </a:rPr>
              <a:t>Statement </a:t>
            </a:r>
            <a:r>
              <a:rPr lang="en-IN" sz="3600" dirty="0" err="1">
                <a:latin typeface="Times New Roman" panose="02020603050405020304" pitchFamily="18" charset="0"/>
                <a:cs typeface="Times New Roman" panose="02020603050405020304" pitchFamily="18" charset="0"/>
              </a:rPr>
              <a:t>stmt</a:t>
            </a:r>
            <a:r>
              <a:rPr lang="en-IN" sz="3600" dirty="0">
                <a:latin typeface="Times New Roman" panose="02020603050405020304" pitchFamily="18" charset="0"/>
                <a:cs typeface="Times New Roman" panose="02020603050405020304" pitchFamily="18" charset="0"/>
              </a:rPr>
              <a:t> = </a:t>
            </a:r>
            <a:r>
              <a:rPr lang="en-IN" sz="3600" dirty="0" err="1">
                <a:latin typeface="Times New Roman" panose="02020603050405020304" pitchFamily="18" charset="0"/>
                <a:cs typeface="Times New Roman" panose="02020603050405020304" pitchFamily="18" charset="0"/>
              </a:rPr>
              <a:t>conn.createStatement</a:t>
            </a:r>
            <a:r>
              <a:rPr lang="en-IN" sz="3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68484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7378-3664-8725-A640-8A64DEF3CB0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6F8A049A-5B62-2817-E5D7-EE9E316111B4}"/>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3600" b="1" dirty="0" err="1">
                <a:solidFill>
                  <a:schemeClr val="bg1"/>
                </a:solidFill>
                <a:latin typeface="Times New Roman" panose="02020603050405020304" pitchFamily="18" charset="0"/>
                <a:cs typeface="Times New Roman" panose="02020603050405020304" pitchFamily="18" charset="0"/>
              </a:rPr>
              <a:t>ResultSet</a:t>
            </a:r>
            <a:endParaRPr lang="en-US" altLang="en-US" sz="5400" b="1" dirty="0">
              <a:solidFill>
                <a:schemeClr val="bg1"/>
              </a:solidFill>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A2FB53CE-032E-9CBF-6C22-8F04C16B8F32}"/>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7" name="TextBox 6">
            <a:extLst>
              <a:ext uri="{FF2B5EF4-FFF2-40B4-BE49-F238E27FC236}">
                <a16:creationId xmlns:a16="http://schemas.microsoft.com/office/drawing/2014/main" id="{4DBF1A34-EFD1-D79A-FF95-D5371751130B}"/>
              </a:ext>
            </a:extLst>
          </p:cNvPr>
          <p:cNvSpPr txBox="1"/>
          <p:nvPr/>
        </p:nvSpPr>
        <p:spPr>
          <a:xfrm>
            <a:off x="97971" y="2286000"/>
            <a:ext cx="8855529" cy="1231106"/>
          </a:xfrm>
          <a:prstGeom prst="rect">
            <a:avLst/>
          </a:prstGeom>
          <a:noFill/>
        </p:spPr>
        <p:txBody>
          <a:bodyPr wrap="square" rtlCol="0">
            <a:spAutoFit/>
          </a:bodyPr>
          <a:lstStyle/>
          <a:p>
            <a:pPr marL="457200" indent="-457200">
              <a:buFont typeface="Arial" panose="020B0604020202020204" pitchFamily="34" charset="0"/>
              <a:buChar char="•"/>
            </a:pPr>
            <a:endParaRPr lang="en-US" sz="3200" dirty="0"/>
          </a:p>
          <a:p>
            <a:endParaRPr lang="en-US" sz="2400" dirty="0"/>
          </a:p>
          <a:p>
            <a:endParaRPr lang="en-IN" dirty="0"/>
          </a:p>
        </p:txBody>
      </p:sp>
      <p:sp>
        <p:nvSpPr>
          <p:cNvPr id="5" name="TextBox 4">
            <a:extLst>
              <a:ext uri="{FF2B5EF4-FFF2-40B4-BE49-F238E27FC236}">
                <a16:creationId xmlns:a16="http://schemas.microsoft.com/office/drawing/2014/main" id="{A2922BDD-7477-F7EC-3F67-7CF570E804DB}"/>
              </a:ext>
            </a:extLst>
          </p:cNvPr>
          <p:cNvSpPr txBox="1"/>
          <p:nvPr/>
        </p:nvSpPr>
        <p:spPr>
          <a:xfrm>
            <a:off x="97971" y="2286000"/>
            <a:ext cx="8855529" cy="4524315"/>
          </a:xfrm>
          <a:prstGeom prst="rect">
            <a:avLst/>
          </a:prstGeom>
          <a:noFill/>
        </p:spPr>
        <p:txBody>
          <a:bodyPr wrap="square" rtlCol="0">
            <a:spAutoFit/>
          </a:bodyPr>
          <a:lstStyle/>
          <a:p>
            <a:pPr marL="342900" indent="-342900">
              <a:buFont typeface="Arial" panose="020B0604020202020204" pitchFamily="34" charset="0"/>
              <a:buChar char="•"/>
            </a:pPr>
            <a:r>
              <a:rPr lang="en-US" sz="3200" dirty="0"/>
              <a:t>It represents the results of a query.</a:t>
            </a:r>
          </a:p>
          <a:p>
            <a:pPr marL="342900" indent="-342900">
              <a:buFont typeface="Arial" panose="020B0604020202020204" pitchFamily="34" charset="0"/>
              <a:buChar char="•"/>
            </a:pPr>
            <a:r>
              <a:rPr lang="en-US" sz="3200" dirty="0"/>
              <a:t>It allows reading data row by row.</a:t>
            </a:r>
          </a:p>
          <a:p>
            <a:pPr marL="342900" indent="-342900">
              <a:buFont typeface="Arial" panose="020B0604020202020204" pitchFamily="34" charset="0"/>
              <a:buChar char="•"/>
            </a:pPr>
            <a:r>
              <a:rPr lang="en-US" sz="3200" dirty="0"/>
              <a:t>Example:</a:t>
            </a:r>
          </a:p>
          <a:p>
            <a:r>
              <a:rPr lang="en-US" sz="3200" dirty="0" err="1"/>
              <a:t>ResultSet</a:t>
            </a:r>
            <a:r>
              <a:rPr lang="en-US" sz="3200" dirty="0"/>
              <a:t> </a:t>
            </a:r>
            <a:r>
              <a:rPr lang="en-US" sz="3200" dirty="0" err="1"/>
              <a:t>rs</a:t>
            </a:r>
            <a:r>
              <a:rPr lang="en-US" sz="3200" dirty="0"/>
              <a:t> = </a:t>
            </a:r>
            <a:r>
              <a:rPr lang="en-US" sz="3200" dirty="0" err="1"/>
              <a:t>stmt.executeQuery</a:t>
            </a:r>
            <a:r>
              <a:rPr lang="en-US" sz="3200" dirty="0"/>
              <a:t>("SELECT * FROM students");</a:t>
            </a:r>
          </a:p>
          <a:p>
            <a:r>
              <a:rPr lang="en-US" sz="3200" dirty="0"/>
              <a:t>while (</a:t>
            </a:r>
            <a:r>
              <a:rPr lang="en-US" sz="3200" dirty="0" err="1"/>
              <a:t>rs.next</a:t>
            </a:r>
            <a:r>
              <a:rPr lang="en-US" sz="3200" dirty="0"/>
              <a:t>()) {</a:t>
            </a:r>
          </a:p>
          <a:p>
            <a:r>
              <a:rPr lang="en-US" sz="3200" dirty="0"/>
              <a:t>    </a:t>
            </a:r>
            <a:r>
              <a:rPr lang="en-US" sz="3200" dirty="0" err="1"/>
              <a:t>System.out.println</a:t>
            </a:r>
            <a:r>
              <a:rPr lang="en-US" sz="3200" dirty="0"/>
              <a:t>("Name: " + </a:t>
            </a:r>
            <a:r>
              <a:rPr lang="en-US" sz="3200" dirty="0" err="1"/>
              <a:t>rs.getString</a:t>
            </a:r>
            <a:r>
              <a:rPr lang="en-US" sz="3200" dirty="0"/>
              <a:t>("name"));</a:t>
            </a:r>
          </a:p>
          <a:p>
            <a:r>
              <a:rPr lang="en-US" sz="3200" dirty="0"/>
              <a:t>}</a:t>
            </a:r>
          </a:p>
        </p:txBody>
      </p:sp>
    </p:spTree>
    <p:extLst>
      <p:ext uri="{BB962C8B-B14F-4D97-AF65-F5344CB8AC3E}">
        <p14:creationId xmlns:p14="http://schemas.microsoft.com/office/powerpoint/2010/main" val="2303956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AB6F1-5ABC-0FE9-E193-E06159B1DE59}"/>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A2E15294-FF5B-848E-7019-5AD6675D4050}"/>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3600" b="1" dirty="0">
                <a:solidFill>
                  <a:schemeClr val="bg1"/>
                </a:solidFill>
                <a:latin typeface="Times New Roman" panose="02020603050405020304" pitchFamily="18" charset="0"/>
                <a:cs typeface="Times New Roman" panose="02020603050405020304" pitchFamily="18" charset="0"/>
              </a:rPr>
              <a:t>SQL Exception</a:t>
            </a:r>
          </a:p>
        </p:txBody>
      </p:sp>
      <p:sp>
        <p:nvSpPr>
          <p:cNvPr id="4" name="TextBox 6">
            <a:extLst>
              <a:ext uri="{FF2B5EF4-FFF2-40B4-BE49-F238E27FC236}">
                <a16:creationId xmlns:a16="http://schemas.microsoft.com/office/drawing/2014/main" id="{5BC4556A-CD22-D004-658B-627387617A89}"/>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7" name="TextBox 6">
            <a:extLst>
              <a:ext uri="{FF2B5EF4-FFF2-40B4-BE49-F238E27FC236}">
                <a16:creationId xmlns:a16="http://schemas.microsoft.com/office/drawing/2014/main" id="{B36D7C81-A82C-8F32-CA14-2F4EF4CDD8BE}"/>
              </a:ext>
            </a:extLst>
          </p:cNvPr>
          <p:cNvSpPr txBox="1"/>
          <p:nvPr/>
        </p:nvSpPr>
        <p:spPr>
          <a:xfrm>
            <a:off x="97971" y="2286000"/>
            <a:ext cx="8855529" cy="1231106"/>
          </a:xfrm>
          <a:prstGeom prst="rect">
            <a:avLst/>
          </a:prstGeom>
          <a:noFill/>
        </p:spPr>
        <p:txBody>
          <a:bodyPr wrap="square" rtlCol="0">
            <a:spAutoFit/>
          </a:bodyPr>
          <a:lstStyle/>
          <a:p>
            <a:pPr marL="457200" indent="-457200">
              <a:buFont typeface="Arial" panose="020B0604020202020204" pitchFamily="34" charset="0"/>
              <a:buChar char="•"/>
            </a:pPr>
            <a:endParaRPr lang="en-US" sz="3200" dirty="0"/>
          </a:p>
          <a:p>
            <a:endParaRPr lang="en-US" sz="2400" dirty="0"/>
          </a:p>
          <a:p>
            <a:endParaRPr lang="en-IN" dirty="0"/>
          </a:p>
        </p:txBody>
      </p:sp>
      <p:sp>
        <p:nvSpPr>
          <p:cNvPr id="5" name="TextBox 4">
            <a:extLst>
              <a:ext uri="{FF2B5EF4-FFF2-40B4-BE49-F238E27FC236}">
                <a16:creationId xmlns:a16="http://schemas.microsoft.com/office/drawing/2014/main" id="{1497AFB3-008A-1ED5-3289-EB5C15B4ED28}"/>
              </a:ext>
            </a:extLst>
          </p:cNvPr>
          <p:cNvSpPr txBox="1"/>
          <p:nvPr/>
        </p:nvSpPr>
        <p:spPr>
          <a:xfrm>
            <a:off x="97971" y="2286000"/>
            <a:ext cx="8855529" cy="4462760"/>
          </a:xfrm>
          <a:prstGeom prst="rect">
            <a:avLst/>
          </a:prstGeom>
          <a:noFill/>
        </p:spPr>
        <p:txBody>
          <a:bodyPr wrap="square" rtlCol="0">
            <a:spAutoFit/>
          </a:bodyPr>
          <a:lstStyle/>
          <a:p>
            <a:pPr marL="342900" indent="-342900">
              <a:buFont typeface="Arial" panose="020B0604020202020204" pitchFamily="34" charset="0"/>
              <a:buChar char="•"/>
            </a:pPr>
            <a:r>
              <a:rPr lang="en-US" sz="3200" dirty="0"/>
              <a:t>It handles database access errors or other errors in JDBC.</a:t>
            </a:r>
          </a:p>
          <a:p>
            <a:pPr marL="342900" indent="-342900">
              <a:buFont typeface="Arial" panose="020B0604020202020204" pitchFamily="34" charset="0"/>
              <a:buChar char="•"/>
            </a:pPr>
            <a:r>
              <a:rPr lang="en-US" sz="3200" dirty="0"/>
              <a:t>Example:</a:t>
            </a:r>
          </a:p>
          <a:p>
            <a:r>
              <a:rPr lang="en-US" sz="3200" dirty="0"/>
              <a:t>try {</a:t>
            </a:r>
          </a:p>
          <a:p>
            <a:r>
              <a:rPr lang="en-US" sz="3200" dirty="0"/>
              <a:t>    // Code that might throw </a:t>
            </a:r>
            <a:r>
              <a:rPr lang="en-US" sz="3200" dirty="0" err="1"/>
              <a:t>SQLException</a:t>
            </a:r>
            <a:endParaRPr lang="en-US" sz="3200" dirty="0"/>
          </a:p>
          <a:p>
            <a:r>
              <a:rPr lang="en-US" sz="3200" dirty="0"/>
              <a:t>} catch (</a:t>
            </a:r>
            <a:r>
              <a:rPr lang="en-US" sz="3200" dirty="0" err="1"/>
              <a:t>SQLException</a:t>
            </a:r>
            <a:r>
              <a:rPr lang="en-US" sz="3200" dirty="0"/>
              <a:t> e) {</a:t>
            </a:r>
          </a:p>
          <a:p>
            <a:r>
              <a:rPr lang="en-US" sz="3200" dirty="0"/>
              <a:t>    </a:t>
            </a:r>
            <a:r>
              <a:rPr lang="en-US" sz="3200" dirty="0" err="1"/>
              <a:t>System.out.println</a:t>
            </a:r>
            <a:r>
              <a:rPr lang="en-US" sz="3200" dirty="0"/>
              <a:t>("Error: " + </a:t>
            </a:r>
            <a:r>
              <a:rPr lang="en-US" sz="3200" dirty="0" err="1"/>
              <a:t>e.getMessage</a:t>
            </a:r>
            <a:r>
              <a:rPr lang="en-US" sz="3200" dirty="0"/>
              <a:t>());</a:t>
            </a:r>
          </a:p>
          <a:p>
            <a:r>
              <a:rPr lang="en-US" sz="3200" dirty="0"/>
              <a:t>}</a:t>
            </a:r>
          </a:p>
          <a:p>
            <a:endParaRPr lang="en-US" sz="2800" dirty="0"/>
          </a:p>
        </p:txBody>
      </p:sp>
    </p:spTree>
    <p:extLst>
      <p:ext uri="{BB962C8B-B14F-4D97-AF65-F5344CB8AC3E}">
        <p14:creationId xmlns:p14="http://schemas.microsoft.com/office/powerpoint/2010/main" val="738270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3AF3D-6BE8-2B69-CED6-E6EFACC0DFA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8FFF26AE-43EA-2BBE-D9A0-B341E0B060BD}"/>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1"/>
                </a:solidFill>
                <a:latin typeface="Times New Roman" panose="02020603050405020304" pitchFamily="18" charset="0"/>
                <a:cs typeface="Times New Roman" panose="02020603050405020304" pitchFamily="18" charset="0"/>
              </a:rPr>
              <a:t>E</a:t>
            </a:r>
            <a:r>
              <a:rPr lang="en-IN" b="1" dirty="0">
                <a:solidFill>
                  <a:schemeClr val="bg1"/>
                </a:solidFill>
                <a:latin typeface="Times New Roman" panose="02020603050405020304" pitchFamily="18" charset="0"/>
                <a:cs typeface="Times New Roman" panose="02020603050405020304" pitchFamily="18" charset="0"/>
              </a:rPr>
              <a:t>stablishing Connection with Database</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E69B4500-75F8-9170-3258-E0920F467705}"/>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2" name="TextBox 1">
            <a:extLst>
              <a:ext uri="{FF2B5EF4-FFF2-40B4-BE49-F238E27FC236}">
                <a16:creationId xmlns:a16="http://schemas.microsoft.com/office/drawing/2014/main" id="{E3409DDB-FD54-093E-F85B-1E54D1A5597D}"/>
              </a:ext>
            </a:extLst>
          </p:cNvPr>
          <p:cNvSpPr txBox="1"/>
          <p:nvPr/>
        </p:nvSpPr>
        <p:spPr>
          <a:xfrm>
            <a:off x="0" y="2286000"/>
            <a:ext cx="9035143" cy="4524315"/>
          </a:xfrm>
          <a:prstGeom prst="rect">
            <a:avLst/>
          </a:prstGeom>
          <a:noFill/>
        </p:spPr>
        <p:txBody>
          <a:bodyPr wrap="square" rtlCol="0">
            <a:spAutoFit/>
          </a:bodyPr>
          <a:lstStyle/>
          <a:p>
            <a:pPr algn="l" rtl="0" fontAlgn="base">
              <a:spcAft>
                <a:spcPts val="750"/>
              </a:spcAft>
            </a:pPr>
            <a:r>
              <a:rPr lang="en-US" sz="2400" b="1" i="0" dirty="0">
                <a:effectLst/>
                <a:latin typeface="Times New Roman" panose="02020603050405020304" pitchFamily="18" charset="0"/>
                <a:cs typeface="Times New Roman" panose="02020603050405020304" pitchFamily="18" charset="0"/>
              </a:rPr>
              <a:t>Below are the steps that explains how to connect to Database in Java:</a:t>
            </a:r>
            <a:endParaRPr lang="en-US" sz="2400" b="0" i="0" dirty="0">
              <a:effectLst/>
              <a:latin typeface="Times New Roman" panose="02020603050405020304" pitchFamily="18" charset="0"/>
              <a:cs typeface="Times New Roman" panose="02020603050405020304" pitchFamily="18" charset="0"/>
            </a:endParaRPr>
          </a:p>
          <a:p>
            <a:pPr algn="l" rtl="0" fontAlgn="base">
              <a:spcAft>
                <a:spcPts val="750"/>
              </a:spcAft>
            </a:pPr>
            <a:r>
              <a:rPr lang="en-US" sz="2400" b="1" i="0" dirty="0">
                <a:effectLst/>
                <a:latin typeface="Times New Roman" panose="02020603050405020304" pitchFamily="18" charset="0"/>
                <a:cs typeface="Times New Roman" panose="02020603050405020304" pitchFamily="18" charset="0"/>
              </a:rPr>
              <a:t>Step 1 – Import the Packages</a:t>
            </a:r>
          </a:p>
          <a:p>
            <a:pPr algn="l" rtl="0" fontAlgn="base">
              <a:spcAft>
                <a:spcPts val="750"/>
              </a:spcAft>
            </a:pPr>
            <a:r>
              <a:rPr lang="en-US" sz="2400" b="0" i="0" dirty="0">
                <a:effectLst/>
                <a:latin typeface="Times New Roman" panose="02020603050405020304" pitchFamily="18" charset="0"/>
                <a:cs typeface="Times New Roman" panose="02020603050405020304" pitchFamily="18" charset="0"/>
              </a:rPr>
              <a:t>Import </a:t>
            </a:r>
            <a:r>
              <a:rPr lang="en-US" sz="2400" dirty="0" err="1">
                <a:latin typeface="Times New Roman" panose="02020603050405020304" pitchFamily="18" charset="0"/>
                <a:cs typeface="Times New Roman" panose="02020603050405020304" pitchFamily="18" charset="0"/>
              </a:rPr>
              <a:t>java.sql</a:t>
            </a:r>
            <a:r>
              <a:rPr lang="en-US" sz="2400" dirty="0">
                <a:latin typeface="Times New Roman" panose="02020603050405020304" pitchFamily="18" charset="0"/>
                <a:cs typeface="Times New Roman" panose="02020603050405020304" pitchFamily="18" charset="0"/>
              </a:rPr>
              <a:t>.*;</a:t>
            </a:r>
          </a:p>
          <a:p>
            <a:pPr algn="l" rtl="0" fontAlgn="base">
              <a:spcAft>
                <a:spcPts val="750"/>
              </a:spcAft>
            </a:pPr>
            <a:r>
              <a:rPr lang="en-US" sz="2400" b="0" i="0" dirty="0">
                <a:effectLst/>
                <a:latin typeface="Times New Roman" panose="02020603050405020304" pitchFamily="18" charset="0"/>
                <a:cs typeface="Times New Roman" panose="02020603050405020304" pitchFamily="18" charset="0"/>
              </a:rPr>
              <a:t>Import java.io.*;</a:t>
            </a:r>
          </a:p>
          <a:p>
            <a:pPr fontAlgn="base">
              <a:spcAft>
                <a:spcPts val="750"/>
              </a:spcAft>
            </a:pPr>
            <a:r>
              <a:rPr lang="en-US" sz="2400" b="1" dirty="0">
                <a:latin typeface="Times New Roman" panose="02020603050405020304" pitchFamily="18" charset="0"/>
                <a:cs typeface="Times New Roman" panose="02020603050405020304" pitchFamily="18" charset="0"/>
              </a:rPr>
              <a:t>Step 2 - </a:t>
            </a:r>
            <a:r>
              <a:rPr lang="en-IN" sz="2400" b="1" i="0" dirty="0">
                <a:effectLst/>
                <a:latin typeface="Times New Roman" panose="02020603050405020304" pitchFamily="18" charset="0"/>
                <a:cs typeface="Times New Roman" panose="02020603050405020304" pitchFamily="18" charset="0"/>
              </a:rPr>
              <a:t>Loading the drivers</a:t>
            </a:r>
          </a:p>
          <a:p>
            <a:pPr marL="342900" indent="-342900" algn="l" fontAlgn="base">
              <a:buFont typeface="Arial" panose="020B0604020202020204" pitchFamily="34" charset="0"/>
              <a:buChar char="•"/>
            </a:pPr>
            <a:r>
              <a:rPr lang="en-US" sz="2000" b="1" i="0" dirty="0" err="1">
                <a:effectLst/>
                <a:latin typeface="Nunito" pitchFamily="2" charset="0"/>
              </a:rPr>
              <a:t>Class.forName</a:t>
            </a:r>
            <a:r>
              <a:rPr lang="en-US" sz="2000" b="1" i="0" dirty="0">
                <a:effectLst/>
                <a:latin typeface="Nunito" pitchFamily="2" charset="0"/>
              </a:rPr>
              <a:t>()</a:t>
            </a:r>
          </a:p>
          <a:p>
            <a:pPr algn="just" rtl="0" fontAlgn="base">
              <a:spcAft>
                <a:spcPts val="750"/>
              </a:spcAft>
            </a:pPr>
            <a:r>
              <a:rPr lang="en-US" sz="2000" b="0" i="0" dirty="0">
                <a:effectLst/>
                <a:latin typeface="Nunito" pitchFamily="2" charset="0"/>
              </a:rPr>
              <a:t>Here we load the driver’s class file into memory at the runtime. No need of using new or create objects. The following example uses </a:t>
            </a:r>
            <a:r>
              <a:rPr lang="en-US" sz="2000" b="0" i="0" dirty="0" err="1">
                <a:effectLst/>
                <a:latin typeface="Nunito" pitchFamily="2" charset="0"/>
              </a:rPr>
              <a:t>Class.forName</a:t>
            </a:r>
            <a:r>
              <a:rPr lang="en-US" sz="2000" b="0" i="0" dirty="0">
                <a:effectLst/>
                <a:latin typeface="Nunito" pitchFamily="2" charset="0"/>
              </a:rPr>
              <a:t>() to load the Oracle driver as shown below as follows:</a:t>
            </a:r>
          </a:p>
          <a:p>
            <a:pPr fontAlgn="base">
              <a:spcAft>
                <a:spcPts val="750"/>
              </a:spcAft>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Class.forName</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jdbc:mysql</a:t>
            </a:r>
            <a:r>
              <a:rPr lang="en-IN" sz="2400" dirty="0">
                <a:latin typeface="Times New Roman" panose="02020603050405020304" pitchFamily="18" charset="0"/>
                <a:cs typeface="Times New Roman" panose="02020603050405020304" pitchFamily="18" charset="0"/>
              </a:rPr>
              <a:t>://localhost:3306/</a:t>
            </a:r>
            <a:r>
              <a:rPr lang="en-IN" sz="2400" dirty="0" err="1">
                <a:latin typeface="Times New Roman" panose="02020603050405020304" pitchFamily="18" charset="0"/>
                <a:cs typeface="Times New Roman" panose="02020603050405020304" pitchFamily="18" charset="0"/>
              </a:rPr>
              <a:t>dbname</a:t>
            </a:r>
            <a:r>
              <a:rPr lang="en-IN" sz="2400" dirty="0">
                <a:latin typeface="Times New Roman" panose="02020603050405020304" pitchFamily="18" charset="0"/>
                <a:cs typeface="Times New Roman" panose="02020603050405020304" pitchFamily="18" charset="0"/>
              </a:rPr>
              <a:t>”);</a:t>
            </a:r>
            <a:endParaRPr lang="en-IN" sz="24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6352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6429D-9BA5-0CEE-6931-12F4731EFC37}"/>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8973AA32-6F15-F8D8-B765-D27DB9818137}"/>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1"/>
                </a:solidFill>
                <a:latin typeface="Times New Roman" panose="02020603050405020304" pitchFamily="18" charset="0"/>
                <a:cs typeface="Times New Roman" panose="02020603050405020304" pitchFamily="18" charset="0"/>
              </a:rPr>
              <a:t>E</a:t>
            </a:r>
            <a:r>
              <a:rPr lang="en-IN" b="1" dirty="0">
                <a:solidFill>
                  <a:schemeClr val="bg1"/>
                </a:solidFill>
                <a:latin typeface="Times New Roman" panose="02020603050405020304" pitchFamily="18" charset="0"/>
                <a:cs typeface="Times New Roman" panose="02020603050405020304" pitchFamily="18" charset="0"/>
              </a:rPr>
              <a:t>stablishing Connection with Database</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ABA54D90-8E6C-2146-6735-8E0F96CEDBDA}"/>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2" name="TextBox 1">
            <a:extLst>
              <a:ext uri="{FF2B5EF4-FFF2-40B4-BE49-F238E27FC236}">
                <a16:creationId xmlns:a16="http://schemas.microsoft.com/office/drawing/2014/main" id="{F4CC4F02-08EC-62D7-4F08-7F7064C813CC}"/>
              </a:ext>
            </a:extLst>
          </p:cNvPr>
          <p:cNvSpPr txBox="1"/>
          <p:nvPr/>
        </p:nvSpPr>
        <p:spPr>
          <a:xfrm>
            <a:off x="0" y="2286000"/>
            <a:ext cx="9035143" cy="2734082"/>
          </a:xfrm>
          <a:prstGeom prst="rect">
            <a:avLst/>
          </a:prstGeom>
          <a:noFill/>
        </p:spPr>
        <p:txBody>
          <a:bodyPr wrap="square" rtlCol="0">
            <a:spAutoFit/>
          </a:bodyPr>
          <a:lstStyle/>
          <a:p>
            <a:pPr algn="l" fontAlgn="base">
              <a:spcBef>
                <a:spcPts val="1800"/>
              </a:spcBef>
              <a:spcAft>
                <a:spcPts val="1800"/>
              </a:spcAft>
            </a:pPr>
            <a:r>
              <a:rPr lang="en-US" sz="2400" b="1" i="0" dirty="0">
                <a:effectLst/>
                <a:latin typeface="Times New Roman" panose="02020603050405020304" pitchFamily="18" charset="0"/>
                <a:cs typeface="Times New Roman" panose="02020603050405020304" pitchFamily="18" charset="0"/>
              </a:rPr>
              <a:t>Step 3: </a:t>
            </a:r>
            <a:r>
              <a:rPr lang="en-US" sz="2400" b="1" dirty="0">
                <a:effectLst/>
                <a:latin typeface="Times New Roman" panose="02020603050405020304" pitchFamily="18" charset="0"/>
                <a:cs typeface="Times New Roman" panose="02020603050405020304" pitchFamily="18" charset="0"/>
              </a:rPr>
              <a:t>Establish a connection using the Connection class object</a:t>
            </a:r>
          </a:p>
          <a:p>
            <a:pPr algn="l" fontAlgn="base">
              <a:spcBef>
                <a:spcPts val="1800"/>
              </a:spcBef>
              <a:spcAft>
                <a:spcPts val="1800"/>
              </a:spcAft>
            </a:pPr>
            <a:r>
              <a:rPr lang="en-US" sz="2400" b="0" i="0" dirty="0">
                <a:effectLst/>
                <a:latin typeface="Times New Roman" panose="02020603050405020304" pitchFamily="18" charset="0"/>
                <a:cs typeface="Times New Roman" panose="02020603050405020304" pitchFamily="18" charset="0"/>
              </a:rPr>
              <a:t>After loading the driver, establish connections as shown below as follows:</a:t>
            </a:r>
          </a:p>
          <a:p>
            <a:pPr algn="just" rtl="0" fontAlgn="base">
              <a:spcAft>
                <a:spcPts val="750"/>
              </a:spcAft>
            </a:pPr>
            <a:endParaRPr lang="en-US" sz="2400" b="0" i="0" dirty="0">
              <a:effectLst/>
              <a:latin typeface="Times New Roman" panose="02020603050405020304" pitchFamily="18" charset="0"/>
              <a:cs typeface="Times New Roman" panose="02020603050405020304" pitchFamily="18" charset="0"/>
            </a:endParaRPr>
          </a:p>
          <a:p>
            <a:pPr algn="l" rtl="0" fontAlgn="base">
              <a:spcAft>
                <a:spcPts val="750"/>
              </a:spcAft>
            </a:pPr>
            <a:endParaRPr lang="en-IN" sz="24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9633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08DF0-9BA3-36D4-D218-AA89B339317D}"/>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6617AF71-4205-617C-E4D4-42705643EA8C}"/>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1"/>
                </a:solidFill>
                <a:latin typeface="Times New Roman" panose="02020603050405020304" pitchFamily="18" charset="0"/>
                <a:cs typeface="Times New Roman" panose="02020603050405020304" pitchFamily="18" charset="0"/>
              </a:rPr>
              <a:t>E</a:t>
            </a:r>
            <a:r>
              <a:rPr lang="en-IN" b="1" dirty="0">
                <a:solidFill>
                  <a:schemeClr val="bg1"/>
                </a:solidFill>
                <a:latin typeface="Times New Roman" panose="02020603050405020304" pitchFamily="18" charset="0"/>
                <a:cs typeface="Times New Roman" panose="02020603050405020304" pitchFamily="18" charset="0"/>
              </a:rPr>
              <a:t>stablishing Connection with Database</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FC829C80-4D35-BAA5-FF1A-F37F0C457535}"/>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2" name="TextBox 1">
            <a:extLst>
              <a:ext uri="{FF2B5EF4-FFF2-40B4-BE49-F238E27FC236}">
                <a16:creationId xmlns:a16="http://schemas.microsoft.com/office/drawing/2014/main" id="{53242B8E-4123-ADD0-F97E-8C36DA1E66A7}"/>
              </a:ext>
            </a:extLst>
          </p:cNvPr>
          <p:cNvSpPr txBox="1"/>
          <p:nvPr/>
        </p:nvSpPr>
        <p:spPr>
          <a:xfrm>
            <a:off x="0" y="2286000"/>
            <a:ext cx="9035143" cy="4544834"/>
          </a:xfrm>
          <a:prstGeom prst="rect">
            <a:avLst/>
          </a:prstGeom>
          <a:noFill/>
        </p:spPr>
        <p:txBody>
          <a:bodyPr wrap="square" rtlCol="0">
            <a:spAutoFit/>
          </a:bodyPr>
          <a:lstStyle/>
          <a:p>
            <a:pPr algn="just" rtl="0" fontAlgn="base">
              <a:spcAft>
                <a:spcPts val="750"/>
              </a:spcAft>
            </a:pPr>
            <a:r>
              <a:rPr lang="en-US" sz="2400" b="0" i="0" dirty="0">
                <a:effectLst/>
                <a:latin typeface="Times New Roman" panose="02020603050405020304" pitchFamily="18" charset="0"/>
                <a:cs typeface="Times New Roman" panose="02020603050405020304" pitchFamily="18" charset="0"/>
              </a:rPr>
              <a:t>Connection con= </a:t>
            </a:r>
            <a:r>
              <a:rPr lang="en-US" sz="2400" b="0" i="0" dirty="0" err="1">
                <a:effectLst/>
                <a:latin typeface="Times New Roman" panose="02020603050405020304" pitchFamily="18" charset="0"/>
                <a:cs typeface="Times New Roman" panose="02020603050405020304" pitchFamily="18" charset="0"/>
              </a:rPr>
              <a:t>DriverManager.getConnection</a:t>
            </a:r>
            <a:r>
              <a:rPr lang="en-US" sz="2400" b="0" i="0" dirty="0">
                <a:effectLst/>
                <a:latin typeface="Times New Roman" panose="02020603050405020304" pitchFamily="18" charset="0"/>
                <a:cs typeface="Times New Roman" panose="02020603050405020304" pitchFamily="18" charset="0"/>
              </a:rPr>
              <a:t>(</a:t>
            </a:r>
            <a:r>
              <a:rPr lang="en-US" sz="2400" b="0" i="0" dirty="0" err="1">
                <a:effectLst/>
                <a:latin typeface="Times New Roman" panose="02020603050405020304" pitchFamily="18" charset="0"/>
                <a:cs typeface="Times New Roman" panose="02020603050405020304" pitchFamily="18" charset="0"/>
              </a:rPr>
              <a:t>url,user,password</a:t>
            </a:r>
            <a:r>
              <a:rPr lang="en-US" sz="2400" b="0" i="0" dirty="0">
                <a:effectLst/>
                <a:latin typeface="Times New Roman" panose="02020603050405020304" pitchFamily="18" charset="0"/>
                <a:cs typeface="Times New Roman" panose="02020603050405020304" pitchFamily="18" charset="0"/>
              </a:rPr>
              <a:t>);</a:t>
            </a:r>
          </a:p>
          <a:p>
            <a:pPr algn="l" fontAlgn="base">
              <a:spcAft>
                <a:spcPts val="1800"/>
              </a:spcAft>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user: U</a:t>
            </a:r>
            <a:r>
              <a:rPr lang="en-US" sz="2400" b="0" i="0" dirty="0">
                <a:effectLst/>
                <a:latin typeface="Times New Roman" panose="02020603050405020304" pitchFamily="18" charset="0"/>
                <a:cs typeface="Times New Roman" panose="02020603050405020304" pitchFamily="18" charset="0"/>
              </a:rPr>
              <a:t>sername from which your SQL command prompt can be accessed.</a:t>
            </a:r>
          </a:p>
          <a:p>
            <a:pPr algn="l" fontAlgn="base">
              <a:spcAft>
                <a:spcPts val="1800"/>
              </a:spcAft>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password: </a:t>
            </a:r>
            <a:r>
              <a:rPr lang="en-US" sz="2400" b="0" i="0" dirty="0">
                <a:effectLst/>
                <a:latin typeface="Times New Roman" panose="02020603050405020304" pitchFamily="18" charset="0"/>
                <a:cs typeface="Times New Roman" panose="02020603050405020304" pitchFamily="18" charset="0"/>
              </a:rPr>
              <a:t>password from which the SQL command prompt can be accessed.</a:t>
            </a:r>
          </a:p>
          <a:p>
            <a:pPr algn="l" fontAlgn="base">
              <a:spcAft>
                <a:spcPts val="1800"/>
              </a:spcAft>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con:</a:t>
            </a:r>
            <a:r>
              <a:rPr lang="en-US" sz="2400" b="0" i="0" dirty="0">
                <a:effectLst/>
                <a:latin typeface="Times New Roman" panose="02020603050405020304" pitchFamily="18" charset="0"/>
                <a:cs typeface="Times New Roman" panose="02020603050405020304" pitchFamily="18" charset="0"/>
              </a:rPr>
              <a:t> It is a reference to the Connection interface.</a:t>
            </a:r>
          </a:p>
          <a:p>
            <a:pPr algn="l" fontAlgn="base">
              <a:spcAft>
                <a:spcPts val="1800"/>
              </a:spcAft>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Url</a:t>
            </a:r>
            <a:r>
              <a:rPr lang="en-US" sz="2400" b="0" i="0" dirty="0">
                <a:effectLst/>
                <a:latin typeface="Times New Roman" panose="02020603050405020304" pitchFamily="18" charset="0"/>
                <a:cs typeface="Times New Roman" panose="02020603050405020304" pitchFamily="18" charset="0"/>
              </a:rPr>
              <a:t>: Uniform Resource Locator which is created as shown below:</a:t>
            </a:r>
          </a:p>
          <a:p>
            <a:pPr algn="just" rtl="0" fontAlgn="base">
              <a:spcAft>
                <a:spcPts val="750"/>
              </a:spcAft>
            </a:pPr>
            <a:endParaRPr lang="en-US" sz="2400" b="0" i="0" dirty="0">
              <a:effectLst/>
              <a:latin typeface="Times New Roman" panose="02020603050405020304" pitchFamily="18" charset="0"/>
              <a:cs typeface="Times New Roman" panose="02020603050405020304" pitchFamily="18" charset="0"/>
            </a:endParaRPr>
          </a:p>
          <a:p>
            <a:pPr algn="l" rtl="0" fontAlgn="base">
              <a:spcAft>
                <a:spcPts val="750"/>
              </a:spcAft>
            </a:pPr>
            <a:endParaRPr lang="en-IN" sz="24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4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88D52-F1DE-2548-0D57-FD9134AB25D1}"/>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80646773-4BAD-C572-E043-662CDFA7B68C}"/>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1"/>
                </a:solidFill>
                <a:latin typeface="Times New Roman" panose="02020603050405020304" pitchFamily="18" charset="0"/>
                <a:cs typeface="Times New Roman" panose="02020603050405020304" pitchFamily="18" charset="0"/>
              </a:rPr>
              <a:t>E</a:t>
            </a:r>
            <a:r>
              <a:rPr lang="en-IN" b="1" dirty="0">
                <a:solidFill>
                  <a:schemeClr val="bg1"/>
                </a:solidFill>
                <a:latin typeface="Times New Roman" panose="02020603050405020304" pitchFamily="18" charset="0"/>
                <a:cs typeface="Times New Roman" panose="02020603050405020304" pitchFamily="18" charset="0"/>
              </a:rPr>
              <a:t>stablishing Connection with Database</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B2F4B99A-5D10-A56F-7C84-FCBC421FFC88}"/>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2" name="TextBox 1">
            <a:extLst>
              <a:ext uri="{FF2B5EF4-FFF2-40B4-BE49-F238E27FC236}">
                <a16:creationId xmlns:a16="http://schemas.microsoft.com/office/drawing/2014/main" id="{0EF5EA87-8D79-6E9C-3BBC-DA1756848011}"/>
              </a:ext>
            </a:extLst>
          </p:cNvPr>
          <p:cNvSpPr txBox="1"/>
          <p:nvPr/>
        </p:nvSpPr>
        <p:spPr>
          <a:xfrm>
            <a:off x="0" y="2286000"/>
            <a:ext cx="9035143" cy="5832366"/>
          </a:xfrm>
          <a:prstGeom prst="rect">
            <a:avLst/>
          </a:prstGeom>
          <a:noFill/>
        </p:spPr>
        <p:txBody>
          <a:bodyPr wrap="square" rtlCol="0">
            <a:spAutoFit/>
          </a:bodyPr>
          <a:lstStyle/>
          <a:p>
            <a:pPr algn="l" fontAlgn="base">
              <a:spcBef>
                <a:spcPts val="1800"/>
              </a:spcBef>
              <a:spcAft>
                <a:spcPts val="1800"/>
              </a:spcAft>
            </a:pPr>
            <a:r>
              <a:rPr lang="en-US" sz="2400" b="1" i="0" dirty="0">
                <a:effectLst/>
                <a:latin typeface="Times New Roman" panose="02020603050405020304" pitchFamily="18" charset="0"/>
                <a:cs typeface="Times New Roman" panose="02020603050405020304" pitchFamily="18" charset="0"/>
              </a:rPr>
              <a:t>Step 4: Create a statement </a:t>
            </a:r>
          </a:p>
          <a:p>
            <a:pPr algn="just" rtl="0" fontAlgn="base">
              <a:spcAft>
                <a:spcPts val="750"/>
              </a:spcAft>
            </a:pPr>
            <a:r>
              <a:rPr lang="en-US" sz="2200" b="0" i="0" dirty="0">
                <a:effectLst/>
                <a:latin typeface="Times New Roman" panose="02020603050405020304" pitchFamily="18" charset="0"/>
                <a:cs typeface="Times New Roman" panose="02020603050405020304" pitchFamily="18" charset="0"/>
              </a:rPr>
              <a:t>Once a connection is established you can interact with the database. The </a:t>
            </a:r>
            <a:r>
              <a:rPr lang="en-US" sz="2200" b="0" i="0" dirty="0" err="1">
                <a:effectLst/>
                <a:latin typeface="Times New Roman" panose="02020603050405020304" pitchFamily="18" charset="0"/>
                <a:cs typeface="Times New Roman" panose="02020603050405020304" pitchFamily="18" charset="0"/>
              </a:rPr>
              <a:t>JDBCStatement</a:t>
            </a:r>
            <a:r>
              <a:rPr lang="en-US" sz="2200" b="0" i="0" dirty="0">
                <a:effectLst/>
                <a:latin typeface="Times New Roman" panose="02020603050405020304" pitchFamily="18" charset="0"/>
                <a:cs typeface="Times New Roman" panose="02020603050405020304" pitchFamily="18" charset="0"/>
              </a:rPr>
              <a:t>, </a:t>
            </a:r>
            <a:r>
              <a:rPr lang="en-US" sz="2200" b="0" i="0" dirty="0" err="1">
                <a:effectLst/>
                <a:latin typeface="Times New Roman" panose="02020603050405020304" pitchFamily="18" charset="0"/>
                <a:cs typeface="Times New Roman" panose="02020603050405020304" pitchFamily="18" charset="0"/>
              </a:rPr>
              <a:t>CallableStatement</a:t>
            </a:r>
            <a:r>
              <a:rPr lang="en-US" sz="2200" b="0" i="0" dirty="0">
                <a:effectLst/>
                <a:latin typeface="Times New Roman" panose="02020603050405020304" pitchFamily="18" charset="0"/>
                <a:cs typeface="Times New Roman" panose="02020603050405020304" pitchFamily="18" charset="0"/>
              </a:rPr>
              <a:t>, and </a:t>
            </a:r>
            <a:r>
              <a:rPr lang="en-US" sz="2200" b="0" i="0" dirty="0" err="1">
                <a:effectLst/>
                <a:latin typeface="Times New Roman" panose="02020603050405020304" pitchFamily="18" charset="0"/>
                <a:cs typeface="Times New Roman" panose="02020603050405020304" pitchFamily="18" charset="0"/>
              </a:rPr>
              <a:t>PreparedStatement</a:t>
            </a:r>
            <a:r>
              <a:rPr lang="en-US" sz="2200" b="0" i="0" dirty="0">
                <a:effectLst/>
                <a:latin typeface="Times New Roman" panose="02020603050405020304" pitchFamily="18" charset="0"/>
                <a:cs typeface="Times New Roman" panose="02020603050405020304" pitchFamily="18" charset="0"/>
              </a:rPr>
              <a:t> interfaces define the methods that enable you to send SQL commands and receive data from your database. </a:t>
            </a:r>
          </a:p>
          <a:p>
            <a:pPr algn="just" rtl="0" fontAlgn="base">
              <a:spcAft>
                <a:spcPts val="750"/>
              </a:spcAft>
            </a:pPr>
            <a:r>
              <a:rPr lang="en-US" sz="2200" dirty="0">
                <a:latin typeface="Times New Roman" panose="02020603050405020304" pitchFamily="18" charset="0"/>
                <a:cs typeface="Times New Roman" panose="02020603050405020304" pitchFamily="18" charset="0"/>
              </a:rPr>
              <a:t>Statement </a:t>
            </a:r>
            <a:r>
              <a:rPr lang="en-US" sz="2200" dirty="0" err="1">
                <a:latin typeface="Times New Roman" panose="02020603050405020304" pitchFamily="18" charset="0"/>
                <a:cs typeface="Times New Roman" panose="02020603050405020304" pitchFamily="18" charset="0"/>
              </a:rPr>
              <a:t>stmt</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con.createStatement</a:t>
            </a:r>
            <a:r>
              <a:rPr lang="en-US" sz="2200" dirty="0">
                <a:latin typeface="Times New Roman" panose="02020603050405020304" pitchFamily="18" charset="0"/>
                <a:cs typeface="Times New Roman" panose="02020603050405020304" pitchFamily="18" charset="0"/>
              </a:rPr>
              <a:t>();</a:t>
            </a:r>
          </a:p>
          <a:p>
            <a:pPr algn="just" fontAlgn="base">
              <a:spcAft>
                <a:spcPts val="750"/>
              </a:spcAft>
            </a:pPr>
            <a:r>
              <a:rPr lang="en-US" sz="2400" b="1" i="0" dirty="0">
                <a:effectLst/>
                <a:latin typeface="Times New Roman" panose="02020603050405020304" pitchFamily="18" charset="0"/>
                <a:cs typeface="Times New Roman" panose="02020603050405020304" pitchFamily="18" charset="0"/>
              </a:rPr>
              <a:t>Step 5: Execute the query</a:t>
            </a:r>
          </a:p>
          <a:p>
            <a:pPr algn="just" fontAlgn="base">
              <a:spcAft>
                <a:spcPts val="750"/>
              </a:spcAft>
            </a:pPr>
            <a:r>
              <a:rPr lang="en-US" sz="2200" b="0" i="0" dirty="0">
                <a:effectLst/>
                <a:latin typeface="Times New Roman" panose="02020603050405020304" pitchFamily="18" charset="0"/>
                <a:cs typeface="Times New Roman" panose="02020603050405020304" pitchFamily="18" charset="0"/>
              </a:rPr>
              <a:t>The </a:t>
            </a:r>
            <a:r>
              <a:rPr lang="en-US" sz="2200" b="0" i="0" dirty="0" err="1">
                <a:effectLst/>
                <a:latin typeface="Times New Roman" panose="02020603050405020304" pitchFamily="18" charset="0"/>
                <a:cs typeface="Times New Roman" panose="02020603050405020304" pitchFamily="18" charset="0"/>
              </a:rPr>
              <a:t>executeQuery</a:t>
            </a:r>
            <a:r>
              <a:rPr lang="en-US" sz="2200" b="0" i="0" dirty="0">
                <a:effectLst/>
                <a:latin typeface="Times New Roman" panose="02020603050405020304" pitchFamily="18" charset="0"/>
                <a:cs typeface="Times New Roman" panose="02020603050405020304" pitchFamily="18" charset="0"/>
              </a:rPr>
              <a:t>() method of the </a:t>
            </a:r>
            <a:r>
              <a:rPr lang="en-US" sz="2200" b="1" i="0" dirty="0">
                <a:effectLst/>
                <a:latin typeface="Times New Roman" panose="02020603050405020304" pitchFamily="18" charset="0"/>
                <a:cs typeface="Times New Roman" panose="02020603050405020304" pitchFamily="18" charset="0"/>
              </a:rPr>
              <a:t>Statement interface</a:t>
            </a:r>
            <a:r>
              <a:rPr lang="en-US" sz="2200" b="0" i="0" dirty="0">
                <a:effectLst/>
                <a:latin typeface="Times New Roman" panose="02020603050405020304" pitchFamily="18" charset="0"/>
                <a:cs typeface="Times New Roman" panose="02020603050405020304" pitchFamily="18" charset="0"/>
              </a:rPr>
              <a:t> is used to execute queries of retrieving values from the database. The </a:t>
            </a:r>
            <a:r>
              <a:rPr lang="en-US" sz="2200" b="0" i="0" dirty="0" err="1">
                <a:effectLst/>
                <a:latin typeface="Times New Roman" panose="02020603050405020304" pitchFamily="18" charset="0"/>
                <a:cs typeface="Times New Roman" panose="02020603050405020304" pitchFamily="18" charset="0"/>
              </a:rPr>
              <a:t>executeQuery</a:t>
            </a:r>
            <a:r>
              <a:rPr lang="en-US" sz="2200" b="0" i="0" dirty="0">
                <a:effectLst/>
                <a:latin typeface="Times New Roman" panose="02020603050405020304" pitchFamily="18" charset="0"/>
                <a:cs typeface="Times New Roman" panose="02020603050405020304" pitchFamily="18" charset="0"/>
              </a:rPr>
              <a:t>() method of the </a:t>
            </a:r>
            <a:r>
              <a:rPr lang="en-US" sz="2200" b="1" i="0" dirty="0">
                <a:effectLst/>
                <a:latin typeface="Times New Roman" panose="02020603050405020304" pitchFamily="18" charset="0"/>
                <a:cs typeface="Times New Roman" panose="02020603050405020304" pitchFamily="18" charset="0"/>
              </a:rPr>
              <a:t>Statement interface</a:t>
            </a:r>
            <a:r>
              <a:rPr lang="en-US" sz="2200" b="0" i="0" dirty="0">
                <a:effectLst/>
                <a:latin typeface="Times New Roman" panose="02020603050405020304" pitchFamily="18" charset="0"/>
                <a:cs typeface="Times New Roman" panose="02020603050405020304" pitchFamily="18" charset="0"/>
              </a:rPr>
              <a:t> is used to execute queries of retrieving values from the database.</a:t>
            </a:r>
          </a:p>
          <a:p>
            <a:pPr algn="just" rtl="0" fontAlgn="base">
              <a:spcAft>
                <a:spcPts val="750"/>
              </a:spcAft>
            </a:pPr>
            <a:endParaRPr lang="en-US" sz="2400" b="0" i="0" dirty="0">
              <a:effectLst/>
              <a:latin typeface="Nunito" pitchFamily="2" charset="0"/>
            </a:endParaRPr>
          </a:p>
          <a:p>
            <a:pPr algn="just" rtl="0" fontAlgn="base">
              <a:spcAft>
                <a:spcPts val="750"/>
              </a:spcAft>
            </a:pPr>
            <a:endParaRPr lang="en-US" sz="2400" b="0" i="0" dirty="0">
              <a:effectLst/>
              <a:latin typeface="Times New Roman" panose="02020603050405020304" pitchFamily="18" charset="0"/>
              <a:cs typeface="Times New Roman" panose="02020603050405020304" pitchFamily="18" charset="0"/>
            </a:endParaRPr>
          </a:p>
          <a:p>
            <a:pPr algn="l" rtl="0" fontAlgn="base">
              <a:spcAft>
                <a:spcPts val="750"/>
              </a:spcAft>
            </a:pPr>
            <a:endParaRPr lang="en-IN" sz="24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9367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7394-D01C-DC8A-E592-60B8514CC7FD}"/>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1D631D14-4D32-F6CF-2EDC-84A0C9CE4AAE}"/>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1"/>
                </a:solidFill>
                <a:latin typeface="Times New Roman" panose="02020603050405020304" pitchFamily="18" charset="0"/>
                <a:cs typeface="Times New Roman" panose="02020603050405020304" pitchFamily="18" charset="0"/>
              </a:rPr>
              <a:t>E</a:t>
            </a:r>
            <a:r>
              <a:rPr lang="en-IN" b="1" dirty="0">
                <a:solidFill>
                  <a:schemeClr val="bg1"/>
                </a:solidFill>
                <a:latin typeface="Times New Roman" panose="02020603050405020304" pitchFamily="18" charset="0"/>
                <a:cs typeface="Times New Roman" panose="02020603050405020304" pitchFamily="18" charset="0"/>
              </a:rPr>
              <a:t>stablishing Connection with Database</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DB272431-75EA-09B1-17D0-2345E9A5F57C}"/>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2" name="TextBox 1">
            <a:extLst>
              <a:ext uri="{FF2B5EF4-FFF2-40B4-BE49-F238E27FC236}">
                <a16:creationId xmlns:a16="http://schemas.microsoft.com/office/drawing/2014/main" id="{9BD62DA3-17F1-AC63-D9E5-244A6F46CD99}"/>
              </a:ext>
            </a:extLst>
          </p:cNvPr>
          <p:cNvSpPr txBox="1"/>
          <p:nvPr/>
        </p:nvSpPr>
        <p:spPr>
          <a:xfrm>
            <a:off x="0" y="2286000"/>
            <a:ext cx="9035143" cy="6960880"/>
          </a:xfrm>
          <a:prstGeom prst="rect">
            <a:avLst/>
          </a:prstGeom>
          <a:noFill/>
        </p:spPr>
        <p:txBody>
          <a:bodyPr wrap="square" rtlCol="0">
            <a:spAutoFit/>
          </a:bodyPr>
          <a:lstStyle/>
          <a:p>
            <a:pPr algn="l" fontAlgn="base">
              <a:spcBef>
                <a:spcPts val="1800"/>
              </a:spcBef>
              <a:spcAft>
                <a:spcPts val="1800"/>
              </a:spcAft>
            </a:pPr>
            <a:r>
              <a:rPr lang="en-US" sz="2400" b="0" i="0" dirty="0">
                <a:effectLst/>
                <a:latin typeface="Times New Roman" panose="02020603050405020304" pitchFamily="18" charset="0"/>
                <a:cs typeface="Times New Roman" panose="02020603050405020304" pitchFamily="18" charset="0"/>
              </a:rPr>
              <a:t>The </a:t>
            </a:r>
            <a:r>
              <a:rPr lang="en-US" sz="2400" b="0" i="0" dirty="0" err="1">
                <a:effectLst/>
                <a:latin typeface="Times New Roman" panose="02020603050405020304" pitchFamily="18" charset="0"/>
                <a:cs typeface="Times New Roman" panose="02020603050405020304" pitchFamily="18" charset="0"/>
              </a:rPr>
              <a:t>executeUpdate</a:t>
            </a:r>
            <a:r>
              <a:rPr lang="en-US" sz="2400" b="0" i="0" dirty="0">
                <a:effectLst/>
                <a:latin typeface="Times New Roman" panose="02020603050405020304" pitchFamily="18" charset="0"/>
                <a:cs typeface="Times New Roman" panose="02020603050405020304" pitchFamily="18" charset="0"/>
              </a:rPr>
              <a:t>(</a:t>
            </a:r>
            <a:r>
              <a:rPr lang="en-US" sz="2400" b="0" i="0" dirty="0" err="1">
                <a:effectLst/>
                <a:latin typeface="Times New Roman" panose="02020603050405020304" pitchFamily="18" charset="0"/>
                <a:cs typeface="Times New Roman" panose="02020603050405020304" pitchFamily="18" charset="0"/>
              </a:rPr>
              <a:t>sql</a:t>
            </a:r>
            <a:r>
              <a:rPr lang="en-US" sz="2400" b="0" i="0" dirty="0">
                <a:effectLst/>
                <a:latin typeface="Times New Roman" panose="02020603050405020304" pitchFamily="18" charset="0"/>
                <a:cs typeface="Times New Roman" panose="02020603050405020304" pitchFamily="18" charset="0"/>
              </a:rPr>
              <a:t> query) method of the Statement interface is used to execute queries of updating/inserting.</a:t>
            </a:r>
          </a:p>
          <a:p>
            <a:pPr>
              <a:buNone/>
            </a:pPr>
            <a:r>
              <a:rPr lang="en-US" sz="2400" b="0" i="0" dirty="0">
                <a:effectLst/>
                <a:latin typeface="Times New Roman" panose="02020603050405020304" pitchFamily="18" charset="0"/>
                <a:cs typeface="Times New Roman" panose="02020603050405020304" pitchFamily="18" charset="0"/>
              </a:rPr>
              <a:t>Examples:-</a:t>
            </a:r>
          </a:p>
          <a:p>
            <a:pPr>
              <a:buNone/>
            </a:pPr>
            <a:r>
              <a:rPr lang="en-US" sz="2400" dirty="0" err="1">
                <a:latin typeface="Times New Roman" panose="02020603050405020304" pitchFamily="18" charset="0"/>
                <a:cs typeface="Times New Roman" panose="02020603050405020304" pitchFamily="18" charset="0"/>
              </a:rPr>
              <a:t>ResultSet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stmt.executeQuery</a:t>
            </a:r>
            <a:r>
              <a:rPr lang="en-US" sz="2400" dirty="0">
                <a:latin typeface="Times New Roman" panose="02020603050405020304" pitchFamily="18" charset="0"/>
                <a:cs typeface="Times New Roman" panose="02020603050405020304" pitchFamily="18" charset="0"/>
              </a:rPr>
              <a:t>("select * from emp");  </a:t>
            </a:r>
          </a:p>
          <a:p>
            <a:pPr>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while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rs.next</a:t>
            </a: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System.out.println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rs.getInt</a:t>
            </a:r>
            <a:r>
              <a:rPr lang="en-US" sz="2400" dirty="0">
                <a:latin typeface="Times New Roman" panose="02020603050405020304" pitchFamily="18" charset="0"/>
                <a:cs typeface="Times New Roman" panose="02020603050405020304" pitchFamily="18" charset="0"/>
              </a:rPr>
              <a:t>(1)+" "+</a:t>
            </a:r>
            <a:r>
              <a:rPr lang="en-US" sz="2400" dirty="0" err="1">
                <a:latin typeface="Times New Roman" panose="02020603050405020304" pitchFamily="18" charset="0"/>
                <a:cs typeface="Times New Roman" panose="02020603050405020304" pitchFamily="18" charset="0"/>
              </a:rPr>
              <a:t>rs.getString</a:t>
            </a:r>
            <a:r>
              <a:rPr lang="en-US" sz="2400" dirty="0">
                <a:latin typeface="Times New Roman" panose="02020603050405020304" pitchFamily="18" charset="0"/>
                <a:cs typeface="Times New Roman" panose="02020603050405020304" pitchFamily="18" charset="0"/>
              </a:rPr>
              <a:t>(2));  </a:t>
            </a:r>
          </a:p>
          <a:p>
            <a:pPr>
              <a:buNone/>
            </a:pPr>
            <a:r>
              <a:rPr lang="en-US" sz="2400" dirty="0">
                <a:latin typeface="Times New Roman" panose="02020603050405020304" pitchFamily="18" charset="0"/>
                <a:cs typeface="Times New Roman" panose="02020603050405020304" pitchFamily="18" charset="0"/>
              </a:rPr>
              <a:t>}  </a:t>
            </a:r>
          </a:p>
          <a:p>
            <a:r>
              <a:rPr lang="en-US" sz="2400" b="1" i="0" dirty="0">
                <a:effectLst/>
                <a:latin typeface="Times New Roman" panose="02020603050405020304" pitchFamily="18" charset="0"/>
                <a:cs typeface="Times New Roman" panose="02020603050405020304" pitchFamily="18" charset="0"/>
              </a:rPr>
              <a:t>Step 6: Closing the connections </a:t>
            </a:r>
          </a:p>
          <a:p>
            <a:r>
              <a:rPr lang="en-US" sz="2800" dirty="0">
                <a:latin typeface="Times New Roman" panose="02020603050405020304" pitchFamily="18" charset="0"/>
                <a:cs typeface="Times New Roman" panose="02020603050405020304" pitchFamily="18" charset="0"/>
              </a:rPr>
              <a:t>It is used to close the connection.</a:t>
            </a:r>
          </a:p>
          <a:p>
            <a:r>
              <a:rPr lang="en-US" sz="2800" dirty="0" err="1">
                <a:latin typeface="Times New Roman" panose="02020603050405020304" pitchFamily="18" charset="0"/>
                <a:cs typeface="Times New Roman" panose="02020603050405020304" pitchFamily="18" charset="0"/>
              </a:rPr>
              <a:t>Con.close</a:t>
            </a:r>
            <a:r>
              <a:rPr lang="en-US" sz="2800" dirty="0">
                <a:latin typeface="Times New Roman" panose="02020603050405020304" pitchFamily="18" charset="0"/>
                <a:cs typeface="Times New Roman" panose="02020603050405020304" pitchFamily="18" charset="0"/>
              </a:rPr>
              <a:t>();</a:t>
            </a:r>
          </a:p>
          <a:p>
            <a:endParaRPr lang="en-US" sz="2000" i="0" dirty="0">
              <a:effectLst/>
              <a:latin typeface="Times New Roman" panose="02020603050405020304" pitchFamily="18" charset="0"/>
              <a:cs typeface="Times New Roman" panose="02020603050405020304" pitchFamily="18" charset="0"/>
            </a:endParaRPr>
          </a:p>
          <a:p>
            <a:pPr>
              <a:buNone/>
            </a:pPr>
            <a:endParaRPr lang="en-US" sz="2400" dirty="0"/>
          </a:p>
          <a:p>
            <a:pPr algn="l" fontAlgn="base">
              <a:spcBef>
                <a:spcPts val="1800"/>
              </a:spcBef>
              <a:spcAft>
                <a:spcPts val="1800"/>
              </a:spcAft>
            </a:pPr>
            <a:endParaRPr lang="en-US" sz="2400" b="0" i="0" dirty="0">
              <a:effectLst/>
              <a:latin typeface="Times New Roman" panose="02020603050405020304" pitchFamily="18" charset="0"/>
              <a:cs typeface="Times New Roman" panose="02020603050405020304" pitchFamily="18" charset="0"/>
            </a:endParaRPr>
          </a:p>
          <a:p>
            <a:pPr algn="just" rtl="0" fontAlgn="base">
              <a:spcAft>
                <a:spcPts val="750"/>
              </a:spcAft>
            </a:pPr>
            <a:endParaRPr lang="en-US" sz="2400" b="0" i="0" dirty="0">
              <a:effectLst/>
              <a:latin typeface="Nunito" pitchFamily="2" charset="0"/>
            </a:endParaRPr>
          </a:p>
          <a:p>
            <a:pPr algn="just" rtl="0" fontAlgn="base">
              <a:spcAft>
                <a:spcPts val="750"/>
              </a:spcAft>
            </a:pPr>
            <a:endParaRPr lang="en-US" sz="2400" b="0" i="0" dirty="0">
              <a:effectLst/>
              <a:latin typeface="Times New Roman" panose="02020603050405020304" pitchFamily="18" charset="0"/>
              <a:cs typeface="Times New Roman" panose="02020603050405020304" pitchFamily="18" charset="0"/>
            </a:endParaRPr>
          </a:p>
          <a:p>
            <a:pPr algn="l" rtl="0" fontAlgn="base">
              <a:spcAft>
                <a:spcPts val="750"/>
              </a:spcAft>
            </a:pPr>
            <a:endParaRPr lang="en-IN" sz="24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1067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FE394-2CF2-4C4C-BC8F-8E5E249E9BD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02070744-FA7A-659F-D467-B8FB649595BA}"/>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i="0" dirty="0" err="1">
                <a:solidFill>
                  <a:schemeClr val="bg1"/>
                </a:solidFill>
                <a:effectLst/>
                <a:latin typeface="Times New Roman" panose="02020603050405020304" pitchFamily="18" charset="0"/>
                <a:cs typeface="Times New Roman" panose="02020603050405020304" pitchFamily="18" charset="0"/>
              </a:rPr>
              <a:t>ResultSet</a:t>
            </a:r>
            <a:r>
              <a:rPr lang="en-US" b="1" i="0" dirty="0">
                <a:solidFill>
                  <a:schemeClr val="bg1"/>
                </a:solidFill>
                <a:effectLst/>
                <a:latin typeface="Times New Roman" panose="02020603050405020304" pitchFamily="18" charset="0"/>
                <a:cs typeface="Times New Roman" panose="02020603050405020304" pitchFamily="18" charset="0"/>
              </a:rPr>
              <a:t> Metadata</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4D7F505D-E36E-5230-F268-E649B9AC04BA}"/>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2" name="TextBox 1">
            <a:extLst>
              <a:ext uri="{FF2B5EF4-FFF2-40B4-BE49-F238E27FC236}">
                <a16:creationId xmlns:a16="http://schemas.microsoft.com/office/drawing/2014/main" id="{D67405C0-67FF-4832-4956-93911D74D2B2}"/>
              </a:ext>
            </a:extLst>
          </p:cNvPr>
          <p:cNvSpPr txBox="1"/>
          <p:nvPr/>
        </p:nvSpPr>
        <p:spPr>
          <a:xfrm>
            <a:off x="54428" y="2330450"/>
            <a:ext cx="9035143" cy="6052939"/>
          </a:xfrm>
          <a:prstGeom prst="rect">
            <a:avLst/>
          </a:prstGeom>
          <a:noFill/>
        </p:spPr>
        <p:txBody>
          <a:bodyPr wrap="square" rtlCol="0">
            <a:spAutoFit/>
          </a:bodyPr>
          <a:lstStyle/>
          <a:p>
            <a:pPr marL="457200" indent="-457200" eaLnBrk="1" hangingPunct="1">
              <a:buFont typeface="Arial" panose="020B0604020202020204" pitchFamily="34" charset="0"/>
              <a:buChar char="•"/>
            </a:pPr>
            <a:r>
              <a:rPr lang="en-IN" sz="3200" dirty="0"/>
              <a:t>The metadata means data about data i.e. we can get further information from the data.</a:t>
            </a:r>
          </a:p>
          <a:p>
            <a:pPr marL="457200" indent="-457200" eaLnBrk="1" hangingPunct="1">
              <a:buFont typeface="Arial" panose="020B0604020202020204" pitchFamily="34" charset="0"/>
              <a:buChar char="•"/>
            </a:pPr>
            <a:r>
              <a:rPr lang="en-IN" sz="3200" dirty="0"/>
              <a:t>If you have to get metadata of a table like total number of column, column name, column type etc. , </a:t>
            </a:r>
            <a:r>
              <a:rPr lang="en-IN" sz="3200" dirty="0" err="1"/>
              <a:t>ResultSetMetaData</a:t>
            </a:r>
            <a:r>
              <a:rPr lang="en-IN" sz="3200" dirty="0"/>
              <a:t> interface is useful because it provides methods to get metadata from the </a:t>
            </a:r>
            <a:r>
              <a:rPr lang="en-IN" sz="3200" dirty="0" err="1"/>
              <a:t>ResultSet</a:t>
            </a:r>
            <a:r>
              <a:rPr lang="en-IN" sz="3200" dirty="0"/>
              <a:t> object.</a:t>
            </a:r>
          </a:p>
          <a:p>
            <a:pPr>
              <a:buNone/>
            </a:pPr>
            <a:endParaRPr lang="en-US" sz="2400" dirty="0"/>
          </a:p>
          <a:p>
            <a:pPr algn="l" fontAlgn="base">
              <a:spcBef>
                <a:spcPts val="1800"/>
              </a:spcBef>
              <a:spcAft>
                <a:spcPts val="1800"/>
              </a:spcAft>
            </a:pPr>
            <a:endParaRPr lang="en-US" sz="2400" b="0" i="0" dirty="0">
              <a:effectLst/>
              <a:latin typeface="Times New Roman" panose="02020603050405020304" pitchFamily="18" charset="0"/>
              <a:cs typeface="Times New Roman" panose="02020603050405020304" pitchFamily="18" charset="0"/>
            </a:endParaRPr>
          </a:p>
          <a:p>
            <a:pPr algn="just" rtl="0" fontAlgn="base">
              <a:spcAft>
                <a:spcPts val="750"/>
              </a:spcAft>
            </a:pPr>
            <a:endParaRPr lang="en-US" sz="2400" b="0" i="0" dirty="0">
              <a:effectLst/>
              <a:latin typeface="Nunito" pitchFamily="2" charset="0"/>
            </a:endParaRPr>
          </a:p>
          <a:p>
            <a:pPr algn="just" rtl="0" fontAlgn="base">
              <a:spcAft>
                <a:spcPts val="750"/>
              </a:spcAft>
            </a:pPr>
            <a:endParaRPr lang="en-US" sz="2400" b="0" i="0" dirty="0">
              <a:effectLst/>
              <a:latin typeface="Times New Roman" panose="02020603050405020304" pitchFamily="18" charset="0"/>
              <a:cs typeface="Times New Roman" panose="02020603050405020304" pitchFamily="18" charset="0"/>
            </a:endParaRPr>
          </a:p>
          <a:p>
            <a:pPr algn="l" rtl="0" fontAlgn="base">
              <a:spcAft>
                <a:spcPts val="750"/>
              </a:spcAft>
            </a:pPr>
            <a:endParaRPr lang="en-IN" sz="24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0442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8C3A3-639D-E188-B689-4AABA6C30929}"/>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AAC3437D-8049-C399-CEC7-B41BDD531371}"/>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i="0" dirty="0" err="1">
                <a:solidFill>
                  <a:schemeClr val="bg1"/>
                </a:solidFill>
                <a:effectLst/>
                <a:latin typeface="Times New Roman" panose="02020603050405020304" pitchFamily="18" charset="0"/>
                <a:cs typeface="Times New Roman" panose="02020603050405020304" pitchFamily="18" charset="0"/>
              </a:rPr>
              <a:t>ResultSet</a:t>
            </a:r>
            <a:r>
              <a:rPr lang="en-US" b="1" i="0" dirty="0">
                <a:solidFill>
                  <a:schemeClr val="bg1"/>
                </a:solidFill>
                <a:effectLst/>
                <a:latin typeface="Times New Roman" panose="02020603050405020304" pitchFamily="18" charset="0"/>
                <a:cs typeface="Times New Roman" panose="02020603050405020304" pitchFamily="18" charset="0"/>
              </a:rPr>
              <a:t> Metadata</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FB25798A-EA33-27F9-58CF-397F48FE317C}"/>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pic>
        <p:nvPicPr>
          <p:cNvPr id="5" name="Picture 4">
            <a:extLst>
              <a:ext uri="{FF2B5EF4-FFF2-40B4-BE49-F238E27FC236}">
                <a16:creationId xmlns:a16="http://schemas.microsoft.com/office/drawing/2014/main" id="{BDFFFE90-0499-05AE-2D1C-C8586C5AF2B3}"/>
              </a:ext>
            </a:extLst>
          </p:cNvPr>
          <p:cNvPicPr>
            <a:picLocks noChangeAspect="1"/>
          </p:cNvPicPr>
          <p:nvPr/>
        </p:nvPicPr>
        <p:blipFill>
          <a:blip r:embed="rId4"/>
          <a:stretch>
            <a:fillRect/>
          </a:stretch>
        </p:blipFill>
        <p:spPr>
          <a:xfrm>
            <a:off x="943761" y="2330450"/>
            <a:ext cx="7111668" cy="4351819"/>
          </a:xfrm>
          <a:prstGeom prst="rect">
            <a:avLst/>
          </a:prstGeom>
        </p:spPr>
      </p:pic>
    </p:spTree>
    <p:extLst>
      <p:ext uri="{BB962C8B-B14F-4D97-AF65-F5344CB8AC3E}">
        <p14:creationId xmlns:p14="http://schemas.microsoft.com/office/powerpoint/2010/main" val="2881434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AC97D-98C4-5212-8FE4-6FF45F87C9BA}"/>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E734F66-3EC0-89E7-25E0-195F9981F8C5}"/>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1"/>
                </a:solidFill>
                <a:latin typeface="Times New Roman" panose="02020603050405020304" pitchFamily="18" charset="0"/>
                <a:cs typeface="Times New Roman" panose="02020603050405020304" pitchFamily="18" charset="0"/>
              </a:rPr>
              <a:t>Precompiled Statements</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6621A575-37D2-F043-04AC-5528C87754C0}"/>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2" name="TextBox 1">
            <a:extLst>
              <a:ext uri="{FF2B5EF4-FFF2-40B4-BE49-F238E27FC236}">
                <a16:creationId xmlns:a16="http://schemas.microsoft.com/office/drawing/2014/main" id="{2EB93A7D-52F4-8062-301B-8544EAE9E821}"/>
              </a:ext>
            </a:extLst>
          </p:cNvPr>
          <p:cNvSpPr txBox="1"/>
          <p:nvPr/>
        </p:nvSpPr>
        <p:spPr>
          <a:xfrm>
            <a:off x="0" y="2286000"/>
            <a:ext cx="9046029" cy="440120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A </a:t>
            </a:r>
            <a:r>
              <a:rPr lang="en-US" sz="2800" dirty="0" err="1">
                <a:latin typeface="Times New Roman" panose="02020603050405020304" pitchFamily="18" charset="0"/>
                <a:cs typeface="Times New Roman" panose="02020603050405020304" pitchFamily="18" charset="0"/>
              </a:rPr>
              <a:t>PreparedStatement</a:t>
            </a:r>
            <a:r>
              <a:rPr lang="en-US" sz="2800" dirty="0">
                <a:latin typeface="Times New Roman" panose="02020603050405020304" pitchFamily="18" charset="0"/>
                <a:cs typeface="Times New Roman" panose="02020603050405020304" pitchFamily="18" charset="0"/>
              </a:rPr>
              <a:t> represents a precompiled SQL statement that can be executed multiple times. It accepts parameterized SQL queries, with ? as placeholders for parameters, which can be set dynamically.</a:t>
            </a:r>
          </a:p>
          <a:p>
            <a:endParaRPr lang="en-US"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String query = "INSERT INTO people(name, age)VALUES(?, ?)";</a:t>
            </a:r>
          </a:p>
          <a:p>
            <a:r>
              <a:rPr lang="en-IN" sz="2800" dirty="0" err="1">
                <a:latin typeface="Times New Roman" panose="02020603050405020304" pitchFamily="18" charset="0"/>
                <a:cs typeface="Times New Roman" panose="02020603050405020304" pitchFamily="18" charset="0"/>
              </a:rPr>
              <a:t>PreparedStatement</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pstmt</a:t>
            </a:r>
            <a:r>
              <a:rPr lang="en-IN" sz="2800" dirty="0">
                <a:latin typeface="Times New Roman" panose="02020603050405020304" pitchFamily="18" charset="0"/>
                <a:cs typeface="Times New Roman" panose="02020603050405020304" pitchFamily="18" charset="0"/>
              </a:rPr>
              <a:t> = </a:t>
            </a:r>
            <a:r>
              <a:rPr lang="en-IN" sz="2800" dirty="0" err="1">
                <a:latin typeface="Times New Roman" panose="02020603050405020304" pitchFamily="18" charset="0"/>
                <a:cs typeface="Times New Roman" panose="02020603050405020304" pitchFamily="18" charset="0"/>
              </a:rPr>
              <a:t>con.prepareStatement</a:t>
            </a:r>
            <a:r>
              <a:rPr lang="en-IN" sz="2800" dirty="0">
                <a:latin typeface="Times New Roman" panose="02020603050405020304" pitchFamily="18" charset="0"/>
                <a:cs typeface="Times New Roman" panose="02020603050405020304" pitchFamily="18" charset="0"/>
              </a:rPr>
              <a:t>(query);</a:t>
            </a:r>
          </a:p>
          <a:p>
            <a:r>
              <a:rPr lang="en-IN" sz="2800" dirty="0" err="1">
                <a:latin typeface="Times New Roman" panose="02020603050405020304" pitchFamily="18" charset="0"/>
                <a:cs typeface="Times New Roman" panose="02020603050405020304" pitchFamily="18" charset="0"/>
              </a:rPr>
              <a:t>pstmt.setString</a:t>
            </a:r>
            <a:r>
              <a:rPr lang="en-IN" sz="2800" dirty="0">
                <a:latin typeface="Times New Roman" panose="02020603050405020304" pitchFamily="18" charset="0"/>
                <a:cs typeface="Times New Roman" panose="02020603050405020304" pitchFamily="18" charset="0"/>
              </a:rPr>
              <a:t>(1,"Ayan");</a:t>
            </a:r>
          </a:p>
          <a:p>
            <a:r>
              <a:rPr lang="en-IN" sz="2800" dirty="0" err="1">
                <a:latin typeface="Times New Roman" panose="02020603050405020304" pitchFamily="18" charset="0"/>
                <a:cs typeface="Times New Roman" panose="02020603050405020304" pitchFamily="18" charset="0"/>
              </a:rPr>
              <a:t>ptstmt.setInt</a:t>
            </a:r>
            <a:r>
              <a:rPr lang="en-IN" sz="2800" dirty="0">
                <a:latin typeface="Times New Roman" panose="02020603050405020304" pitchFamily="18" charset="0"/>
                <a:cs typeface="Times New Roman" panose="02020603050405020304" pitchFamily="18" charset="0"/>
              </a:rPr>
              <a:t>(2,25);</a:t>
            </a:r>
          </a:p>
        </p:txBody>
      </p:sp>
    </p:spTree>
    <p:extLst>
      <p:ext uri="{BB962C8B-B14F-4D97-AF65-F5344CB8AC3E}">
        <p14:creationId xmlns:p14="http://schemas.microsoft.com/office/powerpoint/2010/main" val="69465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647C4-27CC-3B89-C41E-B3D4B8A29BC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3794C1ED-EEE5-F7F4-A763-B60E36C025A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1"/>
                </a:solidFill>
                <a:latin typeface="Times New Roman" panose="02020603050405020304" pitchFamily="18" charset="0"/>
                <a:cs typeface="Times New Roman" panose="02020603050405020304" pitchFamily="18" charset="0"/>
              </a:rPr>
              <a:t>Precompiled Statements</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86857949-25CB-C9B4-FCA1-DDA056DF1B32}"/>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2" name="TextBox 1">
            <a:extLst>
              <a:ext uri="{FF2B5EF4-FFF2-40B4-BE49-F238E27FC236}">
                <a16:creationId xmlns:a16="http://schemas.microsoft.com/office/drawing/2014/main" id="{0C5E0915-E1F9-64BC-91EA-AC5DCEA49FF6}"/>
              </a:ext>
            </a:extLst>
          </p:cNvPr>
          <p:cNvSpPr txBox="1"/>
          <p:nvPr/>
        </p:nvSpPr>
        <p:spPr>
          <a:xfrm>
            <a:off x="0" y="2286000"/>
            <a:ext cx="9046029" cy="4093428"/>
          </a:xfrm>
          <a:prstGeom prst="rect">
            <a:avLst/>
          </a:prstGeom>
          <a:noFill/>
        </p:spPr>
        <p:txBody>
          <a:bodyPr wrap="square" rtlCol="0">
            <a:spAutoFit/>
          </a:bodyPr>
          <a:lstStyle/>
          <a:p>
            <a:r>
              <a:rPr lang="en-US" sz="2600" dirty="0">
                <a:latin typeface="Times New Roman" panose="02020603050405020304" pitchFamily="18" charset="0"/>
                <a:cs typeface="Times New Roman" panose="02020603050405020304" pitchFamily="18" charset="0"/>
              </a:rPr>
              <a:t>Once the </a:t>
            </a:r>
            <a:r>
              <a:rPr lang="en-US" sz="2600" dirty="0" err="1">
                <a:latin typeface="Times New Roman" panose="02020603050405020304" pitchFamily="18" charset="0"/>
                <a:cs typeface="Times New Roman" panose="02020603050405020304" pitchFamily="18" charset="0"/>
              </a:rPr>
              <a:t>PreparedStatement</a:t>
            </a:r>
            <a:r>
              <a:rPr lang="en-US" sz="2600" dirty="0">
                <a:latin typeface="Times New Roman" panose="02020603050405020304" pitchFamily="18" charset="0"/>
                <a:cs typeface="Times New Roman" panose="02020603050405020304" pitchFamily="18" charset="0"/>
              </a:rPr>
              <a:t> object is created, there are three ways to execute it: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execute(): This returns a </a:t>
            </a:r>
            <a:r>
              <a:rPr lang="en-US" sz="2600" dirty="0" err="1">
                <a:latin typeface="Times New Roman" panose="02020603050405020304" pitchFamily="18" charset="0"/>
                <a:cs typeface="Times New Roman" panose="02020603050405020304" pitchFamily="18" charset="0"/>
              </a:rPr>
              <a:t>boolean</a:t>
            </a:r>
            <a:r>
              <a:rPr lang="en-US" sz="2600" dirty="0">
                <a:latin typeface="Times New Roman" panose="02020603050405020304" pitchFamily="18" charset="0"/>
                <a:cs typeface="Times New Roman" panose="02020603050405020304" pitchFamily="18" charset="0"/>
              </a:rPr>
              <a:t> value and executes a static SQL statement that is present in the prepared statement object.</a:t>
            </a:r>
          </a:p>
          <a:p>
            <a:r>
              <a:rPr lang="en-US" sz="2600" dirty="0" err="1">
                <a:latin typeface="Times New Roman" panose="02020603050405020304" pitchFamily="18" charset="0"/>
                <a:cs typeface="Times New Roman" panose="02020603050405020304" pitchFamily="18" charset="0"/>
              </a:rPr>
              <a:t>executeQuery</a:t>
            </a:r>
            <a:r>
              <a:rPr lang="en-US" sz="2600" dirty="0">
                <a:latin typeface="Times New Roman" panose="02020603050405020304" pitchFamily="18" charset="0"/>
                <a:cs typeface="Times New Roman" panose="02020603050405020304" pitchFamily="18" charset="0"/>
              </a:rPr>
              <a:t>(): Returns a </a:t>
            </a:r>
            <a:r>
              <a:rPr lang="en-US" sz="2600" dirty="0" err="1">
                <a:latin typeface="Times New Roman" panose="02020603050405020304" pitchFamily="18" charset="0"/>
                <a:cs typeface="Times New Roman" panose="02020603050405020304" pitchFamily="18" charset="0"/>
              </a:rPr>
              <a:t>ResultSet</a:t>
            </a:r>
            <a:r>
              <a:rPr lang="en-US" sz="2600" dirty="0">
                <a:latin typeface="Times New Roman" panose="02020603050405020304" pitchFamily="18" charset="0"/>
                <a:cs typeface="Times New Roman" panose="02020603050405020304" pitchFamily="18" charset="0"/>
              </a:rPr>
              <a:t> from the current prepared statement.</a:t>
            </a:r>
          </a:p>
          <a:p>
            <a:r>
              <a:rPr lang="en-US" sz="2600" dirty="0" err="1">
                <a:latin typeface="Times New Roman" panose="02020603050405020304" pitchFamily="18" charset="0"/>
                <a:cs typeface="Times New Roman" panose="02020603050405020304" pitchFamily="18" charset="0"/>
              </a:rPr>
              <a:t>executeUpdate</a:t>
            </a:r>
            <a:r>
              <a:rPr lang="en-US" sz="2600" dirty="0">
                <a:latin typeface="Times New Roman" panose="02020603050405020304" pitchFamily="18" charset="0"/>
                <a:cs typeface="Times New Roman" panose="02020603050405020304" pitchFamily="18" charset="0"/>
              </a:rPr>
              <a:t>(): Returns the number of rows affected by the DML statements such as INSERT, DELETE, and more that is present in the current Prepared Statement.</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6560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18657-9516-17E7-3FE1-2D977EF1E18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C4BE5A6-CC0D-571E-EDD6-96A73E2297D3}"/>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1"/>
                </a:solidFill>
                <a:latin typeface="Times New Roman" panose="02020603050405020304" pitchFamily="18" charset="0"/>
                <a:cs typeface="Times New Roman" panose="02020603050405020304" pitchFamily="18" charset="0"/>
              </a:rPr>
              <a:t>Callable Statements </a:t>
            </a:r>
            <a:endParaRPr lang="en-IN" b="1" i="0" dirty="0">
              <a:solidFill>
                <a:schemeClr val="bg1"/>
              </a:solidFill>
              <a:effectLst/>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46A609DD-9CD3-FCFC-D747-A7EB74115B15}"/>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3000" b="1" dirty="0">
              <a:solidFill>
                <a:schemeClr val="bg1"/>
              </a:solidFill>
              <a:cs typeface="Times New Roman" panose="02020603050405020304" pitchFamily="18" charset="0"/>
            </a:endParaRPr>
          </a:p>
        </p:txBody>
      </p:sp>
      <p:sp>
        <p:nvSpPr>
          <p:cNvPr id="2" name="TextBox 1">
            <a:extLst>
              <a:ext uri="{FF2B5EF4-FFF2-40B4-BE49-F238E27FC236}">
                <a16:creationId xmlns:a16="http://schemas.microsoft.com/office/drawing/2014/main" id="{4DC9A62C-BF88-4720-1A8F-0A91D444DF4D}"/>
              </a:ext>
            </a:extLst>
          </p:cNvPr>
          <p:cNvSpPr txBox="1"/>
          <p:nvPr/>
        </p:nvSpPr>
        <p:spPr>
          <a:xfrm>
            <a:off x="0" y="2286000"/>
            <a:ext cx="9046029" cy="3970318"/>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A </a:t>
            </a:r>
            <a:r>
              <a:rPr lang="en-US" sz="2800" dirty="0" err="1">
                <a:latin typeface="Times New Roman" panose="02020603050405020304" pitchFamily="18" charset="0"/>
                <a:cs typeface="Times New Roman" panose="02020603050405020304" pitchFamily="18" charset="0"/>
              </a:rPr>
              <a:t>CallableStatement</a:t>
            </a:r>
            <a:r>
              <a:rPr lang="en-US" sz="2800" dirty="0">
                <a:latin typeface="Times New Roman" panose="02020603050405020304" pitchFamily="18" charset="0"/>
                <a:cs typeface="Times New Roman" panose="02020603050405020304" pitchFamily="18" charset="0"/>
              </a:rPr>
              <a:t> is used to execute stored procedures in the database. Stored procedures are precompiled SQL statements that can be called with parameters. They are useful for executing complex operations that involve multiple SQL statements.</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Syntax:-</a:t>
            </a:r>
          </a:p>
          <a:p>
            <a:r>
              <a:rPr lang="en-US" sz="2800" dirty="0" err="1">
                <a:latin typeface="Times New Roman" panose="02020603050405020304" pitchFamily="18" charset="0"/>
                <a:cs typeface="Times New Roman" panose="02020603050405020304" pitchFamily="18" charset="0"/>
              </a:rPr>
              <a:t>CallableStatement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cstmt</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con.prepareCall</a:t>
            </a:r>
            <a:r>
              <a:rPr lang="en-US" sz="2800" dirty="0">
                <a:latin typeface="Times New Roman" panose="02020603050405020304" pitchFamily="18" charset="0"/>
                <a:cs typeface="Times New Roman" panose="02020603050405020304" pitchFamily="18" charset="0"/>
              </a:rPr>
              <a:t>("{call </a:t>
            </a:r>
            <a:r>
              <a:rPr lang="en-US" sz="2800" dirty="0" err="1">
                <a:latin typeface="Times New Roman" panose="02020603050405020304" pitchFamily="18" charset="0"/>
                <a:cs typeface="Times New Roman" panose="02020603050405020304" pitchFamily="18" charset="0"/>
              </a:rPr>
              <a:t>ProcedureName</a:t>
            </a: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1874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7"/>
</p:tagLst>
</file>

<file path=ppt/tags/tag2.xml><?xml version="1.0" encoding="utf-8"?>
<p:tagLst xmlns:a="http://schemas.openxmlformats.org/drawingml/2006/main" xmlns:r="http://schemas.openxmlformats.org/officeDocument/2006/relationships" xmlns:p="http://schemas.openxmlformats.org/presentationml/2006/main">
  <p:tag name="AS_UNIQUEID" val="38"/>
</p:tagLst>
</file>

<file path=ppt/tags/tag3.xml><?xml version="1.0" encoding="utf-8"?>
<p:tagLst xmlns:a="http://schemas.openxmlformats.org/drawingml/2006/main" xmlns:r="http://schemas.openxmlformats.org/officeDocument/2006/relationships" xmlns:p="http://schemas.openxmlformats.org/presentationml/2006/main">
  <p:tag name="AS_UNIQUEID" val="40"/>
</p:tagLst>
</file>

<file path=ppt/tags/tag4.xml><?xml version="1.0" encoding="utf-8"?>
<p:tagLst xmlns:a="http://schemas.openxmlformats.org/drawingml/2006/main" xmlns:r="http://schemas.openxmlformats.org/officeDocument/2006/relationships" xmlns:p="http://schemas.openxmlformats.org/presentationml/2006/main">
  <p:tag name="AS_UNIQUEID" val="41"/>
</p:tagLst>
</file>

<file path=ppt/tags/tag5.xml><?xml version="1.0" encoding="utf-8"?>
<p:tagLst xmlns:a="http://schemas.openxmlformats.org/drawingml/2006/main" xmlns:r="http://schemas.openxmlformats.org/officeDocument/2006/relationships" xmlns:p="http://schemas.openxmlformats.org/presentationml/2006/main">
  <p:tag name="AS_UNIQUEID" val="42"/>
</p:tagLst>
</file>

<file path=ppt/tags/tag6.xml><?xml version="1.0" encoding="utf-8"?>
<p:tagLst xmlns:a="http://schemas.openxmlformats.org/drawingml/2006/main" xmlns:r="http://schemas.openxmlformats.org/officeDocument/2006/relationships" xmlns:p="http://schemas.openxmlformats.org/presentationml/2006/main">
  <p:tag name="AS_UNIQUEID" val="43"/>
</p:tagLst>
</file>

<file path=ppt/tags/tag7.xml><?xml version="1.0" encoding="utf-8"?>
<p:tagLst xmlns:a="http://schemas.openxmlformats.org/drawingml/2006/main" xmlns:r="http://schemas.openxmlformats.org/officeDocument/2006/relationships" xmlns:p="http://schemas.openxmlformats.org/presentationml/2006/main">
  <p:tag name="AS_UNIQUEID" val="60"/>
</p:tagLst>
</file>

<file path=ppt/tags/tag8.xml><?xml version="1.0" encoding="utf-8"?>
<p:tagLst xmlns:a="http://schemas.openxmlformats.org/drawingml/2006/main" xmlns:r="http://schemas.openxmlformats.org/officeDocument/2006/relationships" xmlns:p="http://schemas.openxmlformats.org/presentationml/2006/main">
  <p:tag name="AS_UNIQUEID" val="92"/>
</p:tagLst>
</file>

<file path=ppt/tags/tag9.xml><?xml version="1.0" encoding="utf-8"?>
<p:tagLst xmlns:a="http://schemas.openxmlformats.org/drawingml/2006/main" xmlns:r="http://schemas.openxmlformats.org/officeDocument/2006/relationships" xmlns:p="http://schemas.openxmlformats.org/presentationml/2006/main">
  <p:tag name="AS_UNIQUEID" val="93"/>
</p:tagLst>
</file>

<file path=ppt/tags/tag10.xml><?xml version="1.0" encoding="utf-8"?>
<p:tagLst xmlns:a="http://schemas.openxmlformats.org/drawingml/2006/main" xmlns:r="http://schemas.openxmlformats.org/officeDocument/2006/relationships" xmlns:p="http://schemas.openxmlformats.org/presentationml/2006/main">
  <p:tag name="AS_UNIQUEID" val="94"/>
</p:tagLst>
</file>

<file path=ppt/tags/tag11.xml><?xml version="1.0" encoding="utf-8"?>
<p:tagLst xmlns:a="http://schemas.openxmlformats.org/drawingml/2006/main" xmlns:r="http://schemas.openxmlformats.org/officeDocument/2006/relationships" xmlns:p="http://schemas.openxmlformats.org/presentationml/2006/main">
  <p:tag name="AS_UNIQUEID" val="95"/>
</p:tagLst>
</file>

<file path=ppt/tags/tag12.xml><?xml version="1.0" encoding="utf-8"?>
<p:tagLst xmlns:a="http://schemas.openxmlformats.org/drawingml/2006/main" xmlns:r="http://schemas.openxmlformats.org/officeDocument/2006/relationships" xmlns:p="http://schemas.openxmlformats.org/presentationml/2006/main">
  <p:tag name="AS_UNIQUEID" val="96"/>
</p:tagLst>
</file>

<file path=ppt/tags/tag13.xml><?xml version="1.0" encoding="utf-8"?>
<p:tagLst xmlns:a="http://schemas.openxmlformats.org/drawingml/2006/main" xmlns:r="http://schemas.openxmlformats.org/officeDocument/2006/relationships" xmlns:p="http://schemas.openxmlformats.org/presentationml/2006/main">
  <p:tag name="AS_UNIQUEID" val="97"/>
</p:tagLst>
</file>

<file path=ppt/tags/tag14.xml><?xml version="1.0" encoding="utf-8"?>
<p:tagLst xmlns:a="http://schemas.openxmlformats.org/drawingml/2006/main" xmlns:r="http://schemas.openxmlformats.org/officeDocument/2006/relationships" xmlns:p="http://schemas.openxmlformats.org/presentationml/2006/main">
  <p:tag name="AS_UNIQUEID" val="46"/>
</p:tagLst>
</file>

<file path=ppt/tags/tag15.xml><?xml version="1.0" encoding="utf-8"?>
<p:tagLst xmlns:a="http://schemas.openxmlformats.org/drawingml/2006/main" xmlns:r="http://schemas.openxmlformats.org/officeDocument/2006/relationships" xmlns:p="http://schemas.openxmlformats.org/presentationml/2006/main">
  <p:tag name="AS_UNIQUEID" val="48"/>
</p:tagLst>
</file>

<file path=ppt/tags/tag16.xml><?xml version="1.0" encoding="utf-8"?>
<p:tagLst xmlns:a="http://schemas.openxmlformats.org/drawingml/2006/main" xmlns:r="http://schemas.openxmlformats.org/officeDocument/2006/relationships" xmlns:p="http://schemas.openxmlformats.org/presentationml/2006/main">
  <p:tag name="AS_UNIQUEID" val="51"/>
</p:tagLst>
</file>

<file path=ppt/tags/tag17.xml><?xml version="1.0" encoding="utf-8"?>
<p:tagLst xmlns:a="http://schemas.openxmlformats.org/drawingml/2006/main" xmlns:r="http://schemas.openxmlformats.org/officeDocument/2006/relationships" xmlns:p="http://schemas.openxmlformats.org/presentationml/2006/main">
  <p:tag name="AS_UNIQUEID" val="52"/>
</p:tagLst>
</file>

<file path=ppt/tags/tag18.xml><?xml version="1.0" encoding="utf-8"?>
<p:tagLst xmlns:a="http://schemas.openxmlformats.org/drawingml/2006/main" xmlns:r="http://schemas.openxmlformats.org/officeDocument/2006/relationships" xmlns:p="http://schemas.openxmlformats.org/presentationml/2006/main">
  <p:tag name="AS_UNIQUEID" val="53"/>
</p:tagLst>
</file>

<file path=ppt/tags/tag19.xml><?xml version="1.0" encoding="utf-8"?>
<p:tagLst xmlns:a="http://schemas.openxmlformats.org/drawingml/2006/main" xmlns:r="http://schemas.openxmlformats.org/officeDocument/2006/relationships" xmlns:p="http://schemas.openxmlformats.org/presentationml/2006/main">
  <p:tag name="AS_UNIQUEID" val="61"/>
</p:tagLst>
</file>

<file path=ppt/tags/tag20.xml><?xml version="1.0" encoding="utf-8"?>
<p:tagLst xmlns:a="http://schemas.openxmlformats.org/drawingml/2006/main" xmlns:r="http://schemas.openxmlformats.org/officeDocument/2006/relationships" xmlns:p="http://schemas.openxmlformats.org/presentationml/2006/main">
  <p:tag name="AS_UNIQUEID" val="62"/>
</p:tagLst>
</file>

<file path=ppt/tags/tag21.xml><?xml version="1.0" encoding="utf-8"?>
<p:tagLst xmlns:a="http://schemas.openxmlformats.org/drawingml/2006/main" xmlns:r="http://schemas.openxmlformats.org/officeDocument/2006/relationships" xmlns:p="http://schemas.openxmlformats.org/presentationml/2006/main">
  <p:tag name="AS_UNIQUEID" val="61"/>
</p:tagLst>
</file>

<file path=ppt/tags/tag22.xml><?xml version="1.0" encoding="utf-8"?>
<p:tagLst xmlns:a="http://schemas.openxmlformats.org/drawingml/2006/main" xmlns:r="http://schemas.openxmlformats.org/officeDocument/2006/relationships" xmlns:p="http://schemas.openxmlformats.org/presentationml/2006/main">
  <p:tag name="AS_UNIQUEID" val="62"/>
</p:tagLst>
</file>

<file path=ppt/tags/tag23.xml><?xml version="1.0" encoding="utf-8"?>
<p:tagLst xmlns:a="http://schemas.openxmlformats.org/drawingml/2006/main" xmlns:r="http://schemas.openxmlformats.org/officeDocument/2006/relationships" xmlns:p="http://schemas.openxmlformats.org/presentationml/2006/main">
  <p:tag name="AS_UNIQUEID" val="61"/>
</p:tagLst>
</file>

<file path=ppt/tags/tag24.xml><?xml version="1.0" encoding="utf-8"?>
<p:tagLst xmlns:a="http://schemas.openxmlformats.org/drawingml/2006/main" xmlns:r="http://schemas.openxmlformats.org/officeDocument/2006/relationships" xmlns:p="http://schemas.openxmlformats.org/presentationml/2006/main">
  <p:tag name="AS_UNIQUEID" val="62"/>
</p:tagLst>
</file>

<file path=ppt/tags/tag25.xml><?xml version="1.0" encoding="utf-8"?>
<p:tagLst xmlns:a="http://schemas.openxmlformats.org/drawingml/2006/main" xmlns:r="http://schemas.openxmlformats.org/officeDocument/2006/relationships" xmlns:p="http://schemas.openxmlformats.org/presentationml/2006/main">
  <p:tag name="AS_UNIQUEID" val="61"/>
</p:tagLst>
</file>

<file path=ppt/tags/tag26.xml><?xml version="1.0" encoding="utf-8"?>
<p:tagLst xmlns:a="http://schemas.openxmlformats.org/drawingml/2006/main" xmlns:r="http://schemas.openxmlformats.org/officeDocument/2006/relationships" xmlns:p="http://schemas.openxmlformats.org/presentationml/2006/main">
  <p:tag name="AS_UNIQUEID" val="62"/>
</p:tagLst>
</file>

<file path=ppt/tags/tag27.xml><?xml version="1.0" encoding="utf-8"?>
<p:tagLst xmlns:a="http://schemas.openxmlformats.org/drawingml/2006/main" xmlns:r="http://schemas.openxmlformats.org/officeDocument/2006/relationships" xmlns:p="http://schemas.openxmlformats.org/presentationml/2006/main">
  <p:tag name="AS_UNIQUEID" val="61"/>
</p:tagLst>
</file>

<file path=ppt/tags/tag28.xml><?xml version="1.0" encoding="utf-8"?>
<p:tagLst xmlns:a="http://schemas.openxmlformats.org/drawingml/2006/main" xmlns:r="http://schemas.openxmlformats.org/officeDocument/2006/relationships" xmlns:p="http://schemas.openxmlformats.org/presentationml/2006/main">
  <p:tag name="AS_UNIQUEID" val="62"/>
</p:tagLst>
</file>

<file path=ppt/tags/tag29.xml><?xml version="1.0" encoding="utf-8"?>
<p:tagLst xmlns:a="http://schemas.openxmlformats.org/drawingml/2006/main" xmlns:r="http://schemas.openxmlformats.org/officeDocument/2006/relationships" xmlns:p="http://schemas.openxmlformats.org/presentationml/2006/main">
  <p:tag name="AS_UNIQUEID" val="61"/>
</p:tagLst>
</file>

<file path=ppt/tags/tag30.xml><?xml version="1.0" encoding="utf-8"?>
<p:tagLst xmlns:a="http://schemas.openxmlformats.org/drawingml/2006/main" xmlns:r="http://schemas.openxmlformats.org/officeDocument/2006/relationships" xmlns:p="http://schemas.openxmlformats.org/presentationml/2006/main">
  <p:tag name="AS_UNIQUEID" val="62"/>
</p:tagLst>
</file>

<file path=ppt/tags/tag31.xml><?xml version="1.0" encoding="utf-8"?>
<p:tagLst xmlns:a="http://schemas.openxmlformats.org/drawingml/2006/main" xmlns:r="http://schemas.openxmlformats.org/officeDocument/2006/relationships" xmlns:p="http://schemas.openxmlformats.org/presentationml/2006/main">
  <p:tag name="AS_UNIQUEID" val="61"/>
</p:tagLst>
</file>

<file path=ppt/tags/tag32.xml><?xml version="1.0" encoding="utf-8"?>
<p:tagLst xmlns:a="http://schemas.openxmlformats.org/drawingml/2006/main" xmlns:r="http://schemas.openxmlformats.org/officeDocument/2006/relationships" xmlns:p="http://schemas.openxmlformats.org/presentationml/2006/main">
  <p:tag name="AS_UNIQUEID" val="62"/>
</p:tagLst>
</file>

<file path=ppt/tags/tag33.xml><?xml version="1.0" encoding="utf-8"?>
<p:tagLst xmlns:a="http://schemas.openxmlformats.org/drawingml/2006/main" xmlns:r="http://schemas.openxmlformats.org/officeDocument/2006/relationships" xmlns:p="http://schemas.openxmlformats.org/presentationml/2006/main">
  <p:tag name="AS_UNIQUEID" val="61"/>
</p:tagLst>
</file>

<file path=ppt/tags/tag34.xml><?xml version="1.0" encoding="utf-8"?>
<p:tagLst xmlns:a="http://schemas.openxmlformats.org/drawingml/2006/main" xmlns:r="http://schemas.openxmlformats.org/officeDocument/2006/relationships" xmlns:p="http://schemas.openxmlformats.org/presentationml/2006/main">
  <p:tag name="AS_UNIQUEID" val="62"/>
</p:tagLst>
</file>

<file path=ppt/tags/tag35.xml><?xml version="1.0" encoding="utf-8"?>
<p:tagLst xmlns:a="http://schemas.openxmlformats.org/drawingml/2006/main" xmlns:r="http://schemas.openxmlformats.org/officeDocument/2006/relationships" xmlns:p="http://schemas.openxmlformats.org/presentationml/2006/main">
  <p:tag name="AS_UNIQUEID" val="61"/>
</p:tagLst>
</file>

<file path=ppt/tags/tag36.xml><?xml version="1.0" encoding="utf-8"?>
<p:tagLst xmlns:a="http://schemas.openxmlformats.org/drawingml/2006/main" xmlns:r="http://schemas.openxmlformats.org/officeDocument/2006/relationships" xmlns:p="http://schemas.openxmlformats.org/presentationml/2006/main">
  <p:tag name="AS_UNIQUEID" val="62"/>
</p:tagLst>
</file>

<file path=ppt/tags/tag37.xml><?xml version="1.0" encoding="utf-8"?>
<p:tagLst xmlns:a="http://schemas.openxmlformats.org/drawingml/2006/main" xmlns:r="http://schemas.openxmlformats.org/officeDocument/2006/relationships" xmlns:p="http://schemas.openxmlformats.org/presentationml/2006/main">
  <p:tag name="AS_UNIQUEID" val="61"/>
</p:tagLst>
</file>

<file path=ppt/tags/tag38.xml><?xml version="1.0" encoding="utf-8"?>
<p:tagLst xmlns:a="http://schemas.openxmlformats.org/drawingml/2006/main" xmlns:r="http://schemas.openxmlformats.org/officeDocument/2006/relationships" xmlns:p="http://schemas.openxmlformats.org/presentationml/2006/main">
  <p:tag name="AS_UNIQUEID" val="62"/>
</p:tagLst>
</file>

<file path=ppt/tags/tag39.xml><?xml version="1.0" encoding="utf-8"?>
<p:tagLst xmlns:a="http://schemas.openxmlformats.org/drawingml/2006/main" xmlns:r="http://schemas.openxmlformats.org/officeDocument/2006/relationships" xmlns:p="http://schemas.openxmlformats.org/presentationml/2006/main">
  <p:tag name="AS_UNIQUEID" val="61"/>
</p:tagLst>
</file>

<file path=ppt/tags/tag40.xml><?xml version="1.0" encoding="utf-8"?>
<p:tagLst xmlns:a="http://schemas.openxmlformats.org/drawingml/2006/main" xmlns:r="http://schemas.openxmlformats.org/officeDocument/2006/relationships" xmlns:p="http://schemas.openxmlformats.org/presentationml/2006/main">
  <p:tag name="AS_UNIQUEID" val="62"/>
</p:tagLst>
</file>

<file path=ppt/tags/tag41.xml><?xml version="1.0" encoding="utf-8"?>
<p:tagLst xmlns:a="http://schemas.openxmlformats.org/drawingml/2006/main" xmlns:r="http://schemas.openxmlformats.org/officeDocument/2006/relationships" xmlns:p="http://schemas.openxmlformats.org/presentationml/2006/main">
  <p:tag name="AS_UNIQUEID" val="61"/>
</p:tagLst>
</file>

<file path=ppt/tags/tag42.xml><?xml version="1.0" encoding="utf-8"?>
<p:tagLst xmlns:a="http://schemas.openxmlformats.org/drawingml/2006/main" xmlns:r="http://schemas.openxmlformats.org/officeDocument/2006/relationships" xmlns:p="http://schemas.openxmlformats.org/presentationml/2006/main">
  <p:tag name="AS_UNIQUEID" val="62"/>
</p:tagLst>
</file>

<file path=ppt/tags/tag43.xml><?xml version="1.0" encoding="utf-8"?>
<p:tagLst xmlns:a="http://schemas.openxmlformats.org/drawingml/2006/main" xmlns:r="http://schemas.openxmlformats.org/officeDocument/2006/relationships" xmlns:p="http://schemas.openxmlformats.org/presentationml/2006/main">
  <p:tag name="AS_UNIQUEID" val="61"/>
</p:tagLst>
</file>

<file path=ppt/tags/tag44.xml><?xml version="1.0" encoding="utf-8"?>
<p:tagLst xmlns:a="http://schemas.openxmlformats.org/drawingml/2006/main" xmlns:r="http://schemas.openxmlformats.org/officeDocument/2006/relationships" xmlns:p="http://schemas.openxmlformats.org/presentationml/2006/main">
  <p:tag name="AS_UNIQUEID" val="62"/>
</p:tagLst>
</file>

<file path=ppt/tags/tag45.xml><?xml version="1.0" encoding="utf-8"?>
<p:tagLst xmlns:a="http://schemas.openxmlformats.org/drawingml/2006/main" xmlns:r="http://schemas.openxmlformats.org/officeDocument/2006/relationships" xmlns:p="http://schemas.openxmlformats.org/presentationml/2006/main">
  <p:tag name="AS_UNIQUEID" val="61"/>
</p:tagLst>
</file>

<file path=ppt/tags/tag46.xml><?xml version="1.0" encoding="utf-8"?>
<p:tagLst xmlns:a="http://schemas.openxmlformats.org/drawingml/2006/main" xmlns:r="http://schemas.openxmlformats.org/officeDocument/2006/relationships" xmlns:p="http://schemas.openxmlformats.org/presentationml/2006/main">
  <p:tag name="AS_UNIQUEID" val="62"/>
</p:tagLst>
</file>

<file path=ppt/tags/tag47.xml><?xml version="1.0" encoding="utf-8"?>
<p:tagLst xmlns:a="http://schemas.openxmlformats.org/drawingml/2006/main" xmlns:r="http://schemas.openxmlformats.org/officeDocument/2006/relationships" xmlns:p="http://schemas.openxmlformats.org/presentationml/2006/main">
  <p:tag name="AS_UNIQUEID" val="61"/>
</p:tagLst>
</file>

<file path=ppt/tags/tag48.xml><?xml version="1.0" encoding="utf-8"?>
<p:tagLst xmlns:a="http://schemas.openxmlformats.org/drawingml/2006/main" xmlns:r="http://schemas.openxmlformats.org/officeDocument/2006/relationships" xmlns:p="http://schemas.openxmlformats.org/presentationml/2006/main">
  <p:tag name="AS_UNIQUEID" val="62"/>
</p:tagLst>
</file>

<file path=ppt/tags/tag49.xml><?xml version="1.0" encoding="utf-8"?>
<p:tagLst xmlns:a="http://schemas.openxmlformats.org/drawingml/2006/main" xmlns:r="http://schemas.openxmlformats.org/officeDocument/2006/relationships" xmlns:p="http://schemas.openxmlformats.org/presentationml/2006/main">
  <p:tag name="AS_UNIQUEID" val="61"/>
</p:tagLst>
</file>

<file path=ppt/tags/tag50.xml><?xml version="1.0" encoding="utf-8"?>
<p:tagLst xmlns:a="http://schemas.openxmlformats.org/drawingml/2006/main" xmlns:r="http://schemas.openxmlformats.org/officeDocument/2006/relationships" xmlns:p="http://schemas.openxmlformats.org/presentationml/2006/main">
  <p:tag name="AS_UNIQUEID" val="62"/>
</p:tagLst>
</file>

<file path=ppt/tags/tag51.xml><?xml version="1.0" encoding="utf-8"?>
<p:tagLst xmlns:a="http://schemas.openxmlformats.org/drawingml/2006/main" xmlns:r="http://schemas.openxmlformats.org/officeDocument/2006/relationships" xmlns:p="http://schemas.openxmlformats.org/presentationml/2006/main">
  <p:tag name="AS_UNIQUEID" val="61"/>
</p:tagLst>
</file>

<file path=ppt/tags/tag52.xml><?xml version="1.0" encoding="utf-8"?>
<p:tagLst xmlns:a="http://schemas.openxmlformats.org/drawingml/2006/main" xmlns:r="http://schemas.openxmlformats.org/officeDocument/2006/relationships" xmlns:p="http://schemas.openxmlformats.org/presentationml/2006/main">
  <p:tag name="AS_UNIQUEID" val="62"/>
</p:tagLst>
</file>

<file path=ppt/tags/tag53.xml><?xml version="1.0" encoding="utf-8"?>
<p:tagLst xmlns:a="http://schemas.openxmlformats.org/drawingml/2006/main" xmlns:r="http://schemas.openxmlformats.org/officeDocument/2006/relationships" xmlns:p="http://schemas.openxmlformats.org/presentationml/2006/main">
  <p:tag name="AS_UNIQUEID" val="61"/>
</p:tagLst>
</file>

<file path=ppt/tags/tag54.xml><?xml version="1.0" encoding="utf-8"?>
<p:tagLst xmlns:a="http://schemas.openxmlformats.org/drawingml/2006/main" xmlns:r="http://schemas.openxmlformats.org/officeDocument/2006/relationships" xmlns:p="http://schemas.openxmlformats.org/presentationml/2006/main">
  <p:tag name="AS_UNIQUEID" val="62"/>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1073</TotalTime>
  <Words>1030</Words>
  <Application>Microsoft Office PowerPoint</Application>
  <PresentationFormat>On-screen Show (4:3)</PresentationFormat>
  <Paragraphs>131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Nunito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Kumar</dc:creator>
  <cp:lastModifiedBy>Gaurav Kumar</cp:lastModifiedBy>
  <cp:revision>130</cp:revision>
  <dcterms:created xsi:type="dcterms:W3CDTF">2024-08-22T07:30:41Z</dcterms:created>
  <dcterms:modified xsi:type="dcterms:W3CDTF">2026-07-17T06:09:27Z</dcterms:modified>
</cp:coreProperties>
</file>