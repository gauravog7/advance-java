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23" r:id="rId3"/>
    <p:sldId id="349" r:id="rId4"/>
    <p:sldId id="325" r:id="rId5"/>
    <p:sldId id="351" r:id="rId6"/>
    <p:sldId id="326" r:id="rId7"/>
    <p:sldId id="327" r:id="rId8"/>
    <p:sldId id="352" r:id="rId9"/>
    <p:sldId id="353" r:id="rId10"/>
    <p:sldId id="328" r:id="rId11"/>
    <p:sldId id="329" r:id="rId12"/>
    <p:sldId id="330" r:id="rId13"/>
    <p:sldId id="354" r:id="rId14"/>
    <p:sldId id="331" r:id="rId15"/>
    <p:sldId id="341" r:id="rId16"/>
    <p:sldId id="332" r:id="rId17"/>
    <p:sldId id="355" r:id="rId18"/>
    <p:sldId id="356" r:id="rId19"/>
    <p:sldId id="357" r:id="rId20"/>
    <p:sldId id="333" r:id="rId21"/>
    <p:sldId id="334" r:id="rId22"/>
    <p:sldId id="338" r:id="rId23"/>
    <p:sldId id="336" r:id="rId24"/>
    <p:sldId id="337" r:id="rId25"/>
    <p:sldId id="342" r:id="rId26"/>
    <p:sldId id="335" r:id="rId27"/>
    <p:sldId id="343" r:id="rId28"/>
    <p:sldId id="344" r:id="rId29"/>
    <p:sldId id="339" r:id="rId30"/>
    <p:sldId id="340" r:id="rId31"/>
    <p:sldId id="345" r:id="rId32"/>
    <p:sldId id="346"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5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xml"/><Relationship Id="rId7"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Box 4">
            <a:extLst>
              <a:ext uri="{FF2B5EF4-FFF2-40B4-BE49-F238E27FC236}">
                <a16:creationId xmlns:a16="http://schemas.microsoft.com/office/drawing/2014/main" id="{41511A9E-5E23-E796-A37C-5828BC6BC5E9}"/>
              </a:ext>
            </a:extLst>
          </p:cNvPr>
          <p:cNvSpPr>
            <a:spLocks noChangeArrowheads="1"/>
          </p:cNvSpPr>
          <p:nvPr userDrawn="1">
            <p:custDataLst>
              <p:tags r:id="rId1"/>
            </p:custDataLst>
          </p:nvPr>
        </p:nvSpPr>
        <p:spPr bwMode="auto">
          <a:xfrm>
            <a:off x="1168400" y="1744663"/>
            <a:ext cx="685800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3500" b="1" dirty="0">
                <a:solidFill>
                  <a:srgbClr val="000000"/>
                </a:solidFill>
                <a:cs typeface="Times New Roman" panose="02020603050405020304" pitchFamily="18" charset="0"/>
              </a:rPr>
              <a:t>Advance</a:t>
            </a:r>
            <a:r>
              <a:rPr lang="en-IN" altLang="en-US" sz="3500" b="1" dirty="0">
                <a:solidFill>
                  <a:srgbClr val="000000"/>
                </a:solidFill>
                <a:cs typeface="Times New Roman" panose="02020603050405020304" pitchFamily="18" charset="0"/>
              </a:rPr>
              <a:t> Java</a:t>
            </a:r>
          </a:p>
        </p:txBody>
      </p:sp>
      <p:grpSp>
        <p:nvGrpSpPr>
          <p:cNvPr id="11" name="Group 26">
            <a:extLst>
              <a:ext uri="{FF2B5EF4-FFF2-40B4-BE49-F238E27FC236}">
                <a16:creationId xmlns:a16="http://schemas.microsoft.com/office/drawing/2014/main" id="{DB474A11-A826-652C-0461-958173031701}"/>
              </a:ext>
            </a:extLst>
          </p:cNvPr>
          <p:cNvGrpSpPr>
            <a:grpSpLocks/>
          </p:cNvGrpSpPr>
          <p:nvPr userDrawn="1"/>
        </p:nvGrpSpPr>
        <p:grpSpPr bwMode="auto">
          <a:xfrm>
            <a:off x="1417638" y="2692400"/>
            <a:ext cx="6308725" cy="93663"/>
            <a:chOff x="1428728" y="2571744"/>
            <a:chExt cx="6309404" cy="94298"/>
          </a:xfrm>
        </p:grpSpPr>
        <p:sp>
          <p:nvSpPr>
            <p:cNvPr id="12" name="Straight Connector 8">
              <a:extLst>
                <a:ext uri="{FF2B5EF4-FFF2-40B4-BE49-F238E27FC236}">
                  <a16:creationId xmlns:a16="http://schemas.microsoft.com/office/drawing/2014/main" id="{E07CD9FD-D4CD-79E7-B5D7-FC6094BEA5B8}"/>
                </a:ext>
              </a:extLst>
            </p:cNvPr>
            <p:cNvSpPr>
              <a:spLocks noChangeShapeType="1"/>
            </p:cNvSpPr>
            <p:nvPr>
              <p:custDataLst>
                <p:tags r:id="rId2"/>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Oval 24">
              <a:extLst>
                <a:ext uri="{FF2B5EF4-FFF2-40B4-BE49-F238E27FC236}">
                  <a16:creationId xmlns:a16="http://schemas.microsoft.com/office/drawing/2014/main" id="{84FF77FC-D0D8-A137-2AB7-1C1A0661D5CE}"/>
                </a:ext>
              </a:extLst>
            </p:cNvPr>
            <p:cNvSpPr>
              <a:spLocks noChangeArrowheads="1"/>
            </p:cNvSpPr>
            <p:nvPr>
              <p:custDataLst>
                <p:tags r:id="rId3"/>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4" name="Oval 25">
              <a:extLst>
                <a:ext uri="{FF2B5EF4-FFF2-40B4-BE49-F238E27FC236}">
                  <a16:creationId xmlns:a16="http://schemas.microsoft.com/office/drawing/2014/main" id="{FDB144FE-873D-513E-9836-7B92A1E6B019}"/>
                </a:ext>
              </a:extLst>
            </p:cNvPr>
            <p:cNvSpPr>
              <a:spLocks noChangeArrowheads="1"/>
            </p:cNvSpPr>
            <p:nvPr>
              <p:custDataLst>
                <p:tags r:id="rId4"/>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grpSp>
    </p:spTree>
    <p:extLst>
      <p:ext uri="{BB962C8B-B14F-4D97-AF65-F5344CB8AC3E}">
        <p14:creationId xmlns:p14="http://schemas.microsoft.com/office/powerpoint/2010/main" val="631046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109052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952F12-2FDA-48AD-A6E8-ACD1F072F40A}" type="datetimeFigureOut">
              <a:rPr lang="en-IN" smtClean="0"/>
              <a:t>23-10-2026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97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952F12-2FDA-48AD-A6E8-ACD1F072F40A}" type="datetimeFigureOut">
              <a:rPr lang="en-IN" smtClean="0"/>
              <a:t>23-10-2026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7611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952F12-2FDA-48AD-A6E8-ACD1F072F40A}" type="datetimeFigureOut">
              <a:rPr lang="en-IN" smtClean="0"/>
              <a:t>23-10-2026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0722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952F12-2FDA-48AD-A6E8-ACD1F072F40A}" type="datetimeFigureOut">
              <a:rPr lang="en-IN" smtClean="0"/>
              <a:t>23-10-2026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70904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952F12-2FDA-48AD-A6E8-ACD1F072F40A}" type="datetimeFigureOut">
              <a:rPr lang="en-IN" smtClean="0"/>
              <a:t>23-10-2026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5263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23-10-2026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550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23-10-2026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09795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28392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334082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9A7D7C4-093D-3558-082E-2361FC2F20AD}"/>
              </a:ext>
            </a:extLst>
          </p:cNvPr>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856581" y="2776455"/>
            <a:ext cx="5430838"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Tree>
    <p:extLst>
      <p:ext uri="{BB962C8B-B14F-4D97-AF65-F5344CB8AC3E}">
        <p14:creationId xmlns:p14="http://schemas.microsoft.com/office/powerpoint/2010/main" val="2951546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AF1C6B10-A66A-EE19-163E-508F602734D1}"/>
              </a:ext>
            </a:extLst>
          </p:cNvPr>
          <p:cNvSpPr>
            <a:spLocks noChangeArrowheads="1"/>
          </p:cNvSpPr>
          <p:nvPr userDrawn="1">
            <p:custDataLst>
              <p:tags r:id="rId1"/>
            </p:custDataLst>
          </p:nvPr>
        </p:nvSpPr>
        <p:spPr bwMode="auto">
          <a:xfrm>
            <a:off x="0" y="3214688"/>
            <a:ext cx="9144000" cy="3643312"/>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pic>
        <p:nvPicPr>
          <p:cNvPr id="7" name="Picture 2" descr="C:\Users\parul\Desktop\1.png">
            <a:extLst>
              <a:ext uri="{FF2B5EF4-FFF2-40B4-BE49-F238E27FC236}">
                <a16:creationId xmlns:a16="http://schemas.microsoft.com/office/drawing/2014/main" id="{AA4FDE8B-913C-1DC1-C64A-36FD71474DA8}"/>
              </a:ext>
            </a:extLst>
          </p:cNvPr>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1219200" y="361950"/>
            <a:ext cx="67056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3" descr="C:\Users\parul\Desktop\2.png">
            <a:extLst>
              <a:ext uri="{FF2B5EF4-FFF2-40B4-BE49-F238E27FC236}">
                <a16:creationId xmlns:a16="http://schemas.microsoft.com/office/drawing/2014/main" id="{30B829C5-769E-319D-94FC-0D0621C33681}"/>
              </a:ext>
            </a:extLst>
          </p:cNvPr>
          <p:cNvPicPr>
            <a:picLocks noChangeAspect="1" noChangeArrowheads="1"/>
          </p:cNvPicPr>
          <p:nvPr userDrawn="1">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2433638" y="4000500"/>
            <a:ext cx="42767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4" descr="C:\Users\parul\Desktop\Cover Page with yellow patch - Version 18.png">
            <a:extLst>
              <a:ext uri="{FF2B5EF4-FFF2-40B4-BE49-F238E27FC236}">
                <a16:creationId xmlns:a16="http://schemas.microsoft.com/office/drawing/2014/main" id="{756C4F08-D2D8-AEB6-9825-5F33B0070428}"/>
              </a:ext>
            </a:extLst>
          </p:cNvPr>
          <p:cNvPicPr>
            <a:picLocks noChangeAspect="1" noChangeArrowheads="1"/>
          </p:cNvPicPr>
          <p:nvPr userDrawn="1">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3038475" y="4946650"/>
            <a:ext cx="30670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Rectangle 7">
            <a:extLst>
              <a:ext uri="{FF2B5EF4-FFF2-40B4-BE49-F238E27FC236}">
                <a16:creationId xmlns:a16="http://schemas.microsoft.com/office/drawing/2014/main" id="{ED5DA546-EEBA-EEDD-085B-719D7612E30F}"/>
              </a:ext>
            </a:extLst>
          </p:cNvPr>
          <p:cNvSpPr>
            <a:spLocks noChangeArrowheads="1"/>
          </p:cNvSpPr>
          <p:nvPr userDrawn="1">
            <p:custDataLst>
              <p:tags r:id="rId5"/>
            </p:custDataLst>
          </p:nvPr>
        </p:nvSpPr>
        <p:spPr bwMode="auto">
          <a:xfrm>
            <a:off x="0" y="6003925"/>
            <a:ext cx="9144000" cy="357188"/>
          </a:xfrm>
          <a:prstGeom prst="rect">
            <a:avLst/>
          </a:prstGeom>
          <a:solidFill>
            <a:srgbClr val="FFFFFF"/>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1" name="TextBox 8">
            <a:extLst>
              <a:ext uri="{FF2B5EF4-FFF2-40B4-BE49-F238E27FC236}">
                <a16:creationId xmlns:a16="http://schemas.microsoft.com/office/drawing/2014/main" id="{D01DF74C-FD39-4225-9267-664E1B9FC744}"/>
              </a:ext>
            </a:extLst>
          </p:cNvPr>
          <p:cNvSpPr>
            <a:spLocks noChangeArrowheads="1"/>
          </p:cNvSpPr>
          <p:nvPr userDrawn="1">
            <p:custDataLst>
              <p:tags r:id="rId6"/>
            </p:custDataLst>
          </p:nvPr>
        </p:nvSpPr>
        <p:spPr bwMode="auto">
          <a:xfrm>
            <a:off x="3249613" y="5997575"/>
            <a:ext cx="2644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1800">
                <a:solidFill>
                  <a:schemeClr val="tx2"/>
                </a:solidFill>
                <a:cs typeface="Times New Roman" panose="02020603050405020304" pitchFamily="18" charset="0"/>
              </a:rPr>
              <a:t>www.paruluniversity.ac.in</a:t>
            </a:r>
          </a:p>
        </p:txBody>
      </p:sp>
    </p:spTree>
    <p:extLst>
      <p:ext uri="{BB962C8B-B14F-4D97-AF65-F5344CB8AC3E}">
        <p14:creationId xmlns:p14="http://schemas.microsoft.com/office/powerpoint/2010/main" val="116077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52F12-2FDA-48AD-A6E8-ACD1F072F40A}" type="datetimeFigureOut">
              <a:rPr lang="en-IN" smtClean="0"/>
              <a:t>23-10-2026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48770-0E36-4D7D-8124-C06EC090C77E}" type="slidenum">
              <a:rPr lang="en-IN" smtClean="0"/>
              <a:t>‹#›</a:t>
            </a:fld>
            <a:endParaRPr lang="en-IN"/>
          </a:p>
        </p:txBody>
      </p:sp>
    </p:spTree>
    <p:extLst>
      <p:ext uri="{BB962C8B-B14F-4D97-AF65-F5344CB8AC3E}">
        <p14:creationId xmlns:p14="http://schemas.microsoft.com/office/powerpoint/2010/main" val="966028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xml"/><Relationship Id="rId1" Type="http://schemas.openxmlformats.org/officeDocument/2006/relationships/tags" Target="../tags/tag12.xml"/></Relationships>
</file>

<file path=ppt/slides/_rels/slide2.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7.xml"/><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9.xml"/><Relationship Id="rId1" Type="http://schemas.openxmlformats.org/officeDocument/2006/relationships/tags" Target="../tags/tag28.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1.xml"/><Relationship Id="rId1" Type="http://schemas.openxmlformats.org/officeDocument/2006/relationships/tags" Target="../tags/tag3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3.xml"/><Relationship Id="rId1" Type="http://schemas.openxmlformats.org/officeDocument/2006/relationships/tags" Target="../tags/tag3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5.xml"/><Relationship Id="rId1" Type="http://schemas.openxmlformats.org/officeDocument/2006/relationships/tags" Target="../tags/tag3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7.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9.xml"/><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1.xml"/><Relationship Id="rId1" Type="http://schemas.openxmlformats.org/officeDocument/2006/relationships/tags" Target="../tags/tag40.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3.xml"/><Relationship Id="rId1" Type="http://schemas.openxmlformats.org/officeDocument/2006/relationships/tags" Target="../tags/tag4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5.xml"/><Relationship Id="rId1"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7.xml"/><Relationship Id="rId1" Type="http://schemas.openxmlformats.org/officeDocument/2006/relationships/tags" Target="../tags/tag4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9.xml"/><Relationship Id="rId1" Type="http://schemas.openxmlformats.org/officeDocument/2006/relationships/tags" Target="../tags/tag4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1.xml"/><Relationship Id="rId1" Type="http://schemas.openxmlformats.org/officeDocument/2006/relationships/tags" Target="../tags/tag5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3.xml"/><Relationship Id="rId1" Type="http://schemas.openxmlformats.org/officeDocument/2006/relationships/tags" Target="../tags/tag5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hyperlink" Target="https://www.geeksforgeeks.org/spring-boot-requestmapping/" TargetMode="External"/><Relationship Id="rId4" Type="http://schemas.openxmlformats.org/officeDocument/2006/relationships/hyperlink" Target="http://geeksforgeeks.org/spring-boot-controller-annotation-with-example/"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7.xml"/><Relationship Id="rId1" Type="http://schemas.openxmlformats.org/officeDocument/2006/relationships/tags" Target="../tags/tag5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9.xml"/><Relationship Id="rId1" Type="http://schemas.openxmlformats.org/officeDocument/2006/relationships/tags" Target="../tags/tag5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3.xml"/><Relationship Id="rId1" Type="http://schemas.openxmlformats.org/officeDocument/2006/relationships/tags" Target="../tags/tag6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hyperlink" Target="https://www.geeksforgeeks.org/what-is-dispatcher-servlet-in-spring/" TargetMode="Externa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7.xml"/><Relationship Id="rId1" Type="http://schemas.openxmlformats.org/officeDocument/2006/relationships/tags" Target="../tags/tag6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9.xml"/><Relationship Id="rId1" Type="http://schemas.openxmlformats.org/officeDocument/2006/relationships/tags" Target="../tags/tag6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1.xml"/><Relationship Id="rId1" Type="http://schemas.openxmlformats.org/officeDocument/2006/relationships/tags" Target="../tags/tag7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3.xml"/><Relationship Id="rId1" Type="http://schemas.openxmlformats.org/officeDocument/2006/relationships/tags" Target="../tags/tag7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5.xml"/><Relationship Id="rId1" Type="http://schemas.openxmlformats.org/officeDocument/2006/relationships/tags" Target="../tags/tag7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7.xml"/><Relationship Id="rId1" Type="http://schemas.openxmlformats.org/officeDocument/2006/relationships/tags" Target="../tags/tag7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9.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0BCAC4D-696F-B836-4773-589954086317}"/>
              </a:ext>
            </a:extLst>
          </p:cNvPr>
          <p:cNvSpPr>
            <a:spLocks noChangeArrowheads="1"/>
          </p:cNvSpPr>
          <p:nvPr>
            <p:custDataLst>
              <p:tags r:id="rId1"/>
            </p:custDataLst>
          </p:nvPr>
        </p:nvSpPr>
        <p:spPr bwMode="auto">
          <a:xfrm>
            <a:off x="0" y="3714750"/>
            <a:ext cx="9144000" cy="714375"/>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None/>
            </a:pPr>
            <a:r>
              <a:rPr lang="en-US" altLang="en-US" sz="3500" b="1" dirty="0">
                <a:solidFill>
                  <a:schemeClr val="bg1"/>
                </a:solidFill>
                <a:cs typeface="Times New Roman" panose="02020603050405020304" pitchFamily="18" charset="0"/>
              </a:rPr>
              <a:t>Spring</a:t>
            </a:r>
            <a:endParaRPr lang="en-IN" altLang="en-US" sz="3500" b="1" dirty="0">
              <a:solidFill>
                <a:schemeClr val="bg1"/>
              </a:solidFill>
              <a:cs typeface="Times New Roman" panose="02020603050405020304" pitchFamily="18" charset="0"/>
            </a:endParaRPr>
          </a:p>
        </p:txBody>
      </p:sp>
      <p:sp>
        <p:nvSpPr>
          <p:cNvPr id="5" name="TextBox 6">
            <a:extLst>
              <a:ext uri="{FF2B5EF4-FFF2-40B4-BE49-F238E27FC236}">
                <a16:creationId xmlns:a16="http://schemas.microsoft.com/office/drawing/2014/main" id="{2B27439B-57F6-0AA6-0670-092242D019AD}"/>
              </a:ext>
            </a:extLst>
          </p:cNvPr>
          <p:cNvSpPr>
            <a:spLocks noChangeArrowheads="1"/>
          </p:cNvSpPr>
          <p:nvPr>
            <p:custDataLst>
              <p:tags r:id="rId2"/>
            </p:custDataLst>
          </p:nvPr>
        </p:nvSpPr>
        <p:spPr bwMode="auto">
          <a:xfrm>
            <a:off x="1714500" y="3071813"/>
            <a:ext cx="57150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IN" altLang="en-US" sz="3500" b="1" dirty="0">
                <a:cs typeface="Times New Roman" panose="02020603050405020304" pitchFamily="18" charset="0"/>
              </a:rPr>
              <a:t>Unit -5</a:t>
            </a:r>
          </a:p>
        </p:txBody>
      </p:sp>
    </p:spTree>
    <p:extLst>
      <p:ext uri="{BB962C8B-B14F-4D97-AF65-F5344CB8AC3E}">
        <p14:creationId xmlns:p14="http://schemas.microsoft.com/office/powerpoint/2010/main" val="54765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936D777-4D08-FC9C-562C-397B52751678}"/>
              </a:ext>
            </a:extLst>
          </p:cNvPr>
          <p:cNvSpPr txBox="1">
            <a:spLocks noChangeArrowheads="1"/>
          </p:cNvSpPr>
          <p:nvPr>
            <p:custDataLst>
              <p:tags r:id="rId1"/>
            </p:custDataLst>
          </p:nvPr>
        </p:nvSpPr>
        <p:spPr bwMode="auto">
          <a:xfrm>
            <a:off x="190500" y="2352675"/>
            <a:ext cx="8675204"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324000" algn="just">
              <a:spcBef>
                <a:spcPct val="0"/>
              </a:spcBef>
            </a:pPr>
            <a:r>
              <a:rPr lang="en-US" sz="2800" b="0" i="0" dirty="0">
                <a:effectLst/>
                <a:latin typeface="Times New Roman" panose="02020603050405020304" pitchFamily="18" charset="0"/>
                <a:cs typeface="Times New Roman" panose="02020603050405020304" pitchFamily="18" charset="0"/>
              </a:rPr>
              <a:t>The </a:t>
            </a:r>
            <a:r>
              <a:rPr lang="en-US" sz="2800" b="1" i="0" dirty="0">
                <a:effectLst/>
                <a:latin typeface="Times New Roman" panose="02020603050405020304" pitchFamily="18" charset="0"/>
                <a:cs typeface="Times New Roman" panose="02020603050405020304" pitchFamily="18" charset="0"/>
              </a:rPr>
              <a:t>Spring Framework</a:t>
            </a:r>
            <a:r>
              <a:rPr lang="en-US" sz="2800" b="0" i="0" dirty="0">
                <a:effectLst/>
                <a:latin typeface="Times New Roman" panose="02020603050405020304" pitchFamily="18" charset="0"/>
                <a:cs typeface="Times New Roman" panose="02020603050405020304" pitchFamily="18" charset="0"/>
              </a:rPr>
              <a:t> is an open-source, powerful, lightweight, and widely used Java framework for building enterprise applications.</a:t>
            </a:r>
          </a:p>
          <a:p>
            <a:pPr marL="324000" algn="just">
              <a:spcBef>
                <a:spcPct val="0"/>
              </a:spcBef>
            </a:pPr>
            <a:r>
              <a:rPr lang="en-US" sz="2800" b="0" i="0" dirty="0">
                <a:effectLst/>
                <a:latin typeface="Times New Roman" panose="02020603050405020304" pitchFamily="18" charset="0"/>
                <a:cs typeface="Times New Roman" panose="02020603050405020304" pitchFamily="18" charset="0"/>
              </a:rPr>
              <a:t>It simplifies enterprise application development by using techniques like Aspect-Oriented Programming (AOP), Plain Old Java Objects (POJO), and Dependency Injection (DI). </a:t>
            </a:r>
          </a:p>
          <a:p>
            <a:pPr marL="324000" algn="just">
              <a:spcBef>
                <a:spcPct val="0"/>
              </a:spcBef>
            </a:pPr>
            <a:r>
              <a:rPr lang="en-US" sz="2800" dirty="0">
                <a:latin typeface="Times New Roman" panose="02020603050405020304" pitchFamily="18" charset="0"/>
                <a:cs typeface="Times New Roman" panose="02020603050405020304" pitchFamily="18" charset="0"/>
              </a:rPr>
              <a:t>It provides </a:t>
            </a:r>
            <a:r>
              <a:rPr lang="en-US" sz="2800" b="0" i="0" dirty="0">
                <a:effectLst/>
                <a:latin typeface="Times New Roman" panose="02020603050405020304" pitchFamily="18" charset="0"/>
                <a:cs typeface="Times New Roman" panose="02020603050405020304" pitchFamily="18" charset="0"/>
              </a:rPr>
              <a:t>alternatives to traditional Java APIs like JDBC, JSP, and Servlets.</a:t>
            </a:r>
          </a:p>
        </p:txBody>
      </p:sp>
      <p:sp>
        <p:nvSpPr>
          <p:cNvPr id="3" name="Rectangle 7">
            <a:extLst>
              <a:ext uri="{FF2B5EF4-FFF2-40B4-BE49-F238E27FC236}">
                <a16:creationId xmlns:a16="http://schemas.microsoft.com/office/drawing/2014/main" id="{CCBA97CA-D87D-215B-98B6-91DE108DF67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9B4BC39-29FF-0424-D8B1-CEFC7187CAEF}"/>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000" b="1" dirty="0">
                <a:solidFill>
                  <a:schemeClr val="bg1"/>
                </a:solidFill>
                <a:latin typeface="Times New Roman" panose="02020603050405020304" pitchFamily="18" charset="0"/>
                <a:cs typeface="Times New Roman" panose="02020603050405020304" pitchFamily="18" charset="0"/>
              </a:rPr>
              <a:t>Spring Framework</a:t>
            </a:r>
            <a:endParaRPr lang="en-IN" altLang="en-US" sz="3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06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D9955-DFA1-27F8-E4C0-CB5F0B1EBA2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81FA6F0-1D17-C9A8-AAD3-2498E4293237}"/>
              </a:ext>
            </a:extLst>
          </p:cNvPr>
          <p:cNvSpPr txBox="1">
            <a:spLocks noChangeArrowheads="1"/>
          </p:cNvSpPr>
          <p:nvPr>
            <p:custDataLst>
              <p:tags r:id="rId1"/>
            </p:custDataLst>
          </p:nvPr>
        </p:nvSpPr>
        <p:spPr bwMode="auto">
          <a:xfrm>
            <a:off x="190500" y="2352675"/>
            <a:ext cx="8675204" cy="406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r>
              <a:rPr lang="en-IN" sz="2800" b="1" dirty="0">
                <a:latin typeface="Times New Roman" panose="02020603050405020304" pitchFamily="18" charset="0"/>
                <a:cs typeface="Times New Roman" panose="02020603050405020304" pitchFamily="18" charset="0"/>
              </a:rPr>
              <a:t>Traditional Java application:</a:t>
            </a:r>
          </a:p>
          <a:p>
            <a:pPr marL="0" indent="0">
              <a:buNone/>
            </a:pPr>
            <a:r>
              <a:rPr lang="en-IN" sz="2400" dirty="0">
                <a:latin typeface="Times New Roman" panose="02020603050405020304" pitchFamily="18" charset="0"/>
                <a:cs typeface="Times New Roman" panose="02020603050405020304" pitchFamily="18" charset="0"/>
              </a:rPr>
              <a:t>Engine </a:t>
            </a:r>
            <a:r>
              <a:rPr lang="en-IN" sz="2400" dirty="0" err="1">
                <a:latin typeface="Times New Roman" panose="02020603050405020304" pitchFamily="18" charset="0"/>
                <a:cs typeface="Times New Roman" panose="02020603050405020304" pitchFamily="18" charset="0"/>
              </a:rPr>
              <a:t>engine</a:t>
            </a:r>
            <a:r>
              <a:rPr lang="en-IN" sz="2400" dirty="0">
                <a:latin typeface="Times New Roman" panose="02020603050405020304" pitchFamily="18" charset="0"/>
                <a:cs typeface="Times New Roman" panose="02020603050405020304" pitchFamily="18" charset="0"/>
              </a:rPr>
              <a:t> = new Engine();</a:t>
            </a:r>
          </a:p>
          <a:p>
            <a:pPr marL="0" indent="0">
              <a:buNone/>
            </a:pPr>
            <a:r>
              <a:rPr lang="en-IN" sz="2400" dirty="0">
                <a:latin typeface="Times New Roman" panose="02020603050405020304" pitchFamily="18" charset="0"/>
                <a:cs typeface="Times New Roman" panose="02020603050405020304" pitchFamily="18" charset="0"/>
              </a:rPr>
              <a:t>Car </a:t>
            </a:r>
            <a:r>
              <a:rPr lang="en-IN" sz="2400" dirty="0" err="1">
                <a:latin typeface="Times New Roman" panose="02020603050405020304" pitchFamily="18" charset="0"/>
                <a:cs typeface="Times New Roman" panose="02020603050405020304" pitchFamily="18" charset="0"/>
              </a:rPr>
              <a:t>car</a:t>
            </a:r>
            <a:r>
              <a:rPr lang="en-IN" sz="2400" dirty="0">
                <a:latin typeface="Times New Roman" panose="02020603050405020304" pitchFamily="18" charset="0"/>
                <a:cs typeface="Times New Roman" panose="02020603050405020304" pitchFamily="18" charset="0"/>
              </a:rPr>
              <a:t> = new Car(engine);</a:t>
            </a:r>
          </a:p>
          <a:p>
            <a:r>
              <a:rPr lang="en-IN" sz="2400" b="1" dirty="0">
                <a:latin typeface="Times New Roman" panose="02020603050405020304" pitchFamily="18" charset="0"/>
                <a:cs typeface="Times New Roman" panose="02020603050405020304" pitchFamily="18" charset="0"/>
              </a:rPr>
              <a:t>Problems:</a:t>
            </a:r>
          </a:p>
          <a:p>
            <a:pPr>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Classes create their own dependencies.</a:t>
            </a:r>
          </a:p>
          <a:p>
            <a:pPr>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Tight coupling.</a:t>
            </a:r>
          </a:p>
          <a:p>
            <a:pPr>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Difficult to replace implementations.</a:t>
            </a:r>
          </a:p>
          <a:p>
            <a:pPr>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Difficult to test.</a:t>
            </a:r>
          </a:p>
          <a:p>
            <a:pPr>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Object creation is handled manually.</a:t>
            </a:r>
          </a:p>
        </p:txBody>
      </p:sp>
      <p:sp>
        <p:nvSpPr>
          <p:cNvPr id="3" name="Rectangle 7">
            <a:extLst>
              <a:ext uri="{FF2B5EF4-FFF2-40B4-BE49-F238E27FC236}">
                <a16:creationId xmlns:a16="http://schemas.microsoft.com/office/drawing/2014/main" id="{59109588-0965-E7A0-9565-CC260D8115E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4001A728-B104-EC86-43A1-350F24F4AF85}"/>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000" b="1" dirty="0">
                <a:solidFill>
                  <a:schemeClr val="bg1"/>
                </a:solidFill>
                <a:latin typeface="Times New Roman" panose="02020603050405020304" pitchFamily="18" charset="0"/>
                <a:cs typeface="Times New Roman" panose="02020603050405020304" pitchFamily="18" charset="0"/>
              </a:rPr>
              <a:t>Why Spring?</a:t>
            </a:r>
            <a:endParaRPr lang="en-IN" altLang="en-US" sz="3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925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596F4-4789-8C75-996F-F7B9D34315A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45832508-EE6B-1040-1B5B-565E735A6042}"/>
              </a:ext>
            </a:extLst>
          </p:cNvPr>
          <p:cNvSpPr txBox="1">
            <a:spLocks noChangeArrowheads="1"/>
          </p:cNvSpPr>
          <p:nvPr>
            <p:custDataLst>
              <p:tags r:id="rId1"/>
            </p:custDataLst>
          </p:nvPr>
        </p:nvSpPr>
        <p:spPr bwMode="auto">
          <a:xfrm>
            <a:off x="190500" y="2352675"/>
            <a:ext cx="8675204"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fontAlgn="base">
              <a:spcBef>
                <a:spcPts val="0"/>
              </a:spcBef>
            </a:pPr>
            <a:r>
              <a:rPr lang="en-US" sz="2500" b="1" i="0" dirty="0">
                <a:effectLst/>
                <a:latin typeface="Times New Roman" panose="02020603050405020304" pitchFamily="18" charset="0"/>
                <a:cs typeface="Times New Roman" panose="02020603050405020304" pitchFamily="18" charset="0"/>
              </a:rPr>
              <a:t>Dependency Injection: </a:t>
            </a:r>
            <a:r>
              <a:rPr lang="en-US" sz="2500" b="0" i="0" dirty="0">
                <a:effectLst/>
                <a:latin typeface="Times New Roman" panose="02020603050405020304" pitchFamily="18" charset="0"/>
                <a:cs typeface="Times New Roman" panose="02020603050405020304" pitchFamily="18" charset="0"/>
              </a:rPr>
              <a:t>Dependency Injection is a design pattern where the Spring container automatically provides the required dependencies to a class, instead of the class creating them itself. This promotes loose coupling, easier testing, and better maintainability by decoupling the object creation and usage.</a:t>
            </a:r>
          </a:p>
          <a:p>
            <a:pPr fontAlgn="base">
              <a:spcBef>
                <a:spcPts val="0"/>
              </a:spcBef>
            </a:pPr>
            <a:r>
              <a:rPr lang="en-US" sz="2500" b="1" i="0" dirty="0">
                <a:effectLst/>
                <a:latin typeface="Times New Roman" panose="02020603050405020304" pitchFamily="18" charset="0"/>
                <a:cs typeface="Times New Roman" panose="02020603050405020304" pitchFamily="18" charset="0"/>
              </a:rPr>
              <a:t>Spring MVC:</a:t>
            </a:r>
            <a:r>
              <a:rPr lang="en-US" sz="2500" b="0" i="0" dirty="0">
                <a:effectLst/>
                <a:latin typeface="Times New Roman" panose="02020603050405020304" pitchFamily="18" charset="0"/>
                <a:cs typeface="Times New Roman" panose="02020603050405020304" pitchFamily="18" charset="0"/>
              </a:rPr>
              <a:t> It is a powerful framework for building web applications that follow the Model-View-Controller pattern.</a:t>
            </a:r>
            <a:endParaRPr lang="en-US" sz="2500" b="0" dirty="0">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a16="http://schemas.microsoft.com/office/drawing/2014/main" id="{5E488B98-F542-B457-C6C1-A03DF98F1565}"/>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E6508083-EA73-1091-12B1-FBA1D371148F}"/>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000" b="1" dirty="0">
                <a:solidFill>
                  <a:schemeClr val="bg1"/>
                </a:solidFill>
                <a:latin typeface="Times New Roman" panose="02020603050405020304" pitchFamily="18" charset="0"/>
                <a:cs typeface="Times New Roman" panose="02020603050405020304" pitchFamily="18" charset="0"/>
              </a:rPr>
              <a:t>Features of Spring Framework</a:t>
            </a:r>
            <a:endParaRPr lang="en-IN" altLang="en-US" sz="3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92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C4F7A-D705-1BA4-517A-8D4061D9E461}"/>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8E330F57-3503-1B21-95F8-478BB36F51A9}"/>
              </a:ext>
            </a:extLst>
          </p:cNvPr>
          <p:cNvSpPr txBox="1">
            <a:spLocks noChangeArrowheads="1"/>
          </p:cNvSpPr>
          <p:nvPr>
            <p:custDataLst>
              <p:tags r:id="rId1"/>
            </p:custDataLst>
          </p:nvPr>
        </p:nvSpPr>
        <p:spPr bwMode="auto">
          <a:xfrm>
            <a:off x="190500" y="2352675"/>
            <a:ext cx="8675204" cy="4391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ctr">
              <a:buNone/>
            </a:pPr>
            <a:r>
              <a:rPr lang="en-IN" sz="2400" b="1" dirty="0">
                <a:latin typeface="Times New Roman" panose="02020603050405020304" pitchFamily="18" charset="0"/>
                <a:cs typeface="Times New Roman" panose="02020603050405020304" pitchFamily="18" charset="0"/>
              </a:rPr>
              <a:t>Application</a:t>
            </a:r>
          </a:p>
          <a:p>
            <a:pPr marL="0" indent="0" algn="ctr">
              <a:buNone/>
            </a:pPr>
            <a:r>
              <a:rPr lang="en-IN" sz="2400" b="1" dirty="0">
                <a:latin typeface="Times New Roman" panose="02020603050405020304" pitchFamily="18" charset="0"/>
                <a:cs typeface="Times New Roman" panose="02020603050405020304" pitchFamily="18" charset="0"/>
              </a:rPr>
              <a:t>     ↓</a:t>
            </a:r>
          </a:p>
          <a:p>
            <a:pPr marL="0" indent="0" algn="ctr">
              <a:buNone/>
            </a:pPr>
            <a:r>
              <a:rPr lang="en-IN" sz="2400" b="1" dirty="0">
                <a:latin typeface="Times New Roman" panose="02020603050405020304" pitchFamily="18" charset="0"/>
                <a:cs typeface="Times New Roman" panose="02020603050405020304" pitchFamily="18" charset="0"/>
              </a:rPr>
              <a:t>Spring Container</a:t>
            </a:r>
          </a:p>
          <a:p>
            <a:pPr marL="0" indent="0" algn="ctr">
              <a:buNone/>
            </a:pPr>
            <a:r>
              <a:rPr lang="en-IN" sz="2400" b="1" dirty="0">
                <a:latin typeface="Times New Roman" panose="02020603050405020304" pitchFamily="18" charset="0"/>
                <a:cs typeface="Times New Roman" panose="02020603050405020304" pitchFamily="18" charset="0"/>
              </a:rPr>
              <a:t>     ↓</a:t>
            </a:r>
          </a:p>
          <a:p>
            <a:pPr marL="0" indent="0" algn="ctr">
              <a:buNone/>
            </a:pPr>
            <a:r>
              <a:rPr lang="en-IN" sz="2400" b="1" dirty="0">
                <a:latin typeface="Times New Roman" panose="02020603050405020304" pitchFamily="18" charset="0"/>
                <a:cs typeface="Times New Roman" panose="02020603050405020304" pitchFamily="18" charset="0"/>
              </a:rPr>
              <a:t>Beans</a:t>
            </a:r>
          </a:p>
          <a:p>
            <a:pPr marL="0" indent="0" algn="ctr">
              <a:buNone/>
            </a:pPr>
            <a:r>
              <a:rPr lang="en-IN" sz="2400" b="1" dirty="0">
                <a:latin typeface="Times New Roman" panose="02020603050405020304" pitchFamily="18" charset="0"/>
                <a:cs typeface="Times New Roman" panose="02020603050405020304" pitchFamily="18" charset="0"/>
              </a:rPr>
              <a:t>     ↓</a:t>
            </a:r>
          </a:p>
          <a:p>
            <a:pPr marL="0" indent="0" algn="ctr">
              <a:buNone/>
            </a:pPr>
            <a:r>
              <a:rPr lang="en-IN" sz="2400" b="1" dirty="0">
                <a:latin typeface="Times New Roman" panose="02020603050405020304" pitchFamily="18" charset="0"/>
                <a:cs typeface="Times New Roman" panose="02020603050405020304" pitchFamily="18" charset="0"/>
              </a:rPr>
              <a:t>Dependency Injection</a:t>
            </a:r>
          </a:p>
          <a:p>
            <a:pPr marL="0" indent="0" algn="ctr">
              <a:buNone/>
            </a:pPr>
            <a:r>
              <a:rPr lang="en-IN" sz="2400" b="1" dirty="0">
                <a:latin typeface="Times New Roman" panose="02020603050405020304" pitchFamily="18" charset="0"/>
                <a:cs typeface="Times New Roman" panose="02020603050405020304" pitchFamily="18" charset="0"/>
              </a:rPr>
              <a:t>     ↓</a:t>
            </a:r>
          </a:p>
          <a:p>
            <a:pPr marL="0" indent="0" algn="ctr">
              <a:buNone/>
            </a:pPr>
            <a:r>
              <a:rPr lang="en-IN" sz="2400" b="1" dirty="0">
                <a:latin typeface="Times New Roman" panose="02020603050405020304" pitchFamily="18" charset="0"/>
                <a:cs typeface="Times New Roman" panose="02020603050405020304" pitchFamily="18" charset="0"/>
              </a:rPr>
              <a:t>Business Logic</a:t>
            </a:r>
          </a:p>
          <a:p>
            <a:pPr marL="0" indent="0" algn="ctr" fontAlgn="base">
              <a:spcBef>
                <a:spcPts val="0"/>
              </a:spcBef>
              <a:buNone/>
            </a:pPr>
            <a:endParaRPr lang="en-US" sz="2500" b="0" dirty="0">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a16="http://schemas.microsoft.com/office/drawing/2014/main" id="{0841A791-3F54-B0EB-E246-8FF667764C14}"/>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FEA09265-F1CB-6675-EE9D-C6CECAEA4206}"/>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IN" altLang="en-US" sz="3000" b="1" dirty="0">
                <a:solidFill>
                  <a:schemeClr val="bg1"/>
                </a:solidFill>
                <a:latin typeface="Times New Roman" panose="02020603050405020304" pitchFamily="18" charset="0"/>
                <a:cs typeface="Times New Roman" panose="02020603050405020304" pitchFamily="18" charset="0"/>
              </a:rPr>
              <a:t>Spring core Architecture</a:t>
            </a:r>
          </a:p>
        </p:txBody>
      </p:sp>
    </p:spTree>
    <p:extLst>
      <p:ext uri="{BB962C8B-B14F-4D97-AF65-F5344CB8AC3E}">
        <p14:creationId xmlns:p14="http://schemas.microsoft.com/office/powerpoint/2010/main" val="273082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080BE-83F1-D6BF-197F-38574A4CE07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C9DECE9-9112-75FB-A3E4-A7EF33973B82}"/>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9F47CCA0-7A60-C93E-028D-35292505D34A}"/>
              </a:ext>
            </a:extLst>
          </p:cNvPr>
          <p:cNvSpPr>
            <a:spLocks noChangeArrowheads="1"/>
          </p:cNvSpPr>
          <p:nvPr>
            <p:custDataLst>
              <p:tags r:id="rId2"/>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sz="2800" b="1" i="0" dirty="0">
                <a:solidFill>
                  <a:schemeClr val="bg1"/>
                </a:solidFill>
                <a:effectLst/>
                <a:latin typeface="Times New Roman" panose="02020603050405020304" pitchFamily="18" charset="0"/>
                <a:cs typeface="Times New Roman" panose="02020603050405020304" pitchFamily="18" charset="0"/>
              </a:rPr>
              <a:t>Inversion of Control (IOC) Container</a:t>
            </a:r>
          </a:p>
        </p:txBody>
      </p:sp>
      <p:sp>
        <p:nvSpPr>
          <p:cNvPr id="5" name="TextBox 4">
            <a:extLst>
              <a:ext uri="{FF2B5EF4-FFF2-40B4-BE49-F238E27FC236}">
                <a16:creationId xmlns:a16="http://schemas.microsoft.com/office/drawing/2014/main" id="{EFB329FE-950A-8704-E36F-A4802633AA84}"/>
              </a:ext>
            </a:extLst>
          </p:cNvPr>
          <p:cNvSpPr txBox="1"/>
          <p:nvPr/>
        </p:nvSpPr>
        <p:spPr>
          <a:xfrm>
            <a:off x="76200" y="2286000"/>
            <a:ext cx="9067800" cy="4708981"/>
          </a:xfrm>
          <a:prstGeom prst="rect">
            <a:avLst/>
          </a:prstGeom>
          <a:noFill/>
        </p:spPr>
        <p:txBody>
          <a:bodyPr wrap="square" rtlCol="0">
            <a:spAutoFit/>
          </a:bodyPr>
          <a:lstStyle/>
          <a:p>
            <a:pPr marL="342900" indent="-342900">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Inversion of Control (IoC) is a design principle used in object-oriented programming where the control of object creation and dependency management is transferred from the application code to an external framework or container. </a:t>
            </a:r>
          </a:p>
          <a:p>
            <a:pPr marL="342900" indent="-342900">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This reduces the complexity of managing dependencies manually and allows for more modular and flexible code.</a:t>
            </a:r>
          </a:p>
          <a:p>
            <a:pPr marL="342900" indent="-342900">
              <a:buFont typeface="Arial" panose="020B0604020202020204" pitchFamily="34" charset="0"/>
              <a:buChar char="•"/>
            </a:pPr>
            <a:r>
              <a:rPr lang="en-US" sz="3000" b="0" i="0" dirty="0">
                <a:effectLst/>
                <a:latin typeface="Times New Roman" panose="02020603050405020304" pitchFamily="18" charset="0"/>
                <a:cs typeface="Times New Roman" panose="02020603050405020304" pitchFamily="18" charset="0"/>
              </a:rPr>
              <a:t>In Spring framework there are mainly two types of IOC Container which are listed below:</a:t>
            </a:r>
          </a:p>
        </p:txBody>
      </p:sp>
    </p:spTree>
    <p:extLst>
      <p:ext uri="{BB962C8B-B14F-4D97-AF65-F5344CB8AC3E}">
        <p14:creationId xmlns:p14="http://schemas.microsoft.com/office/powerpoint/2010/main" val="1086810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7F1F-8E0A-6DA0-831A-FF85920B094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E6B7D2D-34A9-910A-F4A1-4D44C57A25A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FDAE4234-9903-B618-A49B-0F795CA1E544}"/>
              </a:ext>
            </a:extLst>
          </p:cNvPr>
          <p:cNvSpPr>
            <a:spLocks noChangeArrowheads="1"/>
          </p:cNvSpPr>
          <p:nvPr>
            <p:custDataLst>
              <p:tags r:id="rId2"/>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sz="2800" b="1" i="0" dirty="0">
                <a:solidFill>
                  <a:schemeClr val="bg1"/>
                </a:solidFill>
                <a:effectLst/>
                <a:latin typeface="Times New Roman" panose="02020603050405020304" pitchFamily="18" charset="0"/>
                <a:cs typeface="Times New Roman" panose="02020603050405020304" pitchFamily="18" charset="0"/>
              </a:rPr>
              <a:t>Inversion of Control (IOC) Container</a:t>
            </a:r>
          </a:p>
        </p:txBody>
      </p:sp>
      <p:sp>
        <p:nvSpPr>
          <p:cNvPr id="5" name="TextBox 4">
            <a:extLst>
              <a:ext uri="{FF2B5EF4-FFF2-40B4-BE49-F238E27FC236}">
                <a16:creationId xmlns:a16="http://schemas.microsoft.com/office/drawing/2014/main" id="{303A258E-77D8-C274-0A0E-149CB80F849C}"/>
              </a:ext>
            </a:extLst>
          </p:cNvPr>
          <p:cNvSpPr txBox="1"/>
          <p:nvPr/>
        </p:nvSpPr>
        <p:spPr>
          <a:xfrm>
            <a:off x="76200" y="2286000"/>
            <a:ext cx="9067800" cy="4708981"/>
          </a:xfrm>
          <a:prstGeom prst="rect">
            <a:avLst/>
          </a:prstGeom>
          <a:noFill/>
        </p:spPr>
        <p:txBody>
          <a:bodyPr wrap="square" rtlCol="0">
            <a:spAutoFit/>
          </a:bodyPr>
          <a:lstStyle/>
          <a:p>
            <a:pPr fontAlgn="base">
              <a:spcAft>
                <a:spcPts val="750"/>
              </a:spcAft>
            </a:pPr>
            <a:r>
              <a:rPr lang="en-US" sz="2800" b="1" dirty="0">
                <a:latin typeface="Times New Roman" panose="02020603050405020304" pitchFamily="18" charset="0"/>
                <a:cs typeface="Times New Roman" panose="02020603050405020304" pitchFamily="18" charset="0"/>
              </a:rPr>
              <a:t>1. </a:t>
            </a:r>
            <a:r>
              <a:rPr lang="en-US" sz="2800" b="1" i="0" dirty="0" err="1">
                <a:effectLst/>
                <a:latin typeface="Times New Roman" panose="02020603050405020304" pitchFamily="18" charset="0"/>
                <a:cs typeface="Times New Roman" panose="02020603050405020304" pitchFamily="18" charset="0"/>
              </a:rPr>
              <a:t>BeanFactory</a:t>
            </a:r>
            <a:r>
              <a:rPr lang="en-US" sz="2800" b="0" i="0" dirty="0">
                <a:effectLst/>
                <a:latin typeface="Times New Roman" panose="02020603050405020304" pitchFamily="18" charset="0"/>
                <a:cs typeface="Times New Roman" panose="02020603050405020304" pitchFamily="18" charset="0"/>
              </a:rPr>
              <a:t>: </a:t>
            </a:r>
            <a:r>
              <a:rPr lang="en-US" sz="2800" b="0" i="0" dirty="0" err="1">
                <a:effectLst/>
                <a:latin typeface="Times New Roman" panose="02020603050405020304" pitchFamily="18" charset="0"/>
                <a:cs typeface="Times New Roman" panose="02020603050405020304" pitchFamily="18" charset="0"/>
              </a:rPr>
              <a:t>BeanFactory</a:t>
            </a:r>
            <a:r>
              <a:rPr lang="en-US" sz="2800" b="0" i="0" dirty="0">
                <a:effectLst/>
                <a:latin typeface="Times New Roman" panose="02020603050405020304" pitchFamily="18" charset="0"/>
                <a:cs typeface="Times New Roman" panose="02020603050405020304" pitchFamily="18" charset="0"/>
              </a:rPr>
              <a:t> is the simplest container and is used to create and manage beans. It is a basic container that initializes beans lazily (i.e., only when they are needed). It is typically used for lightweight applications where the overhead of </a:t>
            </a:r>
            <a:r>
              <a:rPr lang="en-US" sz="2800" b="0" i="0" dirty="0" err="1">
                <a:effectLst/>
                <a:latin typeface="Times New Roman" panose="02020603050405020304" pitchFamily="18" charset="0"/>
                <a:cs typeface="Times New Roman" panose="02020603050405020304" pitchFamily="18" charset="0"/>
              </a:rPr>
              <a:t>ApplicationContext</a:t>
            </a:r>
            <a:r>
              <a:rPr lang="en-US" sz="2800" b="0" i="0" dirty="0">
                <a:effectLst/>
                <a:latin typeface="Times New Roman" panose="02020603050405020304" pitchFamily="18" charset="0"/>
                <a:cs typeface="Times New Roman" panose="02020603050405020304" pitchFamily="18" charset="0"/>
              </a:rPr>
              <a:t> is not required.</a:t>
            </a:r>
            <a:endParaRPr lang="en-US" sz="2800" b="0" dirty="0">
              <a:effectLst/>
              <a:latin typeface="Times New Roman" panose="02020603050405020304" pitchFamily="18" charset="0"/>
              <a:cs typeface="Times New Roman" panose="02020603050405020304" pitchFamily="18" charset="0"/>
            </a:endParaRPr>
          </a:p>
          <a:p>
            <a:pPr algn="l" rtl="0" fontAlgn="base">
              <a:spcAft>
                <a:spcPts val="750"/>
              </a:spcAft>
              <a:buNone/>
            </a:pPr>
            <a:r>
              <a:rPr lang="en-US" sz="2800" b="0" dirty="0">
                <a:effectLst/>
                <a:latin typeface="Times New Roman" panose="02020603050405020304" pitchFamily="18" charset="0"/>
                <a:cs typeface="Times New Roman" panose="02020603050405020304" pitchFamily="18" charset="0"/>
              </a:rPr>
              <a:t>Example :- </a:t>
            </a:r>
          </a:p>
          <a:p>
            <a:pPr algn="l" rtl="0" fontAlgn="base">
              <a:spcAft>
                <a:spcPts val="750"/>
              </a:spcAft>
              <a:buNone/>
            </a:pPr>
            <a:r>
              <a:rPr lang="en-US" sz="2800" b="0" dirty="0">
                <a:effectLst/>
                <a:latin typeface="Times New Roman" panose="02020603050405020304" pitchFamily="18" charset="0"/>
                <a:cs typeface="Times New Roman" panose="02020603050405020304" pitchFamily="18" charset="0"/>
              </a:rPr>
              <a:t>&lt;bean id=”car” class=”</a:t>
            </a:r>
            <a:r>
              <a:rPr lang="en-US" sz="2800" b="0" dirty="0" err="1">
                <a:effectLst/>
                <a:latin typeface="Times New Roman" panose="02020603050405020304" pitchFamily="18" charset="0"/>
                <a:cs typeface="Times New Roman" panose="02020603050405020304" pitchFamily="18" charset="0"/>
              </a:rPr>
              <a:t>com.example.Car</a:t>
            </a:r>
            <a:r>
              <a:rPr lang="en-US" sz="2800" b="0" dirty="0">
                <a:effectLst/>
                <a:latin typeface="Times New Roman" panose="02020603050405020304" pitchFamily="18" charset="0"/>
                <a:cs typeface="Times New Roman" panose="02020603050405020304" pitchFamily="18" charset="0"/>
              </a:rPr>
              <a:t>” scope=“singleton”/&gt;</a:t>
            </a:r>
          </a:p>
          <a:p>
            <a:pPr algn="l" rtl="0" fontAlgn="base">
              <a:spcAft>
                <a:spcPts val="750"/>
              </a:spcAft>
              <a:buNone/>
            </a:pPr>
            <a:r>
              <a:rPr lang="en-US" sz="2800" b="0" i="0" dirty="0">
                <a:effectLst/>
                <a:latin typeface="Times New Roman" panose="02020603050405020304" pitchFamily="18" charset="0"/>
                <a:cs typeface="Times New Roman" panose="02020603050405020304" pitchFamily="18" charset="0"/>
              </a:rPr>
              <a:t>This will create a Car bean inside the IoC container, which will be initialized when requested.</a:t>
            </a:r>
          </a:p>
        </p:txBody>
      </p:sp>
    </p:spTree>
    <p:extLst>
      <p:ext uri="{BB962C8B-B14F-4D97-AF65-F5344CB8AC3E}">
        <p14:creationId xmlns:p14="http://schemas.microsoft.com/office/powerpoint/2010/main" val="2538318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5EAC3-4D90-1FC4-9AC5-E98BB16462C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9B9E40F-C373-B451-9C08-CC4D2C20E2F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7A938BBB-4A78-62AE-1BB5-C6D42C70CA19}"/>
              </a:ext>
            </a:extLst>
          </p:cNvPr>
          <p:cNvSpPr>
            <a:spLocks noChangeArrowheads="1"/>
          </p:cNvSpPr>
          <p:nvPr>
            <p:custDataLst>
              <p:tags r:id="rId2"/>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sz="2800" b="1" i="0" dirty="0">
                <a:solidFill>
                  <a:schemeClr val="bg1"/>
                </a:solidFill>
                <a:effectLst/>
                <a:latin typeface="Times New Roman" panose="02020603050405020304" pitchFamily="18" charset="0"/>
                <a:cs typeface="Times New Roman" panose="02020603050405020304" pitchFamily="18" charset="0"/>
              </a:rPr>
              <a:t>Bean Scopes</a:t>
            </a:r>
          </a:p>
        </p:txBody>
      </p:sp>
      <p:graphicFrame>
        <p:nvGraphicFramePr>
          <p:cNvPr id="2" name="Table 1">
            <a:extLst>
              <a:ext uri="{FF2B5EF4-FFF2-40B4-BE49-F238E27FC236}">
                <a16:creationId xmlns:a16="http://schemas.microsoft.com/office/drawing/2014/main" id="{7FDAB0E5-5335-138D-0EBC-A1D46B0439E9}"/>
              </a:ext>
            </a:extLst>
          </p:cNvPr>
          <p:cNvGraphicFramePr>
            <a:graphicFrameLocks noGrp="1"/>
          </p:cNvGraphicFramePr>
          <p:nvPr>
            <p:extLst>
              <p:ext uri="{D42A27DB-BD31-4B8C-83A1-F6EECF244321}">
                <p14:modId xmlns:p14="http://schemas.microsoft.com/office/powerpoint/2010/main" val="2470958748"/>
              </p:ext>
            </p:extLst>
          </p:nvPr>
        </p:nvGraphicFramePr>
        <p:xfrm>
          <a:off x="76200" y="2416630"/>
          <a:ext cx="8877300" cy="4278085"/>
        </p:xfrm>
        <a:graphic>
          <a:graphicData uri="http://schemas.openxmlformats.org/drawingml/2006/table">
            <a:tbl>
              <a:tblPr>
                <a:tableStyleId>{5C22544A-7EE6-4342-B048-85BDC9FD1C3A}</a:tableStyleId>
              </a:tblPr>
              <a:tblGrid>
                <a:gridCol w="4438650">
                  <a:extLst>
                    <a:ext uri="{9D8B030D-6E8A-4147-A177-3AD203B41FA5}">
                      <a16:colId xmlns:a16="http://schemas.microsoft.com/office/drawing/2014/main" val="1477938260"/>
                    </a:ext>
                  </a:extLst>
                </a:gridCol>
                <a:gridCol w="4438650">
                  <a:extLst>
                    <a:ext uri="{9D8B030D-6E8A-4147-A177-3AD203B41FA5}">
                      <a16:colId xmlns:a16="http://schemas.microsoft.com/office/drawing/2014/main" val="2285621618"/>
                    </a:ext>
                  </a:extLst>
                </a:gridCol>
              </a:tblGrid>
              <a:tr h="611155">
                <a:tc>
                  <a:txBody>
                    <a:bodyPr/>
                    <a:lstStyle/>
                    <a:p>
                      <a:pPr algn="ctr">
                        <a:buNone/>
                      </a:pPr>
                      <a:r>
                        <a:rPr lang="en-IN" sz="2000" b="1">
                          <a:latin typeface="Times New Roman" panose="02020603050405020304" pitchFamily="18" charset="0"/>
                          <a:cs typeface="Times New Roman" panose="02020603050405020304" pitchFamily="18" charset="0"/>
                        </a:rPr>
                        <a:t>Scope</a:t>
                      </a:r>
                    </a:p>
                  </a:txBody>
                  <a:tcPr anchor="ctr"/>
                </a:tc>
                <a:tc>
                  <a:txBody>
                    <a:bodyPr/>
                    <a:lstStyle/>
                    <a:p>
                      <a:pPr algn="ctr">
                        <a:buNone/>
                      </a:pPr>
                      <a:r>
                        <a:rPr lang="en-IN" sz="2000" b="1" dirty="0">
                          <a:latin typeface="Times New Roman" panose="02020603050405020304" pitchFamily="18" charset="0"/>
                          <a:cs typeface="Times New Roman" panose="02020603050405020304" pitchFamily="18" charset="0"/>
                        </a:rPr>
                        <a:t>Meaning</a:t>
                      </a:r>
                    </a:p>
                  </a:txBody>
                  <a:tcPr anchor="ctr"/>
                </a:tc>
                <a:extLst>
                  <a:ext uri="{0D108BD9-81ED-4DB2-BD59-A6C34878D82A}">
                    <a16:rowId xmlns:a16="http://schemas.microsoft.com/office/drawing/2014/main" val="2770269280"/>
                  </a:ext>
                </a:extLst>
              </a:tr>
              <a:tr h="611155">
                <a:tc>
                  <a:txBody>
                    <a:bodyPr/>
                    <a:lstStyle/>
                    <a:p>
                      <a:pPr algn="ctr">
                        <a:buNone/>
                      </a:pPr>
                      <a:r>
                        <a:rPr lang="en-IN" sz="2000">
                          <a:latin typeface="Times New Roman" panose="02020603050405020304" pitchFamily="18" charset="0"/>
                          <a:cs typeface="Times New Roman" panose="02020603050405020304" pitchFamily="18" charset="0"/>
                        </a:rPr>
                        <a:t>singleton</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One bean instance per Spring container</a:t>
                      </a:r>
                    </a:p>
                  </a:txBody>
                  <a:tcPr anchor="ctr"/>
                </a:tc>
                <a:extLst>
                  <a:ext uri="{0D108BD9-81ED-4DB2-BD59-A6C34878D82A}">
                    <a16:rowId xmlns:a16="http://schemas.microsoft.com/office/drawing/2014/main" val="3280320406"/>
                  </a:ext>
                </a:extLst>
              </a:tr>
              <a:tr h="611155">
                <a:tc>
                  <a:txBody>
                    <a:bodyPr/>
                    <a:lstStyle/>
                    <a:p>
                      <a:pPr algn="ctr">
                        <a:buNone/>
                      </a:pPr>
                      <a:r>
                        <a:rPr lang="en-IN" sz="2000" dirty="0">
                          <a:latin typeface="Times New Roman" panose="02020603050405020304" pitchFamily="18" charset="0"/>
                          <a:cs typeface="Times New Roman" panose="02020603050405020304" pitchFamily="18" charset="0"/>
                        </a:rPr>
                        <a:t>prototype</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New instance whenever requested</a:t>
                      </a:r>
                    </a:p>
                  </a:txBody>
                  <a:tcPr anchor="ctr"/>
                </a:tc>
                <a:extLst>
                  <a:ext uri="{0D108BD9-81ED-4DB2-BD59-A6C34878D82A}">
                    <a16:rowId xmlns:a16="http://schemas.microsoft.com/office/drawing/2014/main" val="3620624310"/>
                  </a:ext>
                </a:extLst>
              </a:tr>
              <a:tr h="611155">
                <a:tc>
                  <a:txBody>
                    <a:bodyPr/>
                    <a:lstStyle/>
                    <a:p>
                      <a:pPr algn="ctr">
                        <a:buNone/>
                      </a:pPr>
                      <a:r>
                        <a:rPr lang="en-IN" sz="2000" dirty="0">
                          <a:latin typeface="Times New Roman" panose="02020603050405020304" pitchFamily="18" charset="0"/>
                          <a:cs typeface="Times New Roman" panose="02020603050405020304" pitchFamily="18" charset="0"/>
                        </a:rPr>
                        <a:t>request</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One instance per HTTP request</a:t>
                      </a:r>
                    </a:p>
                  </a:txBody>
                  <a:tcPr anchor="ctr"/>
                </a:tc>
                <a:extLst>
                  <a:ext uri="{0D108BD9-81ED-4DB2-BD59-A6C34878D82A}">
                    <a16:rowId xmlns:a16="http://schemas.microsoft.com/office/drawing/2014/main" val="2217222746"/>
                  </a:ext>
                </a:extLst>
              </a:tr>
              <a:tr h="611155">
                <a:tc>
                  <a:txBody>
                    <a:bodyPr/>
                    <a:lstStyle/>
                    <a:p>
                      <a:pPr algn="ctr">
                        <a:buNone/>
                      </a:pPr>
                      <a:r>
                        <a:rPr lang="en-IN" sz="2000">
                          <a:latin typeface="Times New Roman" panose="02020603050405020304" pitchFamily="18" charset="0"/>
                          <a:cs typeface="Times New Roman" panose="02020603050405020304" pitchFamily="18" charset="0"/>
                        </a:rPr>
                        <a:t>session</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One instance per HTTP session</a:t>
                      </a:r>
                    </a:p>
                  </a:txBody>
                  <a:tcPr anchor="ctr"/>
                </a:tc>
                <a:extLst>
                  <a:ext uri="{0D108BD9-81ED-4DB2-BD59-A6C34878D82A}">
                    <a16:rowId xmlns:a16="http://schemas.microsoft.com/office/drawing/2014/main" val="2454783863"/>
                  </a:ext>
                </a:extLst>
              </a:tr>
              <a:tr h="611155">
                <a:tc>
                  <a:txBody>
                    <a:bodyPr/>
                    <a:lstStyle/>
                    <a:p>
                      <a:pPr algn="ctr">
                        <a:buNone/>
                      </a:pPr>
                      <a:r>
                        <a:rPr lang="en-IN" sz="2000">
                          <a:latin typeface="Times New Roman" panose="02020603050405020304" pitchFamily="18" charset="0"/>
                          <a:cs typeface="Times New Roman" panose="02020603050405020304" pitchFamily="18" charset="0"/>
                        </a:rPr>
                        <a:t>application</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One instance per </a:t>
                      </a:r>
                      <a:r>
                        <a:rPr lang="en-IN" sz="2000" dirty="0" err="1">
                          <a:latin typeface="Times New Roman" panose="02020603050405020304" pitchFamily="18" charset="0"/>
                          <a:cs typeface="Times New Roman" panose="02020603050405020304" pitchFamily="18" charset="0"/>
                        </a:rPr>
                        <a:t>ServletContext</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06715184"/>
                  </a:ext>
                </a:extLst>
              </a:tr>
              <a:tr h="611155">
                <a:tc>
                  <a:txBody>
                    <a:bodyPr/>
                    <a:lstStyle/>
                    <a:p>
                      <a:pPr algn="ctr">
                        <a:buNone/>
                      </a:pPr>
                      <a:r>
                        <a:rPr lang="en-IN" sz="2000">
                          <a:latin typeface="Times New Roman" panose="02020603050405020304" pitchFamily="18" charset="0"/>
                          <a:cs typeface="Times New Roman" panose="02020603050405020304" pitchFamily="18" charset="0"/>
                        </a:rPr>
                        <a:t>websocket</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One instance per WebSocket</a:t>
                      </a:r>
                    </a:p>
                  </a:txBody>
                  <a:tcPr anchor="ctr"/>
                </a:tc>
                <a:extLst>
                  <a:ext uri="{0D108BD9-81ED-4DB2-BD59-A6C34878D82A}">
                    <a16:rowId xmlns:a16="http://schemas.microsoft.com/office/drawing/2014/main" val="335727098"/>
                  </a:ext>
                </a:extLst>
              </a:tr>
            </a:tbl>
          </a:graphicData>
        </a:graphic>
      </p:graphicFrame>
    </p:spTree>
    <p:extLst>
      <p:ext uri="{BB962C8B-B14F-4D97-AF65-F5344CB8AC3E}">
        <p14:creationId xmlns:p14="http://schemas.microsoft.com/office/powerpoint/2010/main" val="2048997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2BEBE-62F7-AB26-6916-8AEF218A6B9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7E3DED9-1E31-B2D0-0D38-87A46941881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B00D593C-CB7A-62F9-6130-AE74A2CFE50D}"/>
              </a:ext>
            </a:extLst>
          </p:cNvPr>
          <p:cNvSpPr>
            <a:spLocks noChangeArrowheads="1"/>
          </p:cNvSpPr>
          <p:nvPr>
            <p:custDataLst>
              <p:tags r:id="rId2"/>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sz="2800" b="1" i="0" dirty="0">
                <a:solidFill>
                  <a:schemeClr val="bg1"/>
                </a:solidFill>
                <a:effectLst/>
                <a:latin typeface="Times New Roman" panose="02020603050405020304" pitchFamily="18" charset="0"/>
                <a:cs typeface="Times New Roman" panose="02020603050405020304" pitchFamily="18" charset="0"/>
              </a:rPr>
              <a:t>Bean </a:t>
            </a:r>
            <a:r>
              <a:rPr lang="en-US" sz="2800" b="1" i="0" dirty="0" err="1">
                <a:solidFill>
                  <a:schemeClr val="bg1"/>
                </a:solidFill>
                <a:effectLst/>
                <a:latin typeface="Times New Roman" panose="02020603050405020304" pitchFamily="18" charset="0"/>
                <a:cs typeface="Times New Roman" panose="02020603050405020304" pitchFamily="18" charset="0"/>
              </a:rPr>
              <a:t>LifeCycle</a:t>
            </a:r>
            <a:endParaRPr lang="en-US" sz="2800" b="1"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A8AB319-D355-5E52-6BF8-793FAAA30D8B}"/>
              </a:ext>
            </a:extLst>
          </p:cNvPr>
          <p:cNvSpPr txBox="1"/>
          <p:nvPr/>
        </p:nvSpPr>
        <p:spPr>
          <a:xfrm>
            <a:off x="76200" y="2286000"/>
            <a:ext cx="9067800" cy="4924425"/>
          </a:xfrm>
          <a:prstGeom prst="rect">
            <a:avLst/>
          </a:prstGeom>
          <a:noFill/>
        </p:spPr>
        <p:txBody>
          <a:bodyPr wrap="square" rtlCol="0">
            <a:spAutoFit/>
          </a:bodyPr>
          <a:lstStyle/>
          <a:p>
            <a:pPr algn="ctr" fontAlgn="base">
              <a:spcAft>
                <a:spcPts val="750"/>
              </a:spcAft>
            </a:pPr>
            <a:r>
              <a:rPr lang="en-US" b="1" dirty="0">
                <a:latin typeface="Times New Roman" panose="02020603050405020304" pitchFamily="18" charset="0"/>
                <a:cs typeface="Times New Roman" panose="02020603050405020304" pitchFamily="18" charset="0"/>
              </a:rPr>
              <a:t>Bean Definition</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Object Instantiation</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Dependency Injection</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Initialization</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Bean Ready</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Application Running</a:t>
            </a:r>
          </a:p>
          <a:p>
            <a:pPr algn="ctr" fontAlgn="base">
              <a:spcAft>
                <a:spcPts val="750"/>
              </a:spcAft>
            </a:pPr>
            <a:r>
              <a:rPr lang="en-US" b="1" dirty="0">
                <a:latin typeface="Times New Roman" panose="02020603050405020304" pitchFamily="18" charset="0"/>
                <a:cs typeface="Times New Roman" panose="02020603050405020304" pitchFamily="18" charset="0"/>
              </a:rPr>
              <a:t>      ↓</a:t>
            </a:r>
          </a:p>
          <a:p>
            <a:pPr algn="ctr" fontAlgn="base">
              <a:spcAft>
                <a:spcPts val="750"/>
              </a:spcAft>
            </a:pPr>
            <a:r>
              <a:rPr lang="en-US" b="1" dirty="0">
                <a:latin typeface="Times New Roman" panose="02020603050405020304" pitchFamily="18" charset="0"/>
                <a:cs typeface="Times New Roman" panose="02020603050405020304" pitchFamily="18" charset="0"/>
              </a:rPr>
              <a:t>Destruction</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46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7CE25-FC33-0533-5F0D-DF07D1F2BF1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7529C7A-85DD-B18E-EA4E-CDF54F60071A}"/>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C8F460D-4061-03A2-9A9C-5C5A37059878}"/>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i="0" dirty="0">
                <a:solidFill>
                  <a:schemeClr val="bg1"/>
                </a:solidFill>
                <a:effectLst/>
                <a:latin typeface="Times New Roman" panose="02020603050405020304" pitchFamily="18" charset="0"/>
                <a:cs typeface="Times New Roman" panose="02020603050405020304" pitchFamily="18" charset="0"/>
              </a:rPr>
              <a:t>Inversion of Control (IOC) Container</a:t>
            </a:r>
          </a:p>
        </p:txBody>
      </p:sp>
      <p:sp>
        <p:nvSpPr>
          <p:cNvPr id="5" name="TextBox 4">
            <a:extLst>
              <a:ext uri="{FF2B5EF4-FFF2-40B4-BE49-F238E27FC236}">
                <a16:creationId xmlns:a16="http://schemas.microsoft.com/office/drawing/2014/main" id="{1A03C680-A083-B907-0225-83A27619D7E8}"/>
              </a:ext>
            </a:extLst>
          </p:cNvPr>
          <p:cNvSpPr txBox="1"/>
          <p:nvPr/>
        </p:nvSpPr>
        <p:spPr>
          <a:xfrm>
            <a:off x="76200" y="2286000"/>
            <a:ext cx="9067800" cy="4401205"/>
          </a:xfrm>
          <a:prstGeom prst="rect">
            <a:avLst/>
          </a:prstGeom>
          <a:noFill/>
        </p:spPr>
        <p:txBody>
          <a:bodyPr wrap="square" rtlCol="0">
            <a:spAutoFit/>
          </a:bodyPr>
          <a:lstStyle/>
          <a:p>
            <a:pPr fontAlgn="base">
              <a:spcAft>
                <a:spcPts val="750"/>
              </a:spcAft>
            </a:pPr>
            <a:r>
              <a:rPr lang="en-US" sz="2600" b="1" i="0" dirty="0">
                <a:effectLst/>
                <a:latin typeface="Times New Roman" panose="02020603050405020304" pitchFamily="18" charset="0"/>
                <a:cs typeface="Times New Roman" panose="02020603050405020304" pitchFamily="18" charset="0"/>
              </a:rPr>
              <a:t>2. Application Context:</a:t>
            </a:r>
            <a:r>
              <a:rPr lang="en-US" sz="2600" b="0" i="0" dirty="0">
                <a:effectLst/>
                <a:latin typeface="Times New Roman" panose="02020603050405020304" pitchFamily="18" charset="0"/>
                <a:cs typeface="Times New Roman" panose="02020603050405020304" pitchFamily="18" charset="0"/>
              </a:rPr>
              <a:t> </a:t>
            </a:r>
            <a:r>
              <a:rPr lang="en-US" sz="2600" b="0" i="0" dirty="0" err="1">
                <a:effectLst/>
                <a:latin typeface="Times New Roman" panose="02020603050405020304" pitchFamily="18" charset="0"/>
                <a:cs typeface="Times New Roman" panose="02020603050405020304" pitchFamily="18" charset="0"/>
              </a:rPr>
              <a:t>ApplicationContext</a:t>
            </a:r>
            <a:r>
              <a:rPr lang="en-US" sz="2600" b="0" i="0" dirty="0">
                <a:effectLst/>
                <a:latin typeface="Times New Roman" panose="02020603050405020304" pitchFamily="18" charset="0"/>
                <a:cs typeface="Times New Roman" panose="02020603050405020304" pitchFamily="18" charset="0"/>
              </a:rPr>
              <a:t> is an advanced container that extends </a:t>
            </a:r>
            <a:r>
              <a:rPr lang="en-US" sz="2600" b="0" i="0" dirty="0" err="1">
                <a:effectLst/>
                <a:latin typeface="Times New Roman" panose="02020603050405020304" pitchFamily="18" charset="0"/>
                <a:cs typeface="Times New Roman" panose="02020603050405020304" pitchFamily="18" charset="0"/>
              </a:rPr>
              <a:t>BeanFactory</a:t>
            </a:r>
            <a:r>
              <a:rPr lang="en-US" sz="2600" b="0" i="0" dirty="0">
                <a:effectLst/>
                <a:latin typeface="Times New Roman" panose="02020603050405020304" pitchFamily="18" charset="0"/>
                <a:cs typeface="Times New Roman" panose="02020603050405020304" pitchFamily="18" charset="0"/>
              </a:rPr>
              <a:t> and provides additional features like internationalization support, event propagation, and AOP (Aspect-Oriented Programming) support. The </a:t>
            </a:r>
            <a:r>
              <a:rPr lang="en-US" sz="2600" b="0" i="0" dirty="0" err="1">
                <a:effectLst/>
                <a:latin typeface="Times New Roman" panose="02020603050405020304" pitchFamily="18" charset="0"/>
                <a:cs typeface="Times New Roman" panose="02020603050405020304" pitchFamily="18" charset="0"/>
              </a:rPr>
              <a:t>ApplicationContext</a:t>
            </a:r>
            <a:r>
              <a:rPr lang="en-US" sz="2600" b="0" i="0" dirty="0">
                <a:effectLst/>
                <a:latin typeface="Times New Roman" panose="02020603050405020304" pitchFamily="18" charset="0"/>
                <a:cs typeface="Times New Roman" panose="02020603050405020304" pitchFamily="18" charset="0"/>
              </a:rPr>
              <a:t> is preferred in most Spring applications because of its enhanced features.</a:t>
            </a:r>
            <a:endParaRPr lang="fr-FR" sz="2600" b="0" i="1" dirty="0">
              <a:effectLst/>
              <a:latin typeface="Times New Roman" panose="02020603050405020304" pitchFamily="18" charset="0"/>
              <a:cs typeface="Times New Roman" panose="02020603050405020304" pitchFamily="18" charset="0"/>
            </a:endParaRPr>
          </a:p>
          <a:p>
            <a:pPr algn="l" rtl="0" fontAlgn="base">
              <a:spcAft>
                <a:spcPts val="750"/>
              </a:spcAft>
              <a:buNone/>
            </a:pPr>
            <a:r>
              <a:rPr lang="fr-FR" sz="2600" b="0" i="1" dirty="0">
                <a:effectLst/>
                <a:latin typeface="Times New Roman" panose="02020603050405020304" pitchFamily="18" charset="0"/>
                <a:cs typeface="Times New Roman" panose="02020603050405020304" pitchFamily="18" charset="0"/>
              </a:rPr>
              <a:t>Example:- </a:t>
            </a:r>
          </a:p>
          <a:p>
            <a:pPr algn="l" rtl="0" fontAlgn="base">
              <a:spcAft>
                <a:spcPts val="750"/>
              </a:spcAft>
              <a:buNone/>
            </a:pPr>
            <a:r>
              <a:rPr lang="fr-FR" sz="2600" i="1" dirty="0">
                <a:latin typeface="Times New Roman" panose="02020603050405020304" pitchFamily="18" charset="0"/>
                <a:cs typeface="Times New Roman" panose="02020603050405020304" pitchFamily="18" charset="0"/>
              </a:rPr>
              <a:t>@ComponentScan("com.example")</a:t>
            </a:r>
          </a:p>
          <a:p>
            <a:pPr algn="l" rtl="0" fontAlgn="base">
              <a:spcAft>
                <a:spcPts val="750"/>
              </a:spcAft>
              <a:buNone/>
            </a:pPr>
            <a:r>
              <a:rPr lang="en-US" sz="2600" b="0" i="0" dirty="0">
                <a:effectLst/>
                <a:latin typeface="Times New Roman" panose="02020603050405020304" pitchFamily="18" charset="0"/>
                <a:cs typeface="Times New Roman" panose="02020603050405020304" pitchFamily="18" charset="0"/>
              </a:rPr>
              <a:t>This will scan the specified package for annotated components beans like</a:t>
            </a:r>
            <a:r>
              <a:rPr lang="en-US" sz="2600" b="1" i="0" dirty="0">
                <a:effectLst/>
                <a:latin typeface="Times New Roman" panose="02020603050405020304" pitchFamily="18" charset="0"/>
                <a:cs typeface="Times New Roman" panose="02020603050405020304" pitchFamily="18" charset="0"/>
              </a:rPr>
              <a:t> @Component, @Service, @Repository, </a:t>
            </a:r>
            <a:r>
              <a:rPr lang="en-US" sz="2600" b="0" i="0" dirty="0">
                <a:effectLst/>
                <a:latin typeface="Times New Roman" panose="02020603050405020304" pitchFamily="18" charset="0"/>
                <a:cs typeface="Times New Roman" panose="02020603050405020304" pitchFamily="18" charset="0"/>
              </a:rPr>
              <a:t>etc.</a:t>
            </a:r>
          </a:p>
        </p:txBody>
      </p:sp>
    </p:spTree>
    <p:extLst>
      <p:ext uri="{BB962C8B-B14F-4D97-AF65-F5344CB8AC3E}">
        <p14:creationId xmlns:p14="http://schemas.microsoft.com/office/powerpoint/2010/main" val="2671481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6C016-6AE5-211C-E79C-57EDF283FB5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2217428-108D-75EB-4E27-EEC443C6F77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5B3EB34C-01DB-8232-6617-84179F191F9A}"/>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Dependency Injection</a:t>
            </a:r>
            <a:endParaRPr lang="en-IN" sz="1600" b="1" i="0" dirty="0">
              <a:solidFill>
                <a:srgbClr val="FFFFFF"/>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EFEADBB-D0B5-137D-8B3C-D3E8DB10D96A}"/>
              </a:ext>
            </a:extLst>
          </p:cNvPr>
          <p:cNvSpPr txBox="1"/>
          <p:nvPr/>
        </p:nvSpPr>
        <p:spPr>
          <a:xfrm>
            <a:off x="76200" y="2286000"/>
            <a:ext cx="9067800" cy="4401205"/>
          </a:xfrm>
          <a:prstGeom prst="rect">
            <a:avLst/>
          </a:prstGeom>
          <a:noFill/>
        </p:spPr>
        <p:txBody>
          <a:bodyPr wrap="square" rtlCol="0">
            <a:spAutoFit/>
          </a:bodyPr>
          <a:lstStyle/>
          <a:p>
            <a:pPr fontAlgn="base"/>
            <a:r>
              <a:rPr lang="en-US" sz="2800" b="0" i="0" dirty="0">
                <a:effectLst/>
                <a:latin typeface="Times New Roman" panose="02020603050405020304" pitchFamily="18" charset="0"/>
                <a:cs typeface="Times New Roman" panose="02020603050405020304" pitchFamily="18" charset="0"/>
              </a:rPr>
              <a:t>Dependency Injection is a design pattern used in software development to implement Inversion of Control. </a:t>
            </a:r>
          </a:p>
          <a:p>
            <a:pPr fontAlgn="base"/>
            <a:r>
              <a:rPr lang="en-US" sz="2800" b="0" i="0" dirty="0">
                <a:effectLst/>
                <a:latin typeface="Times New Roman" panose="02020603050405020304" pitchFamily="18" charset="0"/>
                <a:cs typeface="Times New Roman" panose="02020603050405020304" pitchFamily="18" charset="0"/>
              </a:rPr>
              <a:t>It allows a class to receive its dependencies from an external source rather than creating them within the class. This reduces the dependency between classes and makes the system more maintainable</a:t>
            </a:r>
            <a:r>
              <a:rPr lang="en-US" sz="2800" b="0" i="0" dirty="0">
                <a:effectLst/>
                <a:latin typeface="Nunito" pitchFamily="2" charset="0"/>
              </a:rPr>
              <a:t>.</a:t>
            </a:r>
          </a:p>
          <a:p>
            <a:pPr fontAlgn="base"/>
            <a:r>
              <a:rPr lang="en-IN" sz="2800" b="1" i="0" dirty="0">
                <a:effectLst/>
                <a:latin typeface="Times New Roman" panose="02020603050405020304" pitchFamily="18" charset="0"/>
                <a:cs typeface="Times New Roman" panose="02020603050405020304" pitchFamily="18" charset="0"/>
              </a:rPr>
              <a:t>Types of Dependency Injection</a:t>
            </a:r>
          </a:p>
          <a:p>
            <a:pPr marL="514350" indent="-514350" fontAlgn="base">
              <a:buAutoNum type="arabicPeriod"/>
            </a:pPr>
            <a:r>
              <a:rPr lang="en-IN" sz="2800" i="0" dirty="0">
                <a:effectLst/>
                <a:latin typeface="Times New Roman" panose="02020603050405020304" pitchFamily="18" charset="0"/>
                <a:cs typeface="Times New Roman" panose="02020603050405020304" pitchFamily="18" charset="0"/>
              </a:rPr>
              <a:t>Constructor Injection</a:t>
            </a:r>
          </a:p>
          <a:p>
            <a:pPr marL="514350" indent="-514350" fontAlgn="base">
              <a:buAutoNum type="arabicPeriod"/>
            </a:pPr>
            <a:r>
              <a:rPr lang="en-US" sz="2800" i="0" dirty="0">
                <a:effectLst/>
                <a:latin typeface="Times New Roman" panose="02020603050405020304" pitchFamily="18" charset="0"/>
                <a:cs typeface="Times New Roman" panose="02020603050405020304" pitchFamily="18" charset="0"/>
              </a:rPr>
              <a:t>Setter Injection</a:t>
            </a:r>
          </a:p>
          <a:p>
            <a:pPr marL="514350" indent="-514350" fontAlgn="base">
              <a:buAutoNum type="arabicPeriod"/>
            </a:pPr>
            <a:r>
              <a:rPr lang="en-US" sz="2800" dirty="0">
                <a:latin typeface="Times New Roman" panose="02020603050405020304" pitchFamily="18" charset="0"/>
                <a:cs typeface="Times New Roman" panose="02020603050405020304" pitchFamily="18" charset="0"/>
              </a:rPr>
              <a:t>Field Injection</a:t>
            </a:r>
            <a:endParaRPr lang="en-US" sz="28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352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300B0-C734-2014-9915-2F2D7A59610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F8155AB-52C5-975C-BB7A-A8D18BE03F20}"/>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84C8C55F-E431-25C3-936D-00DB0DA9C0F1}"/>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Constructor </a:t>
            </a:r>
            <a:r>
              <a:rPr lang="en-IN" b="1" dirty="0">
                <a:solidFill>
                  <a:srgbClr val="FFFFFF"/>
                </a:solidFill>
                <a:latin typeface="Times New Roman" panose="02020603050405020304" pitchFamily="18" charset="0"/>
                <a:cs typeface="Times New Roman" panose="02020603050405020304" pitchFamily="18" charset="0"/>
              </a:rPr>
              <a:t>Injection</a:t>
            </a:r>
            <a:endParaRPr lang="en-IN" sz="3600"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B3FAC6-B313-5506-E055-3FD913838D71}"/>
              </a:ext>
            </a:extLst>
          </p:cNvPr>
          <p:cNvSpPr txBox="1"/>
          <p:nvPr/>
        </p:nvSpPr>
        <p:spPr>
          <a:xfrm>
            <a:off x="76200" y="2286000"/>
            <a:ext cx="8991600" cy="3108543"/>
          </a:xfrm>
          <a:prstGeom prst="rect">
            <a:avLst/>
          </a:prstGeom>
          <a:noFill/>
        </p:spPr>
        <p:txBody>
          <a:bodyPr wrap="square" rtlCol="0">
            <a:spAutoFit/>
          </a:bodyPr>
          <a:lstStyle/>
          <a:p>
            <a:r>
              <a:rPr lang="en-US" sz="2800" b="0" i="0" dirty="0">
                <a:effectLst/>
                <a:latin typeface="Times New Roman" panose="02020603050405020304" pitchFamily="18" charset="0"/>
                <a:cs typeface="Times New Roman" panose="02020603050405020304" pitchFamily="18" charset="0"/>
              </a:rPr>
              <a:t>In constructor injection, the dependent object is provided to the class via its constructor. The dependencies are passed when an instance of the class is created.</a:t>
            </a:r>
          </a:p>
          <a:p>
            <a:r>
              <a:rPr lang="en-US" sz="2800" b="1" dirty="0">
                <a:latin typeface="Times New Roman" panose="02020603050405020304" pitchFamily="18" charset="0"/>
                <a:cs typeface="Times New Roman" panose="02020603050405020304" pitchFamily="18" charset="0"/>
              </a:rPr>
              <a:t>Example:-</a:t>
            </a:r>
          </a:p>
          <a:p>
            <a:r>
              <a:rPr lang="en-US" sz="2800" dirty="0">
                <a:latin typeface="Times New Roman" panose="02020603050405020304" pitchFamily="18" charset="0"/>
                <a:cs typeface="Times New Roman" panose="02020603050405020304" pitchFamily="18" charset="0"/>
              </a:rPr>
              <a:t>@Component</a:t>
            </a:r>
          </a:p>
          <a:p>
            <a:r>
              <a:rPr lang="en-US" sz="2800" dirty="0">
                <a:latin typeface="Times New Roman" panose="02020603050405020304" pitchFamily="18" charset="0"/>
                <a:cs typeface="Times New Roman" panose="02020603050405020304" pitchFamily="18" charset="0"/>
              </a:rPr>
              <a:t>public class Engine {</a:t>
            </a:r>
          </a:p>
          <a:p>
            <a:r>
              <a:rPr lang="en-US" sz="2800" dirty="0">
                <a:latin typeface="Times New Roman" panose="02020603050405020304" pitchFamily="18" charset="0"/>
                <a:cs typeface="Times New Roman" panose="02020603050405020304" pitchFamily="18" charset="0"/>
              </a:rPr>
              <a:t>}</a:t>
            </a:r>
            <a:endParaRPr lang="en-US" sz="28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885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240C-C0BA-1037-B635-118AE8D066A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87EAA45-5ACC-ECEE-4845-E23DEB1185E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BDBAD1B9-AE67-22E7-D154-38A5EA98C2B7}"/>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Constructor </a:t>
            </a:r>
            <a:r>
              <a:rPr lang="en-IN" b="1" dirty="0">
                <a:solidFill>
                  <a:srgbClr val="FFFFFF"/>
                </a:solidFill>
                <a:latin typeface="Times New Roman" panose="02020603050405020304" pitchFamily="18" charset="0"/>
                <a:cs typeface="Times New Roman" panose="02020603050405020304" pitchFamily="18" charset="0"/>
              </a:rPr>
              <a:t>Injection</a:t>
            </a:r>
            <a:endParaRPr lang="en-IN" sz="3600"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50D995B-54FE-8250-2A7E-DECC7679D9D6}"/>
              </a:ext>
            </a:extLst>
          </p:cNvPr>
          <p:cNvSpPr txBox="1"/>
          <p:nvPr/>
        </p:nvSpPr>
        <p:spPr>
          <a:xfrm>
            <a:off x="76200" y="2286000"/>
            <a:ext cx="8991600" cy="3724096"/>
          </a:xfrm>
          <a:prstGeom prst="rect">
            <a:avLst/>
          </a:prstGeom>
          <a:noFill/>
        </p:spPr>
        <p:txBody>
          <a:bodyPr wrap="square" rtlCol="0">
            <a:spAutoFit/>
          </a:bodyPr>
          <a:lstStyle/>
          <a:p>
            <a:pPr fontAlgn="base">
              <a:spcAft>
                <a:spcPts val="750"/>
              </a:spcAft>
            </a:pPr>
            <a:r>
              <a:rPr lang="en-US" sz="2800" dirty="0">
                <a:latin typeface="Times New Roman" panose="02020603050405020304" pitchFamily="18" charset="0"/>
                <a:cs typeface="Times New Roman" panose="02020603050405020304" pitchFamily="18" charset="0"/>
              </a:rPr>
              <a:t>@Component</a:t>
            </a:r>
          </a:p>
          <a:p>
            <a:pPr fontAlgn="base">
              <a:spcAft>
                <a:spcPts val="750"/>
              </a:spcAft>
            </a:pPr>
            <a:r>
              <a:rPr lang="en-US" sz="2800" dirty="0">
                <a:latin typeface="Times New Roman" panose="02020603050405020304" pitchFamily="18" charset="0"/>
                <a:cs typeface="Times New Roman" panose="02020603050405020304" pitchFamily="18" charset="0"/>
              </a:rPr>
              <a:t>public class Car {</a:t>
            </a:r>
          </a:p>
          <a:p>
            <a:pPr lvl="1" fontAlgn="base">
              <a:spcAft>
                <a:spcPts val="750"/>
              </a:spcAft>
            </a:pPr>
            <a:r>
              <a:rPr lang="en-US" sz="2800" dirty="0">
                <a:latin typeface="Times New Roman" panose="02020603050405020304" pitchFamily="18" charset="0"/>
                <a:cs typeface="Times New Roman" panose="02020603050405020304" pitchFamily="18" charset="0"/>
              </a:rPr>
              <a:t>private Engine </a:t>
            </a:r>
            <a:r>
              <a:rPr lang="en-US" sz="2800" dirty="0" err="1">
                <a:latin typeface="Times New Roman" panose="02020603050405020304" pitchFamily="18" charset="0"/>
                <a:cs typeface="Times New Roman" panose="02020603050405020304" pitchFamily="18" charset="0"/>
              </a:rPr>
              <a:t>engine</a:t>
            </a:r>
            <a:r>
              <a:rPr lang="en-US" sz="2800" dirty="0">
                <a:latin typeface="Times New Roman" panose="02020603050405020304" pitchFamily="18" charset="0"/>
                <a:cs typeface="Times New Roman" panose="02020603050405020304" pitchFamily="18" charset="0"/>
              </a:rPr>
              <a:t>;</a:t>
            </a:r>
          </a:p>
          <a:p>
            <a:pPr lvl="1" fontAlgn="base">
              <a:spcAft>
                <a:spcPts val="750"/>
              </a:spcAft>
            </a:pPr>
            <a:r>
              <a:rPr lang="en-US" sz="2800" dirty="0">
                <a:latin typeface="Times New Roman" panose="02020603050405020304" pitchFamily="18" charset="0"/>
                <a:cs typeface="Times New Roman" panose="02020603050405020304" pitchFamily="18" charset="0"/>
              </a:rPr>
              <a:t>@Autowired</a:t>
            </a:r>
          </a:p>
          <a:p>
            <a:pPr lvl="1" fontAlgn="base">
              <a:spcAft>
                <a:spcPts val="750"/>
              </a:spcAft>
            </a:pPr>
            <a:r>
              <a:rPr lang="en-US" sz="2800" dirty="0">
                <a:latin typeface="Times New Roman" panose="02020603050405020304" pitchFamily="18" charset="0"/>
                <a:cs typeface="Times New Roman" panose="02020603050405020304" pitchFamily="18" charset="0"/>
              </a:rPr>
              <a:t>public Car(Engine engine) {</a:t>
            </a:r>
          </a:p>
          <a:p>
            <a:pPr lvl="1" fontAlgn="base">
              <a:spcAft>
                <a:spcPts val="750"/>
              </a:spcAft>
            </a:pPr>
            <a:r>
              <a:rPr lang="en-US" sz="2800" dirty="0" err="1">
                <a:latin typeface="Times New Roman" panose="02020603050405020304" pitchFamily="18" charset="0"/>
                <a:cs typeface="Times New Roman" panose="02020603050405020304" pitchFamily="18" charset="0"/>
              </a:rPr>
              <a:t>this.engine</a:t>
            </a:r>
            <a:r>
              <a:rPr lang="en-US" sz="2800" dirty="0">
                <a:latin typeface="Times New Roman" panose="02020603050405020304" pitchFamily="18" charset="0"/>
                <a:cs typeface="Times New Roman" panose="02020603050405020304" pitchFamily="18" charset="0"/>
              </a:rPr>
              <a:t> = engine;</a:t>
            </a:r>
          </a:p>
          <a:p>
            <a:pPr fontAlgn="base">
              <a:spcAft>
                <a:spcPts val="750"/>
              </a:spcAft>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049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CFA30-2BFA-0373-B410-9139E973F85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42457D7-A499-30E7-7DA6-598C0A365668}"/>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77E70A4-31E1-A0E0-FE5F-FA9E3B0F1B4C}"/>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dirty="0">
                <a:solidFill>
                  <a:srgbClr val="FFFFFF"/>
                </a:solidFill>
                <a:latin typeface="Times New Roman" panose="02020603050405020304" pitchFamily="18" charset="0"/>
                <a:cs typeface="Times New Roman" panose="02020603050405020304" pitchFamily="18" charset="0"/>
              </a:rPr>
              <a:t>Setter</a:t>
            </a:r>
            <a:r>
              <a:rPr lang="en-IN" b="1" i="0" dirty="0">
                <a:solidFill>
                  <a:srgbClr val="FFFFFF"/>
                </a:solidFill>
                <a:effectLst/>
                <a:latin typeface="Times New Roman" panose="02020603050405020304" pitchFamily="18" charset="0"/>
                <a:cs typeface="Times New Roman" panose="02020603050405020304" pitchFamily="18" charset="0"/>
              </a:rPr>
              <a:t> </a:t>
            </a:r>
            <a:r>
              <a:rPr lang="en-IN" b="1" dirty="0">
                <a:solidFill>
                  <a:srgbClr val="FFFFFF"/>
                </a:solidFill>
                <a:latin typeface="Times New Roman" panose="02020603050405020304" pitchFamily="18" charset="0"/>
                <a:cs typeface="Times New Roman" panose="02020603050405020304" pitchFamily="18" charset="0"/>
              </a:rPr>
              <a:t>Injection</a:t>
            </a:r>
            <a:endParaRPr lang="en-IN" sz="3600"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E91E037-07A8-6DEE-D34E-E78B61E79014}"/>
              </a:ext>
            </a:extLst>
          </p:cNvPr>
          <p:cNvSpPr txBox="1"/>
          <p:nvPr/>
        </p:nvSpPr>
        <p:spPr>
          <a:xfrm>
            <a:off x="76200" y="2286000"/>
            <a:ext cx="8991600" cy="5016758"/>
          </a:xfrm>
          <a:prstGeom prst="rect">
            <a:avLst/>
          </a:prstGeom>
          <a:noFill/>
        </p:spPr>
        <p:txBody>
          <a:bodyPr wrap="square" rtlCol="0">
            <a:spAutoFit/>
          </a:bodyPr>
          <a:lstStyle/>
          <a:p>
            <a:r>
              <a:rPr lang="en-US" sz="2800" b="0" dirty="0">
                <a:effectLst/>
                <a:latin typeface="Times New Roman" panose="02020603050405020304" pitchFamily="18" charset="0"/>
                <a:cs typeface="Times New Roman" panose="02020603050405020304" pitchFamily="18" charset="0"/>
              </a:rPr>
              <a:t>In setter injection, the dependent object is provided to the class via a setter method after the class is instantiated. This allows you to change the dependencies dynamically.</a:t>
            </a:r>
          </a:p>
          <a:p>
            <a:r>
              <a:rPr lang="en-US" sz="2800" b="1" dirty="0">
                <a:latin typeface="Times New Roman" panose="02020603050405020304" pitchFamily="18" charset="0"/>
                <a:cs typeface="Times New Roman" panose="02020603050405020304" pitchFamily="18" charset="0"/>
              </a:rPr>
              <a:t>Example:-</a:t>
            </a:r>
          </a:p>
          <a:p>
            <a:pPr algn="l" rtl="0" fontAlgn="base">
              <a:spcAft>
                <a:spcPts val="750"/>
              </a:spcAft>
              <a:buNone/>
            </a:pPr>
            <a:r>
              <a:rPr lang="en-IN" sz="2400" b="0" dirty="0">
                <a:effectLst/>
                <a:latin typeface="Times New Roman" panose="02020603050405020304" pitchFamily="18" charset="0"/>
                <a:cs typeface="Times New Roman" panose="02020603050405020304" pitchFamily="18" charset="0"/>
              </a:rPr>
              <a:t>@Component</a:t>
            </a:r>
          </a:p>
          <a:p>
            <a:pPr algn="l" rtl="0" fontAlgn="base">
              <a:spcAft>
                <a:spcPts val="750"/>
              </a:spcAft>
              <a:buNone/>
            </a:pPr>
            <a:r>
              <a:rPr lang="en-IN" sz="2400" b="0" dirty="0">
                <a:effectLst/>
                <a:latin typeface="Times New Roman" panose="02020603050405020304" pitchFamily="18" charset="0"/>
                <a:cs typeface="Times New Roman" panose="02020603050405020304" pitchFamily="18" charset="0"/>
              </a:rPr>
              <a:t>public class Car {</a:t>
            </a:r>
          </a:p>
          <a:p>
            <a:pPr lvl="1" fontAlgn="base">
              <a:spcAft>
                <a:spcPts val="750"/>
              </a:spcAft>
            </a:pPr>
            <a:r>
              <a:rPr lang="en-IN" sz="2400" b="0" dirty="0">
                <a:effectLst/>
                <a:latin typeface="Times New Roman" panose="02020603050405020304" pitchFamily="18" charset="0"/>
                <a:cs typeface="Times New Roman" panose="02020603050405020304" pitchFamily="18" charset="0"/>
              </a:rPr>
              <a:t>private Engine </a:t>
            </a:r>
            <a:r>
              <a:rPr lang="en-IN" sz="2400" b="0" dirty="0" err="1">
                <a:effectLst/>
                <a:latin typeface="Times New Roman" panose="02020603050405020304" pitchFamily="18" charset="0"/>
                <a:cs typeface="Times New Roman" panose="02020603050405020304" pitchFamily="18" charset="0"/>
              </a:rPr>
              <a:t>engine</a:t>
            </a:r>
            <a:r>
              <a:rPr lang="en-IN" sz="2400" b="0" dirty="0">
                <a:effectLst/>
                <a:latin typeface="Times New Roman" panose="02020603050405020304" pitchFamily="18" charset="0"/>
                <a:cs typeface="Times New Roman" panose="02020603050405020304" pitchFamily="18" charset="0"/>
              </a:rPr>
              <a:t>;</a:t>
            </a:r>
          </a:p>
          <a:p>
            <a:pPr lvl="1" fontAlgn="base">
              <a:spcAft>
                <a:spcPts val="750"/>
              </a:spcAft>
            </a:pPr>
            <a:r>
              <a:rPr lang="en-IN" sz="2400" dirty="0">
                <a:latin typeface="Times New Roman" panose="02020603050405020304" pitchFamily="18" charset="0"/>
                <a:cs typeface="Times New Roman" panose="02020603050405020304" pitchFamily="18" charset="0"/>
              </a:rPr>
              <a:t>@Autowired</a:t>
            </a:r>
            <a:endParaRPr lang="en-IN" sz="2400" b="0" dirty="0">
              <a:effectLst/>
              <a:latin typeface="Times New Roman" panose="02020603050405020304" pitchFamily="18" charset="0"/>
              <a:cs typeface="Times New Roman" panose="02020603050405020304" pitchFamily="18" charset="0"/>
            </a:endParaRPr>
          </a:p>
          <a:p>
            <a:pPr lvl="1" fontAlgn="base">
              <a:spcAft>
                <a:spcPts val="750"/>
              </a:spcAft>
            </a:pPr>
            <a:r>
              <a:rPr lang="en-IN" sz="2400" b="0" dirty="0">
                <a:effectLst/>
                <a:latin typeface="Times New Roman" panose="02020603050405020304" pitchFamily="18" charset="0"/>
                <a:cs typeface="Times New Roman" panose="02020603050405020304" pitchFamily="18" charset="0"/>
              </a:rPr>
              <a:t>public void </a:t>
            </a:r>
            <a:r>
              <a:rPr lang="en-IN" sz="2400" b="0" dirty="0" err="1">
                <a:effectLst/>
                <a:latin typeface="Times New Roman" panose="02020603050405020304" pitchFamily="18" charset="0"/>
                <a:cs typeface="Times New Roman" panose="02020603050405020304" pitchFamily="18" charset="0"/>
              </a:rPr>
              <a:t>setEngine</a:t>
            </a:r>
            <a:r>
              <a:rPr lang="en-IN" sz="2400" b="0" dirty="0">
                <a:effectLst/>
                <a:latin typeface="Times New Roman" panose="02020603050405020304" pitchFamily="18" charset="0"/>
                <a:cs typeface="Times New Roman" panose="02020603050405020304" pitchFamily="18" charset="0"/>
              </a:rPr>
              <a:t>(Engine engine) {</a:t>
            </a:r>
          </a:p>
          <a:p>
            <a:pPr lvl="1" fontAlgn="base">
              <a:spcAft>
                <a:spcPts val="750"/>
              </a:spcAft>
            </a:pPr>
            <a:r>
              <a:rPr lang="en-IN" sz="2400" b="0" dirty="0" err="1">
                <a:effectLst/>
                <a:latin typeface="Times New Roman" panose="02020603050405020304" pitchFamily="18" charset="0"/>
                <a:cs typeface="Times New Roman" panose="02020603050405020304" pitchFamily="18" charset="0"/>
              </a:rPr>
              <a:t>this.engine</a:t>
            </a:r>
            <a:r>
              <a:rPr lang="en-IN" sz="2400" b="0" dirty="0">
                <a:effectLst/>
                <a:latin typeface="Times New Roman" panose="02020603050405020304" pitchFamily="18" charset="0"/>
                <a:cs typeface="Times New Roman" panose="02020603050405020304" pitchFamily="18" charset="0"/>
              </a:rPr>
              <a:t> = engine;</a:t>
            </a:r>
          </a:p>
          <a:p>
            <a:pPr algn="l" fontAlgn="base">
              <a:spcAft>
                <a:spcPts val="750"/>
              </a:spcAft>
              <a:buNone/>
            </a:pPr>
            <a:r>
              <a:rPr lang="en-IN" sz="2400" b="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4741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91860-B9EF-0E65-5991-E664F529C8C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E74B806-914A-3C8C-3FA2-05344BDB634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9B84CD9A-42C5-B341-7613-98A3A6AE17C0}"/>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Field </a:t>
            </a:r>
            <a:r>
              <a:rPr lang="en-IN" b="1" dirty="0">
                <a:solidFill>
                  <a:srgbClr val="FFFFFF"/>
                </a:solidFill>
                <a:latin typeface="Times New Roman" panose="02020603050405020304" pitchFamily="18" charset="0"/>
                <a:cs typeface="Times New Roman" panose="02020603050405020304" pitchFamily="18" charset="0"/>
              </a:rPr>
              <a:t>Injection</a:t>
            </a:r>
            <a:endParaRPr lang="en-IN" sz="3600"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477720D-0864-3D54-A423-55ECD8795358}"/>
              </a:ext>
            </a:extLst>
          </p:cNvPr>
          <p:cNvSpPr txBox="1"/>
          <p:nvPr/>
        </p:nvSpPr>
        <p:spPr>
          <a:xfrm>
            <a:off x="76200" y="2286000"/>
            <a:ext cx="8991600" cy="4708981"/>
          </a:xfrm>
          <a:prstGeom prst="rect">
            <a:avLst/>
          </a:prstGeom>
          <a:noFill/>
        </p:spPr>
        <p:txBody>
          <a:bodyPr wrap="square" rtlCol="0">
            <a:spAutoFit/>
          </a:bodyPr>
          <a:lstStyle/>
          <a:p>
            <a:r>
              <a:rPr lang="en-US" sz="2800" b="0" i="0" dirty="0">
                <a:effectLst/>
                <a:latin typeface="Times New Roman" panose="02020603050405020304" pitchFamily="18" charset="0"/>
                <a:cs typeface="Times New Roman" panose="02020603050405020304" pitchFamily="18" charset="0"/>
              </a:rPr>
              <a:t>In field injection, the dependent object is directly injected into the class through its fields. It is done using framework like Spring(via annotations). The Dependency Injection automatically injects the dependency without requiring explicit constructor or setter methods.</a:t>
            </a:r>
          </a:p>
          <a:p>
            <a:r>
              <a:rPr lang="en-US" sz="2800" b="1" dirty="0">
                <a:latin typeface="Times New Roman" panose="02020603050405020304" pitchFamily="18" charset="0"/>
                <a:cs typeface="Times New Roman" panose="02020603050405020304" pitchFamily="18" charset="0"/>
              </a:rPr>
              <a:t>Example:-</a:t>
            </a:r>
          </a:p>
          <a:p>
            <a:pPr algn="l" rtl="0" fontAlgn="base">
              <a:spcAft>
                <a:spcPts val="750"/>
              </a:spcAft>
              <a:buNone/>
            </a:pPr>
            <a:r>
              <a:rPr lang="en-US" sz="2800" b="0" dirty="0">
                <a:effectLst/>
                <a:latin typeface="Times New Roman" panose="02020603050405020304" pitchFamily="18" charset="0"/>
                <a:cs typeface="Times New Roman" panose="02020603050405020304" pitchFamily="18" charset="0"/>
              </a:rPr>
              <a:t>public class Car {</a:t>
            </a:r>
          </a:p>
          <a:p>
            <a:pPr algn="l" rtl="0" fontAlgn="base">
              <a:spcAft>
                <a:spcPts val="750"/>
              </a:spcAft>
              <a:buNone/>
            </a:pPr>
            <a:r>
              <a:rPr lang="en-US" sz="2800" b="0" dirty="0">
                <a:effectLst/>
                <a:latin typeface="Times New Roman" panose="02020603050405020304" pitchFamily="18" charset="0"/>
                <a:cs typeface="Times New Roman" panose="02020603050405020304" pitchFamily="18" charset="0"/>
              </a:rPr>
              <a:t>@Autowired</a:t>
            </a:r>
          </a:p>
          <a:p>
            <a:pPr algn="l" rtl="0" fontAlgn="base">
              <a:spcAft>
                <a:spcPts val="750"/>
              </a:spcAft>
              <a:buNone/>
            </a:pPr>
            <a:r>
              <a:rPr lang="en-US" sz="2800" b="0" dirty="0">
                <a:effectLst/>
                <a:latin typeface="Times New Roman" panose="02020603050405020304" pitchFamily="18" charset="0"/>
                <a:cs typeface="Times New Roman" panose="02020603050405020304" pitchFamily="18" charset="0"/>
              </a:rPr>
              <a:t>private Engine </a:t>
            </a:r>
            <a:r>
              <a:rPr lang="en-US" sz="2800" b="0" dirty="0" err="1">
                <a:effectLst/>
                <a:latin typeface="Times New Roman" panose="02020603050405020304" pitchFamily="18" charset="0"/>
                <a:cs typeface="Times New Roman" panose="02020603050405020304" pitchFamily="18" charset="0"/>
              </a:rPr>
              <a:t>engine</a:t>
            </a:r>
            <a:r>
              <a:rPr lang="en-US" sz="2800" b="0" dirty="0">
                <a:effectLst/>
                <a:latin typeface="Times New Roman" panose="02020603050405020304" pitchFamily="18" charset="0"/>
                <a:cs typeface="Times New Roman" panose="02020603050405020304" pitchFamily="18" charset="0"/>
              </a:rPr>
              <a:t>;</a:t>
            </a:r>
          </a:p>
          <a:p>
            <a:pPr algn="l" fontAlgn="base">
              <a:spcAft>
                <a:spcPts val="750"/>
              </a:spcAft>
              <a:buNone/>
            </a:pPr>
            <a:r>
              <a:rPr lang="en-US" sz="2800" b="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88767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1CB3-D27B-2B56-AFB2-DF2B128EF05E}"/>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BBF7241-3017-6B17-46ED-75E0847D999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A896040C-0F55-C3FF-E112-FF8A1394C2A3}"/>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Spring Annotation</a:t>
            </a:r>
          </a:p>
        </p:txBody>
      </p:sp>
      <p:sp>
        <p:nvSpPr>
          <p:cNvPr id="2" name="TextBox 1">
            <a:extLst>
              <a:ext uri="{FF2B5EF4-FFF2-40B4-BE49-F238E27FC236}">
                <a16:creationId xmlns:a16="http://schemas.microsoft.com/office/drawing/2014/main" id="{BF08F4B7-97C1-C8CC-38EC-0D3DB11808AB}"/>
              </a:ext>
            </a:extLst>
          </p:cNvPr>
          <p:cNvSpPr txBox="1"/>
          <p:nvPr/>
        </p:nvSpPr>
        <p:spPr>
          <a:xfrm>
            <a:off x="76200" y="2286000"/>
            <a:ext cx="8991600" cy="4524315"/>
          </a:xfrm>
          <a:prstGeom prst="rect">
            <a:avLst/>
          </a:prstGeom>
          <a:noFill/>
        </p:spPr>
        <p:txBody>
          <a:bodyPr wrap="square" rtlCol="0">
            <a:spAutoFit/>
          </a:bodyPr>
          <a:lstStyle/>
          <a:p>
            <a:pPr algn="l" fontAlgn="base">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@Component: </a:t>
            </a:r>
            <a:r>
              <a:rPr lang="en-US" sz="2400" b="0" i="0" dirty="0">
                <a:effectLst/>
                <a:latin typeface="Times New Roman" panose="02020603050405020304" pitchFamily="18" charset="0"/>
                <a:cs typeface="Times New Roman" panose="02020603050405020304" pitchFamily="18" charset="0"/>
              </a:rPr>
              <a:t>Marks a class as a Spring bean, allowing Spring to automatically detect and manage it during </a:t>
            </a:r>
            <a:r>
              <a:rPr lang="en-US" sz="2400" b="0" i="0" dirty="0" err="1">
                <a:effectLst/>
                <a:latin typeface="Times New Roman" panose="02020603050405020304" pitchFamily="18" charset="0"/>
                <a:cs typeface="Times New Roman" panose="02020603050405020304" pitchFamily="18" charset="0"/>
              </a:rPr>
              <a:t>classpath</a:t>
            </a:r>
            <a:r>
              <a:rPr lang="en-US" sz="2400" b="0" i="0" dirty="0">
                <a:effectLst/>
                <a:latin typeface="Times New Roman" panose="02020603050405020304" pitchFamily="18" charset="0"/>
                <a:cs typeface="Times New Roman" panose="02020603050405020304" pitchFamily="18" charset="0"/>
              </a:rPr>
              <a:t> scanning.</a:t>
            </a:r>
          </a:p>
          <a:p>
            <a:pPr algn="l" fontAlgn="base">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@Autowired: </a:t>
            </a:r>
            <a:r>
              <a:rPr lang="en-US" sz="2400" b="0" i="0" dirty="0">
                <a:effectLst/>
                <a:latin typeface="Times New Roman" panose="02020603050405020304" pitchFamily="18" charset="0"/>
                <a:cs typeface="Times New Roman" panose="02020603050405020304" pitchFamily="18" charset="0"/>
              </a:rPr>
              <a:t>Automatically injects dependencies into a class. It can be used on fields, constructors, or methods, allowing Spring to resolve and inject the required beans.</a:t>
            </a:r>
          </a:p>
          <a:p>
            <a:pPr algn="l" fontAlgn="base">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@Bean: </a:t>
            </a:r>
            <a:r>
              <a:rPr lang="en-US" sz="2400" b="0" i="0" dirty="0">
                <a:effectLst/>
                <a:latin typeface="Times New Roman" panose="02020603050405020304" pitchFamily="18" charset="0"/>
                <a:cs typeface="Times New Roman" panose="02020603050405020304" pitchFamily="18" charset="0"/>
              </a:rPr>
              <a:t>Defines a Spring bean explicitly within a configuration class. This is used to create and configure beans that are not automatically detected by </a:t>
            </a:r>
            <a:r>
              <a:rPr lang="en-US" sz="2400" b="0" i="0" dirty="0" err="1">
                <a:effectLst/>
                <a:latin typeface="Times New Roman" panose="02020603050405020304" pitchFamily="18" charset="0"/>
                <a:cs typeface="Times New Roman" panose="02020603050405020304" pitchFamily="18" charset="0"/>
              </a:rPr>
              <a:t>classpath</a:t>
            </a:r>
            <a:r>
              <a:rPr lang="en-US" sz="2400" b="0" i="0" dirty="0">
                <a:effectLst/>
                <a:latin typeface="Times New Roman" panose="02020603050405020304" pitchFamily="18" charset="0"/>
                <a:cs typeface="Times New Roman" panose="02020603050405020304" pitchFamily="18" charset="0"/>
              </a:rPr>
              <a:t> scanning.</a:t>
            </a:r>
          </a:p>
          <a:p>
            <a:pPr algn="l" fontAlgn="base">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@Configuration: </a:t>
            </a:r>
            <a:r>
              <a:rPr lang="en-US" sz="2400" b="0" i="0" dirty="0">
                <a:effectLst/>
                <a:latin typeface="Times New Roman" panose="02020603050405020304" pitchFamily="18" charset="0"/>
                <a:cs typeface="Times New Roman" panose="02020603050405020304" pitchFamily="18" charset="0"/>
              </a:rPr>
              <a:t>Indicates that a class contains bean definitions and acts as a source of bean configuration. It is used to mark a class as a configuration class that contains methods annotated with @Bean to define beans.</a:t>
            </a:r>
          </a:p>
        </p:txBody>
      </p:sp>
    </p:spTree>
    <p:extLst>
      <p:ext uri="{BB962C8B-B14F-4D97-AF65-F5344CB8AC3E}">
        <p14:creationId xmlns:p14="http://schemas.microsoft.com/office/powerpoint/2010/main" val="212946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4E46-40E3-A55A-F2BA-79204F2FCBE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31FC29E-86AB-411E-04E9-A4FAAC8B9F49}"/>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E8DEF196-466D-1273-7B4E-44391D16F978}"/>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Injecting Inner Beans</a:t>
            </a:r>
          </a:p>
        </p:txBody>
      </p:sp>
      <p:sp>
        <p:nvSpPr>
          <p:cNvPr id="2" name="TextBox 1">
            <a:extLst>
              <a:ext uri="{FF2B5EF4-FFF2-40B4-BE49-F238E27FC236}">
                <a16:creationId xmlns:a16="http://schemas.microsoft.com/office/drawing/2014/main" id="{06603621-D57C-297A-F844-A2228537646E}"/>
              </a:ext>
            </a:extLst>
          </p:cNvPr>
          <p:cNvSpPr txBox="1"/>
          <p:nvPr/>
        </p:nvSpPr>
        <p:spPr>
          <a:xfrm>
            <a:off x="76200" y="2286000"/>
            <a:ext cx="8991600" cy="3785652"/>
          </a:xfrm>
          <a:prstGeom prst="rect">
            <a:avLst/>
          </a:prstGeom>
          <a:noFill/>
        </p:spPr>
        <p:txBody>
          <a:bodyPr wrap="square" rtlCol="0">
            <a:spAutoFit/>
          </a:bodyPr>
          <a:lstStyle/>
          <a:p>
            <a:pPr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 inner bean is a bean defined inside another bean's dependency configuration.</a:t>
            </a:r>
          </a:p>
          <a:p>
            <a:pPr fontAlgn="base">
              <a:buFont typeface="Arial" panose="020B0604020202020204" pitchFamily="34" charset="0"/>
              <a:buChar char="•"/>
            </a:pPr>
            <a:r>
              <a:rPr lang="en-IN" sz="2400" b="1" i="0" dirty="0">
                <a:effectLst/>
                <a:latin typeface="Times New Roman" panose="02020603050405020304" pitchFamily="18" charset="0"/>
                <a:cs typeface="Times New Roman" panose="02020603050405020304" pitchFamily="18" charset="0"/>
              </a:rPr>
              <a:t>Examp</a:t>
            </a:r>
            <a:r>
              <a:rPr lang="en-IN" sz="2400" b="1" dirty="0">
                <a:latin typeface="Times New Roman" panose="02020603050405020304" pitchFamily="18" charset="0"/>
                <a:cs typeface="Times New Roman" panose="02020603050405020304" pitchFamily="18" charset="0"/>
              </a:rPr>
              <a:t>le:</a:t>
            </a:r>
          </a:p>
          <a:p>
            <a:pPr fontAlgn="base"/>
            <a:r>
              <a:rPr lang="en-US" sz="2400" dirty="0">
                <a:latin typeface="Times New Roman" panose="02020603050405020304" pitchFamily="18" charset="0"/>
                <a:cs typeface="Times New Roman" panose="02020603050405020304" pitchFamily="18" charset="0"/>
              </a:rPr>
              <a:t>&lt;bean id="car" class="</a:t>
            </a:r>
            <a:r>
              <a:rPr lang="en-US" sz="2400" dirty="0" err="1">
                <a:latin typeface="Times New Roman" panose="02020603050405020304" pitchFamily="18" charset="0"/>
                <a:cs typeface="Times New Roman" panose="02020603050405020304" pitchFamily="18" charset="0"/>
              </a:rPr>
              <a:t>com.example.Car</a:t>
            </a:r>
            <a:r>
              <a:rPr lang="en-US" sz="2400" dirty="0">
                <a:latin typeface="Times New Roman" panose="02020603050405020304" pitchFamily="18" charset="0"/>
                <a:cs typeface="Times New Roman" panose="02020603050405020304" pitchFamily="18" charset="0"/>
              </a:rPr>
              <a:t>"&gt;</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    &lt;property name="engine"&gt;</a:t>
            </a:r>
          </a:p>
          <a:p>
            <a:pPr fontAlgn="base"/>
            <a:r>
              <a:rPr lang="en-US" sz="2400" dirty="0">
                <a:latin typeface="Times New Roman" panose="02020603050405020304" pitchFamily="18" charset="0"/>
                <a:cs typeface="Times New Roman" panose="02020603050405020304" pitchFamily="18" charset="0"/>
              </a:rPr>
              <a:t>        &lt;bean class="</a:t>
            </a:r>
            <a:r>
              <a:rPr lang="en-US" sz="2400" dirty="0" err="1">
                <a:latin typeface="Times New Roman" panose="02020603050405020304" pitchFamily="18" charset="0"/>
                <a:cs typeface="Times New Roman" panose="02020603050405020304" pitchFamily="18" charset="0"/>
              </a:rPr>
              <a:t>com.example.Engine</a:t>
            </a:r>
            <a:r>
              <a:rPr lang="en-US" sz="2400" dirty="0">
                <a:latin typeface="Times New Roman" panose="02020603050405020304" pitchFamily="18" charset="0"/>
                <a:cs typeface="Times New Roman" panose="02020603050405020304" pitchFamily="18" charset="0"/>
              </a:rPr>
              <a:t>"/&gt;</a:t>
            </a:r>
          </a:p>
          <a:p>
            <a:pPr fontAlgn="base"/>
            <a:r>
              <a:rPr lang="en-US" sz="2400" dirty="0">
                <a:latin typeface="Times New Roman" panose="02020603050405020304" pitchFamily="18" charset="0"/>
                <a:cs typeface="Times New Roman" panose="02020603050405020304" pitchFamily="18" charset="0"/>
              </a:rPr>
              <a:t>    &lt;/property&gt;</a:t>
            </a:r>
          </a:p>
          <a:p>
            <a:pPr fontAlgn="base"/>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&lt;/bean&gt;</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871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DD447-D9AB-6587-5E46-A7C28D0F6AA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F78C342-BE65-69DF-9F8E-9F038E816BB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3958DB3D-5837-2D1C-9F28-E45DB449FA84}"/>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Injecting Collection</a:t>
            </a:r>
          </a:p>
        </p:txBody>
      </p:sp>
      <p:sp>
        <p:nvSpPr>
          <p:cNvPr id="2" name="TextBox 1">
            <a:extLst>
              <a:ext uri="{FF2B5EF4-FFF2-40B4-BE49-F238E27FC236}">
                <a16:creationId xmlns:a16="http://schemas.microsoft.com/office/drawing/2014/main" id="{B25663A7-AEAE-B85E-1213-4B2CD24921F9}"/>
              </a:ext>
            </a:extLst>
          </p:cNvPr>
          <p:cNvSpPr txBox="1"/>
          <p:nvPr/>
        </p:nvSpPr>
        <p:spPr>
          <a:xfrm>
            <a:off x="76200" y="2286000"/>
            <a:ext cx="8991600" cy="4154984"/>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can inject List, Set, Map etc.</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Example:</a:t>
            </a:r>
          </a:p>
          <a:p>
            <a:r>
              <a:rPr lang="en-US" sz="2400" dirty="0">
                <a:latin typeface="Times New Roman" panose="02020603050405020304" pitchFamily="18" charset="0"/>
                <a:cs typeface="Times New Roman" panose="02020603050405020304" pitchFamily="18" charset="0"/>
              </a:rPr>
              <a:t>&lt;bean id="student" class="</a:t>
            </a:r>
            <a:r>
              <a:rPr lang="en-US" sz="2400" dirty="0" err="1">
                <a:latin typeface="Times New Roman" panose="02020603050405020304" pitchFamily="18" charset="0"/>
                <a:cs typeface="Times New Roman" panose="02020603050405020304" pitchFamily="18" charset="0"/>
              </a:rPr>
              <a:t>com.example.Student</a:t>
            </a:r>
            <a:r>
              <a:rPr lang="en-US" sz="2400" dirty="0">
                <a:latin typeface="Times New Roman" panose="02020603050405020304" pitchFamily="18" charset="0"/>
                <a:cs typeface="Times New Roman" panose="02020603050405020304" pitchFamily="18" charset="0"/>
              </a:rPr>
              <a:t>"&gt;</a:t>
            </a:r>
          </a:p>
          <a:p>
            <a:r>
              <a:rPr lang="en-US" sz="2400" dirty="0">
                <a:latin typeface="Times New Roman" panose="02020603050405020304" pitchFamily="18" charset="0"/>
                <a:cs typeface="Times New Roman" panose="02020603050405020304" pitchFamily="18" charset="0"/>
              </a:rPr>
              <a:t>    &lt;property name="subjects"&gt;</a:t>
            </a:r>
          </a:p>
          <a:p>
            <a:r>
              <a:rPr lang="en-US" sz="2400" dirty="0">
                <a:latin typeface="Times New Roman" panose="02020603050405020304" pitchFamily="18" charset="0"/>
                <a:cs typeface="Times New Roman" panose="02020603050405020304" pitchFamily="18" charset="0"/>
              </a:rPr>
              <a:t>        &lt;list&gt;</a:t>
            </a:r>
          </a:p>
          <a:p>
            <a:r>
              <a:rPr lang="en-US" sz="2400" dirty="0">
                <a:latin typeface="Times New Roman" panose="02020603050405020304" pitchFamily="18" charset="0"/>
                <a:cs typeface="Times New Roman" panose="02020603050405020304" pitchFamily="18" charset="0"/>
              </a:rPr>
              <a:t>            &lt;value&gt;Java&lt;/value&gt;</a:t>
            </a:r>
          </a:p>
          <a:p>
            <a:r>
              <a:rPr lang="en-US" sz="2400" dirty="0">
                <a:latin typeface="Times New Roman" panose="02020603050405020304" pitchFamily="18" charset="0"/>
                <a:cs typeface="Times New Roman" panose="02020603050405020304" pitchFamily="18" charset="0"/>
              </a:rPr>
              <a:t>            &lt;value&gt;Spring&lt;/value&gt;</a:t>
            </a:r>
          </a:p>
          <a:p>
            <a:r>
              <a:rPr lang="en-US" sz="2400" dirty="0">
                <a:latin typeface="Times New Roman" panose="02020603050405020304" pitchFamily="18" charset="0"/>
                <a:cs typeface="Times New Roman" panose="02020603050405020304" pitchFamily="18" charset="0"/>
              </a:rPr>
              <a:t>            &lt;value&gt;Database&lt;/value&gt;</a:t>
            </a:r>
          </a:p>
          <a:p>
            <a:r>
              <a:rPr lang="en-US" sz="2400" dirty="0">
                <a:latin typeface="Times New Roman" panose="02020603050405020304" pitchFamily="18" charset="0"/>
                <a:cs typeface="Times New Roman" panose="02020603050405020304" pitchFamily="18" charset="0"/>
              </a:rPr>
              <a:t>        &lt;/list&gt;</a:t>
            </a:r>
          </a:p>
          <a:p>
            <a:r>
              <a:rPr lang="en-US" sz="2400" dirty="0">
                <a:latin typeface="Times New Roman" panose="02020603050405020304" pitchFamily="18" charset="0"/>
                <a:cs typeface="Times New Roman" panose="02020603050405020304" pitchFamily="18" charset="0"/>
              </a:rPr>
              <a:t>    &lt;/property&gt;</a:t>
            </a:r>
          </a:p>
          <a:p>
            <a:r>
              <a:rPr lang="en-US" sz="2400" dirty="0">
                <a:latin typeface="Times New Roman" panose="02020603050405020304" pitchFamily="18" charset="0"/>
                <a:cs typeface="Times New Roman" panose="02020603050405020304" pitchFamily="18" charset="0"/>
              </a:rPr>
              <a:t>&lt;/bean&gt;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71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4E077-B161-F813-EB08-18B47892FFE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DC7AFAB-15BF-958D-850F-DB7DCF390CDE}"/>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A8D00823-3B55-AD73-7A69-78C2F8399D82}"/>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Event Handling</a:t>
            </a:r>
          </a:p>
        </p:txBody>
      </p:sp>
      <p:sp>
        <p:nvSpPr>
          <p:cNvPr id="2" name="TextBox 1">
            <a:extLst>
              <a:ext uri="{FF2B5EF4-FFF2-40B4-BE49-F238E27FC236}">
                <a16:creationId xmlns:a16="http://schemas.microsoft.com/office/drawing/2014/main" id="{1A6310B4-BA98-E66B-972F-AFECC0084AC3}"/>
              </a:ext>
            </a:extLst>
          </p:cNvPr>
          <p:cNvSpPr txBox="1"/>
          <p:nvPr/>
        </p:nvSpPr>
        <p:spPr>
          <a:xfrm>
            <a:off x="76200" y="2286000"/>
            <a:ext cx="8991600" cy="3785652"/>
          </a:xfrm>
          <a:prstGeom prst="rect">
            <a:avLst/>
          </a:prstGeom>
          <a:noFill/>
        </p:spPr>
        <p:txBody>
          <a:bodyPr wrap="square" rtlCol="0">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Spring can handle any events.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Example:</a:t>
            </a:r>
          </a:p>
          <a:p>
            <a:r>
              <a:rPr lang="en-IN" sz="2400" dirty="0">
                <a:latin typeface="Times New Roman" panose="02020603050405020304" pitchFamily="18" charset="0"/>
                <a:cs typeface="Times New Roman" panose="02020603050405020304" pitchFamily="18" charset="0"/>
              </a:rPr>
              <a:t>@Component</a:t>
            </a:r>
          </a:p>
          <a:p>
            <a:r>
              <a:rPr lang="en-IN" sz="2400" dirty="0">
                <a:latin typeface="Times New Roman" panose="02020603050405020304" pitchFamily="18" charset="0"/>
                <a:cs typeface="Times New Roman" panose="02020603050405020304" pitchFamily="18" charset="0"/>
              </a:rPr>
              <a:t>public class </a:t>
            </a:r>
            <a:r>
              <a:rPr lang="en-IN" sz="2400" dirty="0" err="1">
                <a:latin typeface="Times New Roman" panose="02020603050405020304" pitchFamily="18" charset="0"/>
                <a:cs typeface="Times New Roman" panose="02020603050405020304" pitchFamily="18" charset="0"/>
              </a:rPr>
              <a:t>StudentEventListener</a:t>
            </a:r>
            <a:r>
              <a:rPr lang="en-IN"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@EventListener</a:t>
            </a:r>
          </a:p>
          <a:p>
            <a:r>
              <a:rPr lang="en-IN" sz="2400" dirty="0">
                <a:latin typeface="Times New Roman" panose="02020603050405020304" pitchFamily="18" charset="0"/>
                <a:cs typeface="Times New Roman" panose="02020603050405020304" pitchFamily="18" charset="0"/>
              </a:rPr>
              <a:t>    public void handle(</a:t>
            </a:r>
            <a:r>
              <a:rPr lang="en-IN" sz="2400" dirty="0" err="1">
                <a:latin typeface="Times New Roman" panose="02020603050405020304" pitchFamily="18" charset="0"/>
                <a:cs typeface="Times New Roman" panose="02020603050405020304" pitchFamily="18" charset="0"/>
              </a:rPr>
              <a:t>StudentRegisteredEvent</a:t>
            </a:r>
            <a:r>
              <a:rPr lang="en-IN" sz="2400" dirty="0">
                <a:latin typeface="Times New Roman" panose="02020603050405020304" pitchFamily="18" charset="0"/>
                <a:cs typeface="Times New Roman" panose="02020603050405020304" pitchFamily="18" charset="0"/>
              </a:rPr>
              <a:t> event)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System.out.println</a:t>
            </a:r>
            <a:r>
              <a:rPr lang="en-IN" sz="2400" dirty="0">
                <a:latin typeface="Times New Roman" panose="02020603050405020304" pitchFamily="18" charset="0"/>
                <a:cs typeface="Times New Roman" panose="02020603050405020304" pitchFamily="18" charset="0"/>
              </a:rPr>
              <a:t>("Student registered!");</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83014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D357-20F6-1C81-0FDF-BA90B583474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3389E8B-5169-6130-FE2E-0DA0BAD7D80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D67B3710-7616-99DF-CB64-761BE1B369D7}"/>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Spring </a:t>
            </a:r>
            <a:r>
              <a:rPr lang="en-IN" b="1" dirty="0">
                <a:solidFill>
                  <a:srgbClr val="FFFFFF"/>
                </a:solidFill>
                <a:latin typeface="Times New Roman" panose="02020603050405020304" pitchFamily="18" charset="0"/>
                <a:cs typeface="Times New Roman" panose="02020603050405020304" pitchFamily="18" charset="0"/>
              </a:rPr>
              <a:t>MVC(Model-View-Controller)</a:t>
            </a:r>
            <a:endParaRPr lang="en-IN"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C76AC16-61DE-E203-2945-93AC1D6B125C}"/>
              </a:ext>
            </a:extLst>
          </p:cNvPr>
          <p:cNvSpPr txBox="1"/>
          <p:nvPr/>
        </p:nvSpPr>
        <p:spPr>
          <a:xfrm>
            <a:off x="76200" y="2286000"/>
            <a:ext cx="8991600" cy="4401205"/>
          </a:xfrm>
          <a:prstGeom prst="rect">
            <a:avLst/>
          </a:prstGeom>
          <a:noFill/>
        </p:spPr>
        <p:txBody>
          <a:bodyPr wrap="square" rtlCol="0">
            <a:spAutoFit/>
          </a:bodyPr>
          <a:lstStyle/>
          <a:p>
            <a:pPr marL="342900" indent="-3429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a:t>
            </a:r>
            <a:r>
              <a:rPr lang="en-US" sz="2800" b="1" i="0" dirty="0">
                <a:effectLst/>
                <a:latin typeface="Times New Roman" panose="02020603050405020304" pitchFamily="18" charset="0"/>
                <a:cs typeface="Times New Roman" panose="02020603050405020304" pitchFamily="18" charset="0"/>
              </a:rPr>
              <a:t>Spring MVC Framework</a:t>
            </a:r>
            <a:r>
              <a:rPr lang="en-US" sz="2800" b="0" i="0" dirty="0">
                <a:effectLst/>
                <a:latin typeface="Times New Roman" panose="02020603050405020304" pitchFamily="18" charset="0"/>
                <a:cs typeface="Times New Roman" panose="02020603050405020304" pitchFamily="18" charset="0"/>
              </a:rPr>
              <a:t> follows the</a:t>
            </a:r>
            <a:r>
              <a:rPr lang="en-US" sz="2800" b="1" i="0" dirty="0">
                <a:effectLst/>
                <a:latin typeface="Times New Roman" panose="02020603050405020304" pitchFamily="18" charset="0"/>
                <a:cs typeface="Times New Roman" panose="02020603050405020304" pitchFamily="18" charset="0"/>
              </a:rPr>
              <a:t> Model-View-Controller</a:t>
            </a:r>
            <a:r>
              <a:rPr lang="en-US" sz="2800" b="0" i="0" dirty="0">
                <a:effectLst/>
                <a:latin typeface="Times New Roman" panose="02020603050405020304" pitchFamily="18" charset="0"/>
                <a:cs typeface="Times New Roman" panose="02020603050405020304" pitchFamily="18" charset="0"/>
              </a:rPr>
              <a:t> architectural design pattern, which works around the </a:t>
            </a:r>
            <a:r>
              <a:rPr lang="en-US" sz="2800" b="1" i="0" dirty="0">
                <a:effectLst/>
                <a:latin typeface="Times New Roman" panose="02020603050405020304" pitchFamily="18" charset="0"/>
                <a:cs typeface="Times New Roman" panose="02020603050405020304" pitchFamily="18" charset="0"/>
              </a:rPr>
              <a:t>Front Controller,</a:t>
            </a:r>
            <a:r>
              <a:rPr lang="en-US" sz="2800" b="0" i="0" dirty="0">
                <a:effectLst/>
                <a:latin typeface="Times New Roman" panose="02020603050405020304" pitchFamily="18" charset="0"/>
                <a:cs typeface="Times New Roman" panose="02020603050405020304" pitchFamily="18" charset="0"/>
              </a:rPr>
              <a:t> i.e., the </a:t>
            </a:r>
            <a:r>
              <a:rPr lang="en-US" sz="2800" b="1" i="0" dirty="0">
                <a:effectLst/>
                <a:latin typeface="Times New Roman" panose="02020603050405020304" pitchFamily="18" charset="0"/>
                <a:cs typeface="Times New Roman" panose="02020603050405020304" pitchFamily="18" charset="0"/>
              </a:rPr>
              <a:t>Dispatcher Servlet</a:t>
            </a:r>
            <a:r>
              <a:rPr lang="en-US" sz="2800" b="0" i="0" dirty="0">
                <a:effectLst/>
                <a:latin typeface="Times New Roman" panose="02020603050405020304" pitchFamily="18" charset="0"/>
                <a:cs typeface="Times New Roman" panose="02020603050405020304" pitchFamily="18" charset="0"/>
              </a:rPr>
              <a:t>. The Dispatcher Servlet handles and dispatches all incoming HTTP requests to the appropriate controller.</a:t>
            </a:r>
          </a:p>
          <a:p>
            <a:pPr marL="342900" indent="-3429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It uses </a:t>
            </a:r>
            <a:r>
              <a:rPr lang="en-US" sz="2800" b="0" i="0" u="sng" dirty="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@Controller</a:t>
            </a:r>
            <a:r>
              <a:rPr lang="en-US" sz="2800" b="0" i="0" dirty="0">
                <a:effectLst/>
                <a:latin typeface="Times New Roman" panose="02020603050405020304" pitchFamily="18" charset="0"/>
                <a:cs typeface="Times New Roman" panose="02020603050405020304" pitchFamily="18" charset="0"/>
              </a:rPr>
              <a:t> and </a:t>
            </a:r>
            <a:r>
              <a:rPr lang="en-US" sz="2800" b="0" i="0" u="sng" dirty="0">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@RequestMapping</a:t>
            </a:r>
            <a:r>
              <a:rPr lang="en-US" sz="2800" b="0" i="0" dirty="0">
                <a:effectLst/>
                <a:latin typeface="Times New Roman" panose="02020603050405020304" pitchFamily="18" charset="0"/>
                <a:cs typeface="Times New Roman" panose="02020603050405020304" pitchFamily="18" charset="0"/>
              </a:rPr>
              <a:t> as default request handlers. The </a:t>
            </a:r>
            <a:r>
              <a:rPr lang="en-US" sz="2800" b="1" i="0" dirty="0">
                <a:effectLst/>
                <a:latin typeface="Times New Roman" panose="02020603050405020304" pitchFamily="18" charset="0"/>
                <a:cs typeface="Times New Roman" panose="02020603050405020304" pitchFamily="18" charset="0"/>
              </a:rPr>
              <a:t>@Controller</a:t>
            </a:r>
            <a:r>
              <a:rPr lang="en-US" sz="2800" b="0" i="0" dirty="0">
                <a:effectLst/>
                <a:latin typeface="Times New Roman" panose="02020603050405020304" pitchFamily="18" charset="0"/>
                <a:cs typeface="Times New Roman" panose="02020603050405020304" pitchFamily="18" charset="0"/>
              </a:rPr>
              <a:t> annotation defines that a particular class is a controller. The </a:t>
            </a:r>
            <a:r>
              <a:rPr lang="en-US" sz="2800" b="1" i="0" dirty="0">
                <a:effectLst/>
                <a:latin typeface="Times New Roman" panose="02020603050405020304" pitchFamily="18" charset="0"/>
                <a:cs typeface="Times New Roman" panose="02020603050405020304" pitchFamily="18" charset="0"/>
              </a:rPr>
              <a:t>@RequestMapping</a:t>
            </a:r>
            <a:r>
              <a:rPr lang="en-US" sz="2800" b="0" i="0" dirty="0">
                <a:effectLst/>
                <a:latin typeface="Times New Roman" panose="02020603050405020304" pitchFamily="18" charset="0"/>
                <a:cs typeface="Times New Roman" panose="02020603050405020304" pitchFamily="18" charset="0"/>
              </a:rPr>
              <a:t> annotation maps web requests to Spring Controller methods.</a:t>
            </a:r>
          </a:p>
        </p:txBody>
      </p:sp>
    </p:spTree>
    <p:extLst>
      <p:ext uri="{BB962C8B-B14F-4D97-AF65-F5344CB8AC3E}">
        <p14:creationId xmlns:p14="http://schemas.microsoft.com/office/powerpoint/2010/main" val="3045400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3AE1C-FE1E-78C1-0643-51714186223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0A0B47D-C5CF-8B83-8EB0-0D6678B7342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9C15921-E6CD-CCAF-C902-761874620F41}"/>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Spring </a:t>
            </a:r>
            <a:r>
              <a:rPr lang="en-IN" b="1" dirty="0">
                <a:solidFill>
                  <a:srgbClr val="FFFFFF"/>
                </a:solidFill>
                <a:latin typeface="Times New Roman" panose="02020603050405020304" pitchFamily="18" charset="0"/>
                <a:cs typeface="Times New Roman" panose="02020603050405020304" pitchFamily="18" charset="0"/>
              </a:rPr>
              <a:t>MVC(Model-View-Controller)</a:t>
            </a:r>
            <a:endParaRPr lang="en-IN" b="1" i="0" dirty="0">
              <a:solidFill>
                <a:srgbClr val="FFFFFF"/>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A86965E-E332-FBF9-948F-95861F64544E}"/>
              </a:ext>
            </a:extLst>
          </p:cNvPr>
          <p:cNvSpPr txBox="1"/>
          <p:nvPr/>
        </p:nvSpPr>
        <p:spPr>
          <a:xfrm>
            <a:off x="76200" y="2286000"/>
            <a:ext cx="8991600" cy="4031873"/>
          </a:xfrm>
          <a:prstGeom prst="rect">
            <a:avLst/>
          </a:prstGeom>
          <a:noFill/>
        </p:spPr>
        <p:txBody>
          <a:bodyPr wrap="square" rtlCol="0">
            <a:spAutoFit/>
          </a:bodyPr>
          <a:lstStyle/>
          <a:p>
            <a:pPr algn="l" rtl="0" fontAlgn="base">
              <a:buNone/>
            </a:pPr>
            <a:r>
              <a:rPr lang="en-US" sz="3200" b="0" i="0" dirty="0">
                <a:effectLst/>
                <a:latin typeface="Times New Roman" panose="02020603050405020304" pitchFamily="18" charset="0"/>
                <a:cs typeface="Times New Roman" panose="02020603050405020304" pitchFamily="18" charset="0"/>
              </a:rPr>
              <a:t>The terms model, view, and controller are defined as follows:</a:t>
            </a:r>
          </a:p>
          <a:p>
            <a:pPr algn="l" fontAlgn="base">
              <a:buFont typeface="Arial" panose="020B0604020202020204" pitchFamily="34" charset="0"/>
              <a:buChar char="•"/>
            </a:pPr>
            <a:r>
              <a:rPr lang="en-US" sz="3200" b="1" i="0" dirty="0">
                <a:effectLst/>
                <a:latin typeface="Times New Roman" panose="02020603050405020304" pitchFamily="18" charset="0"/>
                <a:cs typeface="Times New Roman" panose="02020603050405020304" pitchFamily="18" charset="0"/>
              </a:rPr>
              <a:t>Model</a:t>
            </a:r>
            <a:r>
              <a:rPr lang="en-US" sz="3200" b="0" i="0" dirty="0">
                <a:effectLst/>
                <a:latin typeface="Times New Roman" panose="02020603050405020304" pitchFamily="18" charset="0"/>
                <a:cs typeface="Times New Roman" panose="02020603050405020304" pitchFamily="18" charset="0"/>
              </a:rPr>
              <a:t>: The Model encapsulates the application data.</a:t>
            </a:r>
          </a:p>
          <a:p>
            <a:pPr algn="l" fontAlgn="base">
              <a:buFont typeface="Arial" panose="020B0604020202020204" pitchFamily="34" charset="0"/>
              <a:buChar char="•"/>
            </a:pPr>
            <a:r>
              <a:rPr lang="en-US" sz="3200" b="1" i="0" dirty="0">
                <a:effectLst/>
                <a:latin typeface="Times New Roman" panose="02020603050405020304" pitchFamily="18" charset="0"/>
                <a:cs typeface="Times New Roman" panose="02020603050405020304" pitchFamily="18" charset="0"/>
              </a:rPr>
              <a:t>View</a:t>
            </a:r>
            <a:r>
              <a:rPr lang="en-US" sz="3200" b="0" i="0" dirty="0">
                <a:effectLst/>
                <a:latin typeface="Times New Roman" panose="02020603050405020304" pitchFamily="18" charset="0"/>
                <a:cs typeface="Times New Roman" panose="02020603050405020304" pitchFamily="18" charset="0"/>
              </a:rPr>
              <a:t>: The View renders the model data and generates HTML output that the client’s browser can interpret.</a:t>
            </a:r>
          </a:p>
          <a:p>
            <a:pPr algn="l" fontAlgn="base">
              <a:buFont typeface="Arial" panose="020B0604020202020204" pitchFamily="34" charset="0"/>
              <a:buChar char="•"/>
            </a:pPr>
            <a:r>
              <a:rPr lang="en-US" sz="3200" b="1" i="0" dirty="0">
                <a:effectLst/>
                <a:latin typeface="Times New Roman" panose="02020603050405020304" pitchFamily="18" charset="0"/>
                <a:cs typeface="Times New Roman" panose="02020603050405020304" pitchFamily="18" charset="0"/>
              </a:rPr>
              <a:t>Controller:</a:t>
            </a:r>
            <a:r>
              <a:rPr lang="en-US" sz="3200" b="0" i="0" dirty="0">
                <a:effectLst/>
                <a:latin typeface="Times New Roman" panose="02020603050405020304" pitchFamily="18" charset="0"/>
                <a:cs typeface="Times New Roman" panose="02020603050405020304" pitchFamily="18" charset="0"/>
              </a:rPr>
              <a:t> The Controller processes the user requests and passes them to the view for rendering.</a:t>
            </a:r>
          </a:p>
        </p:txBody>
      </p:sp>
    </p:spTree>
    <p:extLst>
      <p:ext uri="{BB962C8B-B14F-4D97-AF65-F5344CB8AC3E}">
        <p14:creationId xmlns:p14="http://schemas.microsoft.com/office/powerpoint/2010/main" val="3687764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47F6F-B1D4-10C5-F789-CC0BC1C7E43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77316BC-2188-2F4E-A61F-BFDDF5E01F0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DDBE700-405D-7707-648F-CCCBDCFF0139}"/>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Advantages of Spring MVC</a:t>
            </a:r>
          </a:p>
        </p:txBody>
      </p:sp>
      <p:sp>
        <p:nvSpPr>
          <p:cNvPr id="5" name="TextBox 4">
            <a:extLst>
              <a:ext uri="{FF2B5EF4-FFF2-40B4-BE49-F238E27FC236}">
                <a16:creationId xmlns:a16="http://schemas.microsoft.com/office/drawing/2014/main" id="{84DF4AF4-7DDD-9B8E-591F-9E0F9F0CB7BA}"/>
              </a:ext>
            </a:extLst>
          </p:cNvPr>
          <p:cNvSpPr txBox="1"/>
          <p:nvPr/>
        </p:nvSpPr>
        <p:spPr>
          <a:xfrm>
            <a:off x="76200" y="2330450"/>
            <a:ext cx="8877300" cy="3970318"/>
          </a:xfrm>
          <a:prstGeom prst="rect">
            <a:avLst/>
          </a:prstGeom>
          <a:noFill/>
        </p:spPr>
        <p:txBody>
          <a:bodyPr wrap="square" rtlCol="0">
            <a:spAutoFit/>
          </a:bodyPr>
          <a:lstStyle/>
          <a:p>
            <a:pPr marL="457200" indent="-457200" algn="l" fontAlgn="base">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Separation of Concerns</a:t>
            </a:r>
            <a:r>
              <a:rPr lang="en-US" sz="2800" dirty="0">
                <a:latin typeface="Times New Roman" panose="02020603050405020304" pitchFamily="18" charset="0"/>
                <a:cs typeface="Times New Roman" panose="02020603050405020304" pitchFamily="18" charset="0"/>
              </a:rPr>
              <a:t> – Clean division of Model, View, and Controller.</a:t>
            </a:r>
          </a:p>
          <a:p>
            <a:pPr marL="457200" indent="-457200" algn="l" fontAlgn="base">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Loose Coupling</a:t>
            </a:r>
            <a:r>
              <a:rPr lang="en-US" sz="2800" dirty="0">
                <a:latin typeface="Times New Roman" panose="02020603050405020304" pitchFamily="18" charset="0"/>
                <a:cs typeface="Times New Roman" panose="02020603050405020304" pitchFamily="18" charset="0"/>
              </a:rPr>
              <a:t> – Uses Dependency Injection to reduce tight coupling.</a:t>
            </a:r>
          </a:p>
          <a:p>
            <a:pPr marL="457200" indent="-457200" algn="l" fontAlgn="base">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Flexible View Technology</a:t>
            </a:r>
            <a:r>
              <a:rPr lang="en-US" sz="2800" dirty="0">
                <a:latin typeface="Times New Roman" panose="02020603050405020304" pitchFamily="18" charset="0"/>
                <a:cs typeface="Times New Roman" panose="02020603050405020304" pitchFamily="18" charset="0"/>
              </a:rPr>
              <a:t> – Works with JSP, Thymeleaf, PDFs, Excel, etc.</a:t>
            </a:r>
          </a:p>
          <a:p>
            <a:pPr marL="457200" indent="-457200" algn="l" fontAlgn="base">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REST Support</a:t>
            </a:r>
            <a:r>
              <a:rPr lang="en-US" sz="2800" dirty="0">
                <a:latin typeface="Times New Roman" panose="02020603050405020304" pitchFamily="18" charset="0"/>
                <a:cs typeface="Times New Roman" panose="02020603050405020304" pitchFamily="18" charset="0"/>
              </a:rPr>
              <a:t> – Easily create RESTful web services.</a:t>
            </a:r>
          </a:p>
          <a:p>
            <a:pPr marL="457200" indent="-457200" fontAlgn="base">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Built-in Exception Handling</a:t>
            </a:r>
            <a:r>
              <a:rPr lang="en-IN" sz="2800" dirty="0">
                <a:latin typeface="Times New Roman" panose="02020603050405020304" pitchFamily="18" charset="0"/>
                <a:cs typeface="Times New Roman" panose="02020603050405020304" pitchFamily="18" charset="0"/>
              </a:rPr>
              <a:t> – Provides default error handling.</a:t>
            </a:r>
          </a:p>
        </p:txBody>
      </p:sp>
    </p:spTree>
    <p:extLst>
      <p:ext uri="{BB962C8B-B14F-4D97-AF65-F5344CB8AC3E}">
        <p14:creationId xmlns:p14="http://schemas.microsoft.com/office/powerpoint/2010/main" val="3503214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DCEB2-D3FF-BB2F-10F7-55BCFD7BA73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599AFBE-E067-81D0-B457-B73E6248AFB0}"/>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A6310AE7-4FD2-0A03-059F-EA86B594AB81}"/>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buNone/>
            </a:pPr>
            <a:r>
              <a:rPr lang="en-IN" b="1" i="0" dirty="0">
                <a:solidFill>
                  <a:srgbClr val="FFFFFF"/>
                </a:solidFill>
                <a:effectLst/>
                <a:latin typeface="Times New Roman" panose="02020603050405020304" pitchFamily="18" charset="0"/>
                <a:cs typeface="Times New Roman" panose="02020603050405020304" pitchFamily="18" charset="0"/>
              </a:rPr>
              <a:t>Spring MVC Contro</a:t>
            </a:r>
            <a:r>
              <a:rPr lang="en-IN" b="1" dirty="0">
                <a:solidFill>
                  <a:srgbClr val="FFFFFF"/>
                </a:solidFill>
                <a:latin typeface="Times New Roman" panose="02020603050405020304" pitchFamily="18" charset="0"/>
                <a:cs typeface="Times New Roman" panose="02020603050405020304" pitchFamily="18" charset="0"/>
              </a:rPr>
              <a:t>l </a:t>
            </a:r>
            <a:r>
              <a:rPr lang="en-IN" b="1" i="0" dirty="0">
                <a:solidFill>
                  <a:srgbClr val="FFFFFF"/>
                </a:solidFill>
                <a:effectLst/>
                <a:latin typeface="Times New Roman" panose="02020603050405020304" pitchFamily="18" charset="0"/>
                <a:cs typeface="Times New Roman" panose="02020603050405020304" pitchFamily="18" charset="0"/>
              </a:rPr>
              <a:t>Flow Diagram</a:t>
            </a:r>
          </a:p>
        </p:txBody>
      </p:sp>
      <p:pic>
        <p:nvPicPr>
          <p:cNvPr id="6" name="Picture 5">
            <a:extLst>
              <a:ext uri="{FF2B5EF4-FFF2-40B4-BE49-F238E27FC236}">
                <a16:creationId xmlns:a16="http://schemas.microsoft.com/office/drawing/2014/main" id="{B8FFE862-6AC3-A765-2E07-2A2016C07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 y="2333626"/>
            <a:ext cx="8721499" cy="4476750"/>
          </a:xfrm>
          <a:prstGeom prst="rect">
            <a:avLst/>
          </a:prstGeom>
        </p:spPr>
      </p:pic>
    </p:spTree>
    <p:extLst>
      <p:ext uri="{BB962C8B-B14F-4D97-AF65-F5344CB8AC3E}">
        <p14:creationId xmlns:p14="http://schemas.microsoft.com/office/powerpoint/2010/main" val="2947515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17A31-BA20-2953-749E-8558A0591F5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D7C351C-D63F-583B-47CE-A5588A7A2BC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A609FFE2-E21D-7E4E-66DC-05C83AA25B27}"/>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Spring MVC Work Flow</a:t>
            </a:r>
          </a:p>
        </p:txBody>
      </p:sp>
      <p:sp>
        <p:nvSpPr>
          <p:cNvPr id="5" name="TextBox 4">
            <a:extLst>
              <a:ext uri="{FF2B5EF4-FFF2-40B4-BE49-F238E27FC236}">
                <a16:creationId xmlns:a16="http://schemas.microsoft.com/office/drawing/2014/main" id="{B477D16B-6217-070C-B964-47302A57B117}"/>
              </a:ext>
            </a:extLst>
          </p:cNvPr>
          <p:cNvSpPr txBox="1"/>
          <p:nvPr/>
        </p:nvSpPr>
        <p:spPr>
          <a:xfrm>
            <a:off x="76200" y="2330450"/>
            <a:ext cx="8877300" cy="4401205"/>
          </a:xfrm>
          <a:prstGeom prst="rect">
            <a:avLst/>
          </a:prstGeom>
          <a:noFill/>
        </p:spPr>
        <p:txBody>
          <a:bodyPr wrap="square" rtlCol="0">
            <a:spAutoFit/>
          </a:bodyPr>
          <a:lstStyle/>
          <a:p>
            <a:pPr marL="457200" indent="-4572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All incoming requests are intercepted by the </a:t>
            </a:r>
            <a:r>
              <a:rPr lang="en-US" sz="2800" b="0" i="0" dirty="0" err="1">
                <a:effectLst/>
                <a:latin typeface="Times New Roman" panose="02020603050405020304" pitchFamily="18" charset="0"/>
                <a:cs typeface="Times New Roman" panose="02020603050405020304" pitchFamily="18" charset="0"/>
              </a:rPr>
              <a:t>DispatcherServlet</a:t>
            </a:r>
            <a:r>
              <a:rPr lang="en-US" sz="2800" b="0" i="0" dirty="0">
                <a:effectLst/>
                <a:latin typeface="Times New Roman" panose="02020603050405020304" pitchFamily="18" charset="0"/>
                <a:cs typeface="Times New Roman" panose="02020603050405020304" pitchFamily="18" charset="0"/>
              </a:rPr>
              <a:t>, which works as the front controller.</a:t>
            </a:r>
          </a:p>
          <a:p>
            <a:pPr marL="457200" indent="-4572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a:t>
            </a:r>
            <a:r>
              <a:rPr lang="en-US" sz="2800" b="0" i="0" dirty="0" err="1">
                <a:effectLst/>
                <a:latin typeface="Times New Roman" panose="02020603050405020304" pitchFamily="18" charset="0"/>
                <a:cs typeface="Times New Roman" panose="02020603050405020304" pitchFamily="18" charset="0"/>
              </a:rPr>
              <a:t>DispatcherServlet</a:t>
            </a:r>
            <a:r>
              <a:rPr lang="en-US" sz="2800" b="0" i="0" dirty="0">
                <a:effectLst/>
                <a:latin typeface="Times New Roman" panose="02020603050405020304" pitchFamily="18" charset="0"/>
                <a:cs typeface="Times New Roman" panose="02020603050405020304" pitchFamily="18" charset="0"/>
              </a:rPr>
              <a:t> retrieves an entry of handler mapping from the configuration file and forwards the request to the controller.</a:t>
            </a:r>
          </a:p>
          <a:p>
            <a:pPr marL="457200" indent="-4572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controller processes the request and returns an object of </a:t>
            </a:r>
            <a:r>
              <a:rPr lang="en-US" sz="2800" b="0" i="0" dirty="0" err="1">
                <a:effectLst/>
                <a:latin typeface="Times New Roman" panose="02020603050405020304" pitchFamily="18" charset="0"/>
                <a:cs typeface="Times New Roman" panose="02020603050405020304" pitchFamily="18" charset="0"/>
              </a:rPr>
              <a:t>ModelAndView</a:t>
            </a:r>
            <a:r>
              <a:rPr lang="en-US" sz="2800" b="0" i="0" dirty="0">
                <a:effectLst/>
                <a:latin typeface="Times New Roman" panose="02020603050405020304" pitchFamily="18" charset="0"/>
                <a:cs typeface="Times New Roman" panose="02020603050405020304" pitchFamily="18" charset="0"/>
              </a:rPr>
              <a:t>.</a:t>
            </a:r>
          </a:p>
          <a:p>
            <a:pPr marL="457200" indent="-457200" algn="l" fontAlgn="base">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a:t>
            </a:r>
            <a:r>
              <a:rPr lang="en-US" sz="2800" b="0" i="0" dirty="0" err="1">
                <a:effectLst/>
                <a:latin typeface="Times New Roman" panose="02020603050405020304" pitchFamily="18" charset="0"/>
                <a:cs typeface="Times New Roman" panose="02020603050405020304" pitchFamily="18" charset="0"/>
              </a:rPr>
              <a:t>DispatcherServlet</a:t>
            </a:r>
            <a:r>
              <a:rPr lang="en-US" sz="2800" b="0" i="0" dirty="0">
                <a:effectLst/>
                <a:latin typeface="Times New Roman" panose="02020603050405020304" pitchFamily="18" charset="0"/>
                <a:cs typeface="Times New Roman" panose="02020603050405020304" pitchFamily="18" charset="0"/>
              </a:rPr>
              <a:t> checks the entry of the view resolver in the configuration file and invokes the appropriate view component.</a:t>
            </a:r>
          </a:p>
        </p:txBody>
      </p:sp>
    </p:spTree>
    <p:extLst>
      <p:ext uri="{BB962C8B-B14F-4D97-AF65-F5344CB8AC3E}">
        <p14:creationId xmlns:p14="http://schemas.microsoft.com/office/powerpoint/2010/main" val="3473290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31538-E11D-7D4E-C0DF-1369C912B9FF}"/>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E872919-A4AF-11CB-1116-E6FC7EA45882}"/>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11791A6-46E1-5600-D293-9A94614BBB48}"/>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Dispatcher Servlet</a:t>
            </a:r>
          </a:p>
        </p:txBody>
      </p:sp>
      <p:sp>
        <p:nvSpPr>
          <p:cNvPr id="5" name="TextBox 4">
            <a:extLst>
              <a:ext uri="{FF2B5EF4-FFF2-40B4-BE49-F238E27FC236}">
                <a16:creationId xmlns:a16="http://schemas.microsoft.com/office/drawing/2014/main" id="{C17F6B1A-7D52-4276-4CFF-0AC3AC4BFC62}"/>
              </a:ext>
            </a:extLst>
          </p:cNvPr>
          <p:cNvSpPr txBox="1"/>
          <p:nvPr/>
        </p:nvSpPr>
        <p:spPr>
          <a:xfrm>
            <a:off x="76200" y="2330450"/>
            <a:ext cx="8877300" cy="4093428"/>
          </a:xfrm>
          <a:prstGeom prst="rect">
            <a:avLst/>
          </a:prstGeom>
          <a:noFill/>
        </p:spPr>
        <p:txBody>
          <a:bodyPr wrap="square" rtlCol="0">
            <a:spAutoFit/>
          </a:bodyPr>
          <a:lstStyle/>
          <a:p>
            <a:r>
              <a:rPr lang="en-US" sz="2600" b="0" i="0" dirty="0">
                <a:effectLst/>
                <a:latin typeface="Times New Roman" panose="02020603050405020304" pitchFamily="18" charset="0"/>
                <a:cs typeface="Times New Roman" panose="02020603050405020304" pitchFamily="18" charset="0"/>
              </a:rPr>
              <a:t>The </a:t>
            </a:r>
            <a:r>
              <a:rPr lang="en-US" sz="2600" b="0" i="0" u="sng" dirty="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Dispatcher Servlet</a:t>
            </a:r>
            <a:r>
              <a:rPr lang="en-US" sz="2600" b="0" i="0" dirty="0">
                <a:effectLst/>
                <a:latin typeface="Times New Roman" panose="02020603050405020304" pitchFamily="18" charset="0"/>
                <a:cs typeface="Times New Roman" panose="02020603050405020304" pitchFamily="18" charset="0"/>
              </a:rPr>
              <a:t> is the front controller that manages the entire HTTP request and response handling process. Now, the question is: </a:t>
            </a:r>
            <a:r>
              <a:rPr lang="en-US" sz="2600" b="1" i="0" dirty="0">
                <a:effectLst/>
                <a:latin typeface="Times New Roman" panose="02020603050405020304" pitchFamily="18" charset="0"/>
                <a:cs typeface="Times New Roman" panose="02020603050405020304" pitchFamily="18" charset="0"/>
              </a:rPr>
              <a:t>What is a Front Controller?</a:t>
            </a:r>
            <a:r>
              <a:rPr lang="en-US" sz="2600" b="0" i="0" dirty="0">
                <a:effectLst/>
                <a:latin typeface="Times New Roman" panose="02020603050405020304" pitchFamily="18" charset="0"/>
                <a:cs typeface="Times New Roman" panose="02020603050405020304" pitchFamily="18" charset="0"/>
              </a:rPr>
              <a:t> It is quite simple, as the name suggests:</a:t>
            </a:r>
          </a:p>
          <a:p>
            <a:pPr algn="l" fontAlgn="base">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When any web request is made, it first goes to the Front Controller, which is the Dispatcher Servlet.</a:t>
            </a:r>
          </a:p>
          <a:p>
            <a:pPr algn="l" fontAlgn="base">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The Front Controller stands first, which is why it is named as such. After the request reaches it, the Dispatcher Servlet determines the appropriate controller to handle the request.</a:t>
            </a:r>
          </a:p>
          <a:p>
            <a:pPr algn="l" fontAlgn="base">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Then, it dispatches the HTTP request to the specific controller.</a:t>
            </a:r>
          </a:p>
        </p:txBody>
      </p:sp>
    </p:spTree>
    <p:extLst>
      <p:ext uri="{BB962C8B-B14F-4D97-AF65-F5344CB8AC3E}">
        <p14:creationId xmlns:p14="http://schemas.microsoft.com/office/powerpoint/2010/main" val="101663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F823-FC3D-427C-42AE-7877986005D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CC90CAA-C81A-8E48-8CC2-996F9F68033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1F893B82-61DF-4CF5-F908-0DBFE388CF2F}"/>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Handler Mapping</a:t>
            </a:r>
          </a:p>
        </p:txBody>
      </p:sp>
      <p:sp>
        <p:nvSpPr>
          <p:cNvPr id="5" name="TextBox 4">
            <a:extLst>
              <a:ext uri="{FF2B5EF4-FFF2-40B4-BE49-F238E27FC236}">
                <a16:creationId xmlns:a16="http://schemas.microsoft.com/office/drawing/2014/main" id="{226D5D8F-8C00-9B88-3199-739CE74AB584}"/>
              </a:ext>
            </a:extLst>
          </p:cNvPr>
          <p:cNvSpPr txBox="1"/>
          <p:nvPr/>
        </p:nvSpPr>
        <p:spPr>
          <a:xfrm>
            <a:off x="76200" y="2330450"/>
            <a:ext cx="8877300" cy="4585871"/>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Handler Mapping is responsible for mapping a URL request to a controller.</a:t>
            </a:r>
          </a:p>
          <a:p>
            <a:r>
              <a:rPr lang="en-US" sz="2800" dirty="0">
                <a:latin typeface="Times New Roman" panose="02020603050405020304" pitchFamily="18" charset="0"/>
                <a:cs typeface="Times New Roman" panose="02020603050405020304" pitchFamily="18" charset="0"/>
              </a:rPr>
              <a:t>Example:-</a:t>
            </a:r>
          </a:p>
          <a:p>
            <a:r>
              <a:rPr lang="en-US" sz="2600" i="0" dirty="0">
                <a:effectLst/>
                <a:latin typeface="Times New Roman" panose="02020603050405020304" pitchFamily="18" charset="0"/>
                <a:cs typeface="Times New Roman" panose="02020603050405020304" pitchFamily="18" charset="0"/>
              </a:rPr>
              <a:t>@Controller</a:t>
            </a:r>
          </a:p>
          <a:p>
            <a:r>
              <a:rPr lang="en-US" sz="2600" i="0" dirty="0">
                <a:effectLst/>
                <a:latin typeface="Times New Roman" panose="02020603050405020304" pitchFamily="18" charset="0"/>
                <a:cs typeface="Times New Roman" panose="02020603050405020304" pitchFamily="18" charset="0"/>
              </a:rPr>
              <a:t>public class </a:t>
            </a:r>
            <a:r>
              <a:rPr lang="en-US" sz="2600" i="0" dirty="0" err="1">
                <a:effectLst/>
                <a:latin typeface="Times New Roman" panose="02020603050405020304" pitchFamily="18" charset="0"/>
                <a:cs typeface="Times New Roman" panose="02020603050405020304" pitchFamily="18" charset="0"/>
              </a:rPr>
              <a:t>HomeController</a:t>
            </a:r>
            <a:r>
              <a:rPr lang="en-US" sz="2600" i="0" dirty="0">
                <a:effectLst/>
                <a:latin typeface="Times New Roman" panose="02020603050405020304" pitchFamily="18" charset="0"/>
                <a:cs typeface="Times New Roman" panose="02020603050405020304" pitchFamily="18" charset="0"/>
              </a:rPr>
              <a:t> {</a:t>
            </a:r>
          </a:p>
          <a:p>
            <a:r>
              <a:rPr lang="en-US" sz="2600" i="0" dirty="0">
                <a:effectLst/>
                <a:latin typeface="Times New Roman" panose="02020603050405020304" pitchFamily="18" charset="0"/>
                <a:cs typeface="Times New Roman" panose="02020603050405020304" pitchFamily="18" charset="0"/>
              </a:rPr>
              <a:t>    @RequestMapping("/home")</a:t>
            </a:r>
          </a:p>
          <a:p>
            <a:r>
              <a:rPr lang="en-US" sz="2600" i="0" dirty="0">
                <a:effectLst/>
                <a:latin typeface="Times New Roman" panose="02020603050405020304" pitchFamily="18" charset="0"/>
                <a:cs typeface="Times New Roman" panose="02020603050405020304" pitchFamily="18" charset="0"/>
              </a:rPr>
              <a:t>    public String home() {</a:t>
            </a:r>
          </a:p>
          <a:p>
            <a:r>
              <a:rPr lang="en-US" sz="2600" i="0" dirty="0">
                <a:effectLst/>
                <a:latin typeface="Times New Roman" panose="02020603050405020304" pitchFamily="18" charset="0"/>
                <a:cs typeface="Times New Roman" panose="02020603050405020304" pitchFamily="18" charset="0"/>
              </a:rPr>
              <a:t>        return "homepage";</a:t>
            </a:r>
          </a:p>
          <a:p>
            <a:r>
              <a:rPr lang="en-US" sz="2600" i="0" dirty="0">
                <a:effectLst/>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600" i="0" dirty="0" err="1">
                <a:effectLst/>
                <a:latin typeface="Times New Roman" panose="02020603050405020304" pitchFamily="18" charset="0"/>
                <a:cs typeface="Times New Roman" panose="02020603050405020304" pitchFamily="18" charset="0"/>
              </a:rPr>
              <a:t>DispatcherServlet</a:t>
            </a:r>
            <a:r>
              <a:rPr lang="en-US" sz="2600" i="0" dirty="0">
                <a:effectLst/>
                <a:latin typeface="Times New Roman" panose="02020603050405020304" pitchFamily="18" charset="0"/>
                <a:cs typeface="Times New Roman" panose="02020603050405020304" pitchFamily="18" charset="0"/>
              </a:rPr>
              <a:t> checks </a:t>
            </a:r>
            <a:r>
              <a:rPr lang="en-US" sz="2600" i="0" dirty="0" err="1">
                <a:effectLst/>
                <a:latin typeface="Times New Roman" panose="02020603050405020304" pitchFamily="18" charset="0"/>
                <a:cs typeface="Times New Roman" panose="02020603050405020304" pitchFamily="18" charset="0"/>
              </a:rPr>
              <a:t>HandlerMapping</a:t>
            </a:r>
            <a:r>
              <a:rPr lang="en-US" sz="2600" i="0" dirty="0">
                <a:effectLst/>
                <a:latin typeface="Times New Roman" panose="02020603050405020304" pitchFamily="18" charset="0"/>
                <a:cs typeface="Times New Roman" panose="02020603050405020304" pitchFamily="18" charset="0"/>
              </a:rPr>
              <a:t> and finds home() method.</a:t>
            </a:r>
          </a:p>
        </p:txBody>
      </p:sp>
    </p:spTree>
    <p:extLst>
      <p:ext uri="{BB962C8B-B14F-4D97-AF65-F5344CB8AC3E}">
        <p14:creationId xmlns:p14="http://schemas.microsoft.com/office/powerpoint/2010/main" val="1449841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47C80-138B-13A6-0495-41732791048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5037172-291C-DBAF-CD4D-99850EAC745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52F47AB-BD88-56B9-750F-C0D81E3D3DAA}"/>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Http Handler Mapping</a:t>
            </a:r>
          </a:p>
        </p:txBody>
      </p:sp>
      <p:sp>
        <p:nvSpPr>
          <p:cNvPr id="5" name="TextBox 4">
            <a:extLst>
              <a:ext uri="{FF2B5EF4-FFF2-40B4-BE49-F238E27FC236}">
                <a16:creationId xmlns:a16="http://schemas.microsoft.com/office/drawing/2014/main" id="{6220F7C2-EEB6-CFA7-7E4C-1022E378292D}"/>
              </a:ext>
            </a:extLst>
          </p:cNvPr>
          <p:cNvSpPr txBox="1"/>
          <p:nvPr/>
        </p:nvSpPr>
        <p:spPr>
          <a:xfrm>
            <a:off x="76200" y="2330450"/>
            <a:ext cx="8877300" cy="4401205"/>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Http Get Request</a:t>
            </a:r>
          </a:p>
          <a:p>
            <a:r>
              <a:rPr lang="en-US" sz="2800" dirty="0">
                <a:latin typeface="Times New Roman" panose="02020603050405020304" pitchFamily="18" charset="0"/>
                <a:cs typeface="Times New Roman" panose="02020603050405020304" pitchFamily="18" charset="0"/>
              </a:rPr>
              <a:t>@GetMapping("/users")</a:t>
            </a:r>
          </a:p>
          <a:p>
            <a:r>
              <a:rPr lang="en-US" sz="2800" dirty="0">
                <a:latin typeface="Times New Roman" panose="02020603050405020304" pitchFamily="18" charset="0"/>
                <a:cs typeface="Times New Roman" panose="02020603050405020304" pitchFamily="18" charset="0"/>
              </a:rPr>
              <a:t>public String </a:t>
            </a:r>
            <a:r>
              <a:rPr lang="en-US" sz="2800" dirty="0" err="1">
                <a:latin typeface="Times New Roman" panose="02020603050405020304" pitchFamily="18" charset="0"/>
                <a:cs typeface="Times New Roman" panose="02020603050405020304" pitchFamily="18" charset="0"/>
              </a:rPr>
              <a:t>fetchUsers</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return "</a:t>
            </a:r>
            <a:r>
              <a:rPr lang="en-US" sz="2800" dirty="0" err="1">
                <a:latin typeface="Times New Roman" panose="02020603050405020304" pitchFamily="18" charset="0"/>
                <a:cs typeface="Times New Roman" panose="02020603050405020304" pitchFamily="18" charset="0"/>
              </a:rPr>
              <a:t>userList</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Http Post Request</a:t>
            </a:r>
          </a:p>
          <a:p>
            <a:r>
              <a:rPr lang="en-US" sz="2800" dirty="0">
                <a:latin typeface="Times New Roman" panose="02020603050405020304" pitchFamily="18" charset="0"/>
                <a:cs typeface="Times New Roman" panose="02020603050405020304" pitchFamily="18" charset="0"/>
              </a:rPr>
              <a:t>@PostMapping("/register")</a:t>
            </a:r>
          </a:p>
          <a:p>
            <a:r>
              <a:rPr lang="en-US" sz="2800" dirty="0">
                <a:latin typeface="Times New Roman" panose="02020603050405020304" pitchFamily="18" charset="0"/>
                <a:cs typeface="Times New Roman" panose="02020603050405020304" pitchFamily="18" charset="0"/>
              </a:rPr>
              <a:t>public String </a:t>
            </a:r>
            <a:r>
              <a:rPr lang="en-US" sz="2800" dirty="0" err="1">
                <a:latin typeface="Times New Roman" panose="02020603050405020304" pitchFamily="18" charset="0"/>
                <a:cs typeface="Times New Roman" panose="02020603050405020304" pitchFamily="18" charset="0"/>
              </a:rPr>
              <a:t>createUser</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    return "success";</a:t>
            </a:r>
          </a:p>
          <a:p>
            <a:r>
              <a:rPr lang="en-US" sz="2800" dirty="0">
                <a:latin typeface="Times New Roman" panose="02020603050405020304" pitchFamily="18" charset="0"/>
                <a:cs typeface="Times New Roman" panose="02020603050405020304" pitchFamily="18" charset="0"/>
              </a:rPr>
              <a:t>}</a:t>
            </a:r>
            <a:endParaRPr lang="en-US" sz="26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033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70490-C5BE-1312-AC79-01B8FAAC5B4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488C892-1338-85EA-1636-84FB89832E18}"/>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36C29345-0E8F-2843-9EB4-7BA161B34DCC}"/>
              </a:ext>
            </a:extLst>
          </p:cNvPr>
          <p:cNvSpPr>
            <a:spLocks noChangeArrowheads="1"/>
          </p:cNvSpPr>
          <p:nvPr>
            <p:custDataLst>
              <p:tags r:id="rId2"/>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2"/>
                </a:solidFill>
                <a:latin typeface="Times New Roman" panose="02020603050405020304" pitchFamily="18" charset="0"/>
                <a:cs typeface="Times New Roman" panose="02020603050405020304" pitchFamily="18" charset="0"/>
              </a:rPr>
              <a:t>Passing Parameters in Request Mapping</a:t>
            </a:r>
            <a:endParaRPr lang="en-IN" b="1" i="0" dirty="0">
              <a:solidFill>
                <a:schemeClr val="bg2"/>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7D48B65-197C-64E5-D991-791C7FC06C5D}"/>
              </a:ext>
            </a:extLst>
          </p:cNvPr>
          <p:cNvSpPr txBox="1"/>
          <p:nvPr/>
        </p:nvSpPr>
        <p:spPr>
          <a:xfrm>
            <a:off x="0" y="2286000"/>
            <a:ext cx="9046029" cy="489364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1. Path Variables (@PathVariable)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to capture values from the URL path</a:t>
            </a:r>
          </a:p>
          <a:p>
            <a:r>
              <a:rPr lang="en-IN" sz="2400" dirty="0">
                <a:latin typeface="Times New Roman" panose="02020603050405020304" pitchFamily="18" charset="0"/>
                <a:cs typeface="Times New Roman" panose="02020603050405020304" pitchFamily="18" charset="0"/>
              </a:rPr>
              <a:t>@GetMapping("/user/{id}")</a:t>
            </a:r>
          </a:p>
          <a:p>
            <a:r>
              <a:rPr lang="en-IN" sz="2400" dirty="0">
                <a:latin typeface="Times New Roman" panose="02020603050405020304" pitchFamily="18" charset="0"/>
                <a:cs typeface="Times New Roman" panose="02020603050405020304" pitchFamily="18" charset="0"/>
              </a:rPr>
              <a:t>public String </a:t>
            </a:r>
            <a:r>
              <a:rPr lang="en-IN" sz="2400" dirty="0" err="1">
                <a:latin typeface="Times New Roman" panose="02020603050405020304" pitchFamily="18" charset="0"/>
                <a:cs typeface="Times New Roman" panose="02020603050405020304" pitchFamily="18" charset="0"/>
              </a:rPr>
              <a:t>getUserById</a:t>
            </a:r>
            <a:r>
              <a:rPr lang="en-IN" sz="2400" dirty="0">
                <a:latin typeface="Times New Roman" panose="02020603050405020304" pitchFamily="18" charset="0"/>
                <a:cs typeface="Times New Roman" panose="02020603050405020304" pitchFamily="18" charset="0"/>
              </a:rPr>
              <a:t>(@PathVariable("id") int </a:t>
            </a:r>
            <a:r>
              <a:rPr lang="en-IN" sz="2400" dirty="0" err="1">
                <a:latin typeface="Times New Roman" panose="02020603050405020304" pitchFamily="18" charset="0"/>
                <a:cs typeface="Times New Roman" panose="02020603050405020304" pitchFamily="18" charset="0"/>
              </a:rPr>
              <a:t>userId</a:t>
            </a:r>
            <a:r>
              <a:rPr lang="en-IN" sz="2400" dirty="0">
                <a:latin typeface="Times New Roman" panose="02020603050405020304" pitchFamily="18" charset="0"/>
                <a:cs typeface="Times New Roman" panose="02020603050405020304" pitchFamily="18" charset="0"/>
              </a:rPr>
              <a:t>, Model model)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model.addAttribute</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userId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userId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return "</a:t>
            </a:r>
            <a:r>
              <a:rPr lang="en-IN" sz="2400" dirty="0" err="1">
                <a:latin typeface="Times New Roman" panose="02020603050405020304" pitchFamily="18" charset="0"/>
                <a:cs typeface="Times New Roman" panose="02020603050405020304" pitchFamily="18" charset="0"/>
              </a:rPr>
              <a:t>userDetails</a:t>
            </a:r>
            <a:r>
              <a:rPr lang="en-IN" sz="2400" dirty="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2.Query Parameters (@RequestParam)</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to capture values from URL query strings (?key=value).</a:t>
            </a:r>
          </a:p>
          <a:p>
            <a:r>
              <a:rPr lang="en-IN" sz="2400" dirty="0">
                <a:latin typeface="Times New Roman" panose="02020603050405020304" pitchFamily="18" charset="0"/>
                <a:cs typeface="Times New Roman" panose="02020603050405020304" pitchFamily="18" charset="0"/>
              </a:rPr>
              <a:t>@GetMapping("/search")</a:t>
            </a:r>
          </a:p>
          <a:p>
            <a:r>
              <a:rPr lang="en-IN" sz="2400" dirty="0">
                <a:latin typeface="Times New Roman" panose="02020603050405020304" pitchFamily="18" charset="0"/>
                <a:cs typeface="Times New Roman" panose="02020603050405020304" pitchFamily="18" charset="0"/>
              </a:rPr>
              <a:t>public String search(@RequestParam("q") String query, Model model)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model.addAttribute</a:t>
            </a:r>
            <a:r>
              <a:rPr lang="en-IN" sz="2400" dirty="0">
                <a:latin typeface="Times New Roman" panose="02020603050405020304" pitchFamily="18" charset="0"/>
                <a:cs typeface="Times New Roman" panose="02020603050405020304" pitchFamily="18" charset="0"/>
              </a:rPr>
              <a:t>("query", query);</a:t>
            </a:r>
          </a:p>
          <a:p>
            <a:r>
              <a:rPr lang="en-IN" sz="2400" dirty="0">
                <a:latin typeface="Times New Roman" panose="02020603050405020304" pitchFamily="18" charset="0"/>
                <a:cs typeface="Times New Roman" panose="02020603050405020304" pitchFamily="18" charset="0"/>
              </a:rPr>
              <a:t>    return "</a:t>
            </a:r>
            <a:r>
              <a:rPr lang="en-IN" sz="2400" dirty="0" err="1">
                <a:latin typeface="Times New Roman" panose="02020603050405020304" pitchFamily="18" charset="0"/>
                <a:cs typeface="Times New Roman" panose="02020603050405020304" pitchFamily="18" charset="0"/>
              </a:rPr>
              <a:t>searchResults</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18431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7881D-8592-6A35-E8C2-9CFB01B894E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4698301-4937-9A90-1DAE-155CE75F068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00258A2-DBF6-4729-BF5E-F40C2FE2CC58}"/>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View in Spring MVC</a:t>
            </a:r>
          </a:p>
        </p:txBody>
      </p:sp>
      <p:sp>
        <p:nvSpPr>
          <p:cNvPr id="5" name="TextBox 4">
            <a:extLst>
              <a:ext uri="{FF2B5EF4-FFF2-40B4-BE49-F238E27FC236}">
                <a16:creationId xmlns:a16="http://schemas.microsoft.com/office/drawing/2014/main" id="{BAB5630A-B82C-B733-8813-C228EE2C152D}"/>
              </a:ext>
            </a:extLst>
          </p:cNvPr>
          <p:cNvSpPr txBox="1"/>
          <p:nvPr/>
        </p:nvSpPr>
        <p:spPr>
          <a:xfrm>
            <a:off x="76200" y="2330450"/>
            <a:ext cx="8877300" cy="4401205"/>
          </a:xfrm>
          <a:prstGeom prst="rect">
            <a:avLst/>
          </a:prstGeom>
          <a:noFill/>
        </p:spPr>
        <p:txBody>
          <a:bodyPr wrap="square" rtlCol="0">
            <a:spAutoFit/>
          </a:bodyPr>
          <a:lstStyle/>
          <a:p>
            <a:pPr marL="457200" indent="-457200" algn="l"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View is the part of an MVC application that displays data to users.</a:t>
            </a:r>
          </a:p>
          <a:p>
            <a:pPr marL="457200" indent="-457200" algn="l"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can be a JSP page, Thymeleaf template, PDF, or Excel document.</a:t>
            </a:r>
          </a:p>
          <a:p>
            <a:pPr marL="457200" indent="-457200" algn="l"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Controller passes data to the view, which renders it for the user.</a:t>
            </a:r>
          </a:p>
          <a:p>
            <a:pPr algn="l" fontAlgn="base"/>
            <a:r>
              <a:rPr lang="en-US" sz="2800" dirty="0">
                <a:latin typeface="Times New Roman" panose="02020603050405020304" pitchFamily="18" charset="0"/>
                <a:cs typeface="Times New Roman" panose="02020603050405020304" pitchFamily="18" charset="0"/>
              </a:rPr>
              <a:t>Example:</a:t>
            </a:r>
          </a:p>
          <a:p>
            <a:pPr marL="457200" indent="-457200" algn="l"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user visits http://localhost:8080/welcome.</a:t>
            </a:r>
          </a:p>
          <a:p>
            <a:pPr marL="457200" indent="-457200" algn="l" fontAlgn="base">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controller processes the request and returns a view (</a:t>
            </a:r>
            <a:r>
              <a:rPr lang="en-US" sz="2800" dirty="0" err="1">
                <a:latin typeface="Times New Roman" panose="02020603050405020304" pitchFamily="18" charset="0"/>
                <a:cs typeface="Times New Roman" panose="02020603050405020304" pitchFamily="18" charset="0"/>
              </a:rPr>
              <a:t>welcome.jsp</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343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5D7AF-A1A4-50E4-0C9A-EAABC1B51E1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A579874-00CE-7C4A-885B-243F5438FD34}"/>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7C39DD9B-07DA-65FD-5E11-8E7CD6DFCE84}"/>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IN" b="1" i="0" dirty="0">
                <a:solidFill>
                  <a:srgbClr val="FFFFFF"/>
                </a:solidFill>
                <a:effectLst/>
                <a:latin typeface="Times New Roman" panose="02020603050405020304" pitchFamily="18" charset="0"/>
                <a:cs typeface="Times New Roman" panose="02020603050405020304" pitchFamily="18" charset="0"/>
              </a:rPr>
              <a:t>View Resolver</a:t>
            </a:r>
          </a:p>
        </p:txBody>
      </p:sp>
      <p:sp>
        <p:nvSpPr>
          <p:cNvPr id="2" name="TextBox 1">
            <a:extLst>
              <a:ext uri="{FF2B5EF4-FFF2-40B4-BE49-F238E27FC236}">
                <a16:creationId xmlns:a16="http://schemas.microsoft.com/office/drawing/2014/main" id="{2D951179-7C34-2ED9-C120-A60368BA4C32}"/>
              </a:ext>
            </a:extLst>
          </p:cNvPr>
          <p:cNvSpPr txBox="1"/>
          <p:nvPr/>
        </p:nvSpPr>
        <p:spPr>
          <a:xfrm>
            <a:off x="76200" y="2286000"/>
            <a:ext cx="8991600" cy="4247317"/>
          </a:xfrm>
          <a:prstGeom prst="rect">
            <a:avLst/>
          </a:prstGeom>
          <a:noFill/>
        </p:spPr>
        <p:txBody>
          <a:bodyPr wrap="square" rtlCol="0">
            <a:spAutoFit/>
          </a:bodyPr>
          <a:lstStyle/>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Spring MVC uses View Resolvers to determine which view to render.</a:t>
            </a:r>
          </a:p>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View resolvers map logical view names (e.g., "home") to actual files (e.g., /WEB-INF/views/</a:t>
            </a:r>
            <a:r>
              <a:rPr lang="en-IN" sz="3000" dirty="0" err="1">
                <a:latin typeface="Times New Roman" panose="02020603050405020304" pitchFamily="18" charset="0"/>
                <a:cs typeface="Times New Roman" panose="02020603050405020304" pitchFamily="18" charset="0"/>
              </a:rPr>
              <a:t>home.jsp</a:t>
            </a:r>
            <a:r>
              <a:rPr lang="en-IN" sz="3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Example :-</a:t>
            </a:r>
          </a:p>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Controller returns a logical view name: return "home";.</a:t>
            </a:r>
          </a:p>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View Resolver maps "home" to /WEB-INF/views/</a:t>
            </a:r>
            <a:r>
              <a:rPr lang="en-IN" sz="3000" dirty="0" err="1">
                <a:latin typeface="Times New Roman" panose="02020603050405020304" pitchFamily="18" charset="0"/>
                <a:cs typeface="Times New Roman" panose="02020603050405020304" pitchFamily="18" charset="0"/>
              </a:rPr>
              <a:t>home.jsp</a:t>
            </a:r>
            <a:r>
              <a:rPr lang="en-IN" sz="3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Spring renders the </a:t>
            </a:r>
            <a:r>
              <a:rPr lang="en-IN" sz="3000" dirty="0" err="1">
                <a:latin typeface="Times New Roman" panose="02020603050405020304" pitchFamily="18" charset="0"/>
                <a:cs typeface="Times New Roman" panose="02020603050405020304" pitchFamily="18" charset="0"/>
              </a:rPr>
              <a:t>home.jsp</a:t>
            </a:r>
            <a:r>
              <a:rPr lang="en-IN" sz="3000" dirty="0">
                <a:latin typeface="Times New Roman" panose="02020603050405020304" pitchFamily="18" charset="0"/>
                <a:cs typeface="Times New Roman" panose="02020603050405020304" pitchFamily="18" charset="0"/>
              </a:rPr>
              <a:t> page.</a:t>
            </a:r>
          </a:p>
        </p:txBody>
      </p:sp>
    </p:spTree>
    <p:extLst>
      <p:ext uri="{BB962C8B-B14F-4D97-AF65-F5344CB8AC3E}">
        <p14:creationId xmlns:p14="http://schemas.microsoft.com/office/powerpoint/2010/main" val="2631341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38085-9E64-59F3-6BCB-14A2B887EFB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4F81795-84D4-8A17-DEB2-1616ABEA7B91}"/>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75EEE6CE-96A8-3EEF-EBC3-57CBD12A8DE6}"/>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2"/>
                </a:solidFill>
                <a:latin typeface="Times New Roman" panose="02020603050405020304" pitchFamily="18" charset="0"/>
                <a:cs typeface="Times New Roman" panose="02020603050405020304" pitchFamily="18" charset="0"/>
              </a:rPr>
              <a:t>Passing Data to Views using Model</a:t>
            </a:r>
            <a:endParaRPr lang="en-IN" b="1" i="0" dirty="0">
              <a:solidFill>
                <a:schemeClr val="bg2"/>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6C7105-F869-806F-E81D-CDF0325E8981}"/>
              </a:ext>
            </a:extLst>
          </p:cNvPr>
          <p:cNvSpPr txBox="1"/>
          <p:nvPr/>
        </p:nvSpPr>
        <p:spPr>
          <a:xfrm>
            <a:off x="38100" y="2330450"/>
            <a:ext cx="9067800" cy="4893647"/>
          </a:xfrm>
          <a:prstGeom prst="rect">
            <a:avLst/>
          </a:prstGeom>
          <a:noFill/>
        </p:spPr>
        <p:txBody>
          <a:bodyPr wrap="square" rtlCol="0">
            <a:spAutoFit/>
          </a:bodyPr>
          <a:lstStyle/>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Model is an interface used to pass attributes to the view.</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typically used in a controller method with @RequestMapping.</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You add data using </a:t>
            </a:r>
            <a:r>
              <a:rPr lang="en-US" sz="2600" dirty="0" err="1">
                <a:latin typeface="Times New Roman" panose="02020603050405020304" pitchFamily="18" charset="0"/>
                <a:cs typeface="Times New Roman" panose="02020603050405020304" pitchFamily="18" charset="0"/>
              </a:rPr>
              <a:t>model.addAttribute</a:t>
            </a:r>
            <a:r>
              <a:rPr lang="en-US" sz="2600" dirty="0">
                <a:latin typeface="Times New Roman" panose="02020603050405020304" pitchFamily="18" charset="0"/>
                <a:cs typeface="Times New Roman" panose="02020603050405020304" pitchFamily="18" charset="0"/>
              </a:rPr>
              <a:t>("key", value);.</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view name is returned separately as a String.</a:t>
            </a:r>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@Controller</a:t>
            </a:r>
          </a:p>
          <a:p>
            <a:r>
              <a:rPr lang="en-IN" sz="2600" dirty="0">
                <a:latin typeface="Times New Roman" panose="02020603050405020304" pitchFamily="18" charset="0"/>
                <a:cs typeface="Times New Roman" panose="02020603050405020304" pitchFamily="18" charset="0"/>
              </a:rPr>
              <a:t>public class </a:t>
            </a:r>
            <a:r>
              <a:rPr lang="en-IN" sz="2600" dirty="0" err="1">
                <a:latin typeface="Times New Roman" panose="02020603050405020304" pitchFamily="18" charset="0"/>
                <a:cs typeface="Times New Roman" panose="02020603050405020304" pitchFamily="18" charset="0"/>
              </a:rPr>
              <a:t>MyController</a:t>
            </a: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    @GetMapping("/example")</a:t>
            </a:r>
          </a:p>
          <a:p>
            <a:r>
              <a:rPr lang="en-IN" sz="2600" dirty="0">
                <a:latin typeface="Times New Roman" panose="02020603050405020304" pitchFamily="18" charset="0"/>
                <a:cs typeface="Times New Roman" panose="02020603050405020304" pitchFamily="18" charset="0"/>
              </a:rPr>
              <a:t>    public String example(Model model) {</a:t>
            </a:r>
          </a:p>
          <a:p>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model.addAttribute</a:t>
            </a:r>
            <a:r>
              <a:rPr lang="en-IN" sz="2600" dirty="0">
                <a:latin typeface="Times New Roman" panose="02020603050405020304" pitchFamily="18" charset="0"/>
                <a:cs typeface="Times New Roman" panose="02020603050405020304" pitchFamily="18" charset="0"/>
              </a:rPr>
              <a:t>("message", "Hello from Model!");</a:t>
            </a:r>
          </a:p>
          <a:p>
            <a:r>
              <a:rPr lang="en-IN" sz="2600" dirty="0">
                <a:latin typeface="Times New Roman" panose="02020603050405020304" pitchFamily="18" charset="0"/>
                <a:cs typeface="Times New Roman" panose="02020603050405020304" pitchFamily="18" charset="0"/>
              </a:rPr>
              <a:t>        return "</a:t>
            </a:r>
            <a:r>
              <a:rPr lang="en-IN" sz="2600" dirty="0" err="1">
                <a:latin typeface="Times New Roman" panose="02020603050405020304" pitchFamily="18" charset="0"/>
                <a:cs typeface="Times New Roman" panose="02020603050405020304" pitchFamily="18" charset="0"/>
              </a:rPr>
              <a:t>viewName</a:t>
            </a: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03491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2AEB2-8739-983A-3F73-A00A54C58C9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BD31D25-9D82-2D22-6201-F7F3CA8B114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5753D27-4CD3-AE59-D93D-7D9106EFBC8B}"/>
              </a:ext>
            </a:extLst>
          </p:cNvPr>
          <p:cNvSpPr>
            <a:spLocks noChangeArrowheads="1"/>
          </p:cNvSpPr>
          <p:nvPr>
            <p:custDataLst>
              <p:tags r:id="rId2"/>
            </p:custDataLst>
          </p:nvPr>
        </p:nvSpPr>
        <p:spPr bwMode="auto">
          <a:xfrm>
            <a:off x="76200" y="1687513"/>
            <a:ext cx="8877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fontAlgn="base">
              <a:spcBef>
                <a:spcPts val="1800"/>
              </a:spcBef>
              <a:spcAft>
                <a:spcPts val="1800"/>
              </a:spcAft>
              <a:buNone/>
            </a:pPr>
            <a:r>
              <a:rPr lang="en-US" b="1" dirty="0">
                <a:solidFill>
                  <a:schemeClr val="bg2"/>
                </a:solidFill>
                <a:latin typeface="Times New Roman" panose="02020603050405020304" pitchFamily="18" charset="0"/>
                <a:cs typeface="Times New Roman" panose="02020603050405020304" pitchFamily="18" charset="0"/>
              </a:rPr>
              <a:t>Passing Data to Views using Model and View</a:t>
            </a:r>
            <a:endParaRPr lang="en-IN" b="1" i="0" dirty="0">
              <a:solidFill>
                <a:schemeClr val="bg2"/>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B621AA-F789-B441-460E-807EE95F36F6}"/>
              </a:ext>
            </a:extLst>
          </p:cNvPr>
          <p:cNvSpPr txBox="1"/>
          <p:nvPr/>
        </p:nvSpPr>
        <p:spPr>
          <a:xfrm>
            <a:off x="38100" y="2330450"/>
            <a:ext cx="9067800" cy="4893647"/>
          </a:xfrm>
          <a:prstGeom prst="rect">
            <a:avLst/>
          </a:prstGeom>
          <a:noFill/>
        </p:spPr>
        <p:txBody>
          <a:bodyPr wrap="square" rtlCol="0">
            <a:spAutoFit/>
          </a:bodyPr>
          <a:lstStyle/>
          <a:p>
            <a:pPr marL="457200" indent="-457200">
              <a:buFont typeface="Arial" panose="020B0604020202020204" pitchFamily="34" charset="0"/>
              <a:buChar char="•"/>
            </a:pPr>
            <a:r>
              <a:rPr lang="en-US" sz="2500" dirty="0" err="1">
                <a:latin typeface="Times New Roman" panose="02020603050405020304" pitchFamily="18" charset="0"/>
                <a:cs typeface="Times New Roman" panose="02020603050405020304" pitchFamily="18" charset="0"/>
              </a:rPr>
              <a:t>ModelAndView</a:t>
            </a:r>
            <a:r>
              <a:rPr lang="en-US" sz="2500" dirty="0">
                <a:latin typeface="Times New Roman" panose="02020603050405020304" pitchFamily="18" charset="0"/>
                <a:cs typeface="Times New Roman" panose="02020603050405020304" pitchFamily="18" charset="0"/>
              </a:rPr>
              <a:t> (class) combines both the model data and the view name into a single object.</a:t>
            </a:r>
          </a:p>
          <a:p>
            <a:pPr marL="457200" indent="-4572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You set the view name using </a:t>
            </a:r>
            <a:r>
              <a:rPr lang="en-US" sz="2500" dirty="0" err="1">
                <a:latin typeface="Times New Roman" panose="02020603050405020304" pitchFamily="18" charset="0"/>
                <a:cs typeface="Times New Roman" panose="02020603050405020304" pitchFamily="18" charset="0"/>
              </a:rPr>
              <a:t>setViewName</a:t>
            </a:r>
            <a:r>
              <a:rPr lang="en-US" sz="2500" dirty="0">
                <a:latin typeface="Times New Roman" panose="02020603050405020304" pitchFamily="18" charset="0"/>
                <a:cs typeface="Times New Roman" panose="02020603050405020304" pitchFamily="18" charset="0"/>
              </a:rPr>
              <a:t>("</a:t>
            </a:r>
            <a:r>
              <a:rPr lang="en-US" sz="2500" dirty="0" err="1">
                <a:latin typeface="Times New Roman" panose="02020603050405020304" pitchFamily="18" charset="0"/>
                <a:cs typeface="Times New Roman" panose="02020603050405020304" pitchFamily="18" charset="0"/>
              </a:rPr>
              <a:t>viewName</a:t>
            </a:r>
            <a:r>
              <a:rPr lang="en-US" sz="25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You add data using </a:t>
            </a:r>
            <a:r>
              <a:rPr lang="en-US" sz="2500" dirty="0" err="1">
                <a:latin typeface="Times New Roman" panose="02020603050405020304" pitchFamily="18" charset="0"/>
                <a:cs typeface="Times New Roman" panose="02020603050405020304" pitchFamily="18" charset="0"/>
              </a:rPr>
              <a:t>addObject</a:t>
            </a:r>
            <a:r>
              <a:rPr lang="en-US" sz="2500" dirty="0">
                <a:latin typeface="Times New Roman" panose="02020603050405020304" pitchFamily="18" charset="0"/>
                <a:cs typeface="Times New Roman" panose="02020603050405020304" pitchFamily="18" charset="0"/>
              </a:rPr>
              <a:t>("key", value).</a:t>
            </a:r>
          </a:p>
          <a:p>
            <a:r>
              <a:rPr lang="en-IN" sz="2500" dirty="0">
                <a:latin typeface="Times New Roman" panose="02020603050405020304" pitchFamily="18" charset="0"/>
                <a:cs typeface="Times New Roman" panose="02020603050405020304" pitchFamily="18" charset="0"/>
              </a:rPr>
              <a:t>@Controller</a:t>
            </a:r>
          </a:p>
          <a:p>
            <a:r>
              <a:rPr lang="en-IN" sz="2500" dirty="0">
                <a:latin typeface="Times New Roman" panose="02020603050405020304" pitchFamily="18" charset="0"/>
                <a:cs typeface="Times New Roman" panose="02020603050405020304" pitchFamily="18" charset="0"/>
              </a:rPr>
              <a:t>public class </a:t>
            </a:r>
            <a:r>
              <a:rPr lang="en-IN" sz="2500" dirty="0" err="1">
                <a:latin typeface="Times New Roman" panose="02020603050405020304" pitchFamily="18" charset="0"/>
                <a:cs typeface="Times New Roman" panose="02020603050405020304" pitchFamily="18" charset="0"/>
              </a:rPr>
              <a:t>MyController</a:t>
            </a:r>
            <a:r>
              <a:rPr lang="en-IN" sz="2500" dirty="0">
                <a:latin typeface="Times New Roman" panose="02020603050405020304" pitchFamily="18" charset="0"/>
                <a:cs typeface="Times New Roman" panose="02020603050405020304" pitchFamily="18" charset="0"/>
              </a:rPr>
              <a:t> {</a:t>
            </a:r>
          </a:p>
          <a:p>
            <a:r>
              <a:rPr lang="en-IN" sz="2500" dirty="0">
                <a:latin typeface="Times New Roman" panose="02020603050405020304" pitchFamily="18" charset="0"/>
                <a:cs typeface="Times New Roman" panose="02020603050405020304" pitchFamily="18" charset="0"/>
              </a:rPr>
              <a:t>    @GetMapping("/example")</a:t>
            </a:r>
          </a:p>
          <a:p>
            <a:r>
              <a:rPr lang="en-IN" sz="2500" dirty="0">
                <a:latin typeface="Times New Roman" panose="02020603050405020304" pitchFamily="18" charset="0"/>
                <a:cs typeface="Times New Roman" panose="02020603050405020304" pitchFamily="18" charset="0"/>
              </a:rPr>
              <a:t>    public </a:t>
            </a:r>
            <a:r>
              <a:rPr lang="en-IN" sz="2500" dirty="0" err="1">
                <a:latin typeface="Times New Roman" panose="02020603050405020304" pitchFamily="18" charset="0"/>
                <a:cs typeface="Times New Roman" panose="02020603050405020304" pitchFamily="18" charset="0"/>
              </a:rPr>
              <a:t>ModelAndView</a:t>
            </a:r>
            <a:r>
              <a:rPr lang="en-IN" sz="2500" dirty="0">
                <a:latin typeface="Times New Roman" panose="02020603050405020304" pitchFamily="18" charset="0"/>
                <a:cs typeface="Times New Roman" panose="02020603050405020304" pitchFamily="18" charset="0"/>
              </a:rPr>
              <a:t> example() {</a:t>
            </a:r>
          </a:p>
          <a:p>
            <a:r>
              <a:rPr lang="en-IN" sz="2500" dirty="0">
                <a:latin typeface="Times New Roman" panose="02020603050405020304" pitchFamily="18" charset="0"/>
                <a:cs typeface="Times New Roman" panose="02020603050405020304" pitchFamily="18" charset="0"/>
              </a:rPr>
              <a:t>        </a:t>
            </a:r>
            <a:r>
              <a:rPr lang="en-IN" sz="2500" dirty="0" err="1">
                <a:latin typeface="Times New Roman" panose="02020603050405020304" pitchFamily="18" charset="0"/>
                <a:cs typeface="Times New Roman" panose="02020603050405020304" pitchFamily="18" charset="0"/>
              </a:rPr>
              <a:t>ModelAndView</a:t>
            </a:r>
            <a:r>
              <a:rPr lang="en-IN" sz="2500" dirty="0">
                <a:latin typeface="Times New Roman" panose="02020603050405020304" pitchFamily="18" charset="0"/>
                <a:cs typeface="Times New Roman" panose="02020603050405020304" pitchFamily="18" charset="0"/>
              </a:rPr>
              <a:t> </a:t>
            </a:r>
            <a:r>
              <a:rPr lang="en-IN" sz="2500" dirty="0" err="1">
                <a:latin typeface="Times New Roman" panose="02020603050405020304" pitchFamily="18" charset="0"/>
                <a:cs typeface="Times New Roman" panose="02020603050405020304" pitchFamily="18" charset="0"/>
              </a:rPr>
              <a:t>mav</a:t>
            </a:r>
            <a:r>
              <a:rPr lang="en-IN" sz="2500" dirty="0">
                <a:latin typeface="Times New Roman" panose="02020603050405020304" pitchFamily="18" charset="0"/>
                <a:cs typeface="Times New Roman" panose="02020603050405020304" pitchFamily="18" charset="0"/>
              </a:rPr>
              <a:t> = new </a:t>
            </a:r>
            <a:r>
              <a:rPr lang="en-IN" sz="2500" dirty="0" err="1">
                <a:latin typeface="Times New Roman" panose="02020603050405020304" pitchFamily="18" charset="0"/>
                <a:cs typeface="Times New Roman" panose="02020603050405020304" pitchFamily="18" charset="0"/>
              </a:rPr>
              <a:t>ModelAndView</a:t>
            </a:r>
            <a:r>
              <a:rPr lang="en-IN" sz="2500" dirty="0">
                <a:latin typeface="Times New Roman" panose="02020603050405020304" pitchFamily="18" charset="0"/>
                <a:cs typeface="Times New Roman" panose="02020603050405020304" pitchFamily="18" charset="0"/>
              </a:rPr>
              <a:t>();</a:t>
            </a:r>
          </a:p>
          <a:p>
            <a:r>
              <a:rPr lang="en-IN" sz="2500" dirty="0">
                <a:latin typeface="Times New Roman" panose="02020603050405020304" pitchFamily="18" charset="0"/>
                <a:cs typeface="Times New Roman" panose="02020603050405020304" pitchFamily="18" charset="0"/>
              </a:rPr>
              <a:t>        </a:t>
            </a:r>
            <a:r>
              <a:rPr lang="en-IN" sz="2500" dirty="0" err="1">
                <a:latin typeface="Times New Roman" panose="02020603050405020304" pitchFamily="18" charset="0"/>
                <a:cs typeface="Times New Roman" panose="02020603050405020304" pitchFamily="18" charset="0"/>
              </a:rPr>
              <a:t>mav.setViewName</a:t>
            </a:r>
            <a:r>
              <a:rPr lang="en-IN" sz="2500" dirty="0">
                <a:latin typeface="Times New Roman" panose="02020603050405020304" pitchFamily="18" charset="0"/>
                <a:cs typeface="Times New Roman" panose="02020603050405020304" pitchFamily="18" charset="0"/>
              </a:rPr>
              <a:t>("</a:t>
            </a:r>
            <a:r>
              <a:rPr lang="en-IN" sz="2500" dirty="0" err="1">
                <a:latin typeface="Times New Roman" panose="02020603050405020304" pitchFamily="18" charset="0"/>
                <a:cs typeface="Times New Roman" panose="02020603050405020304" pitchFamily="18" charset="0"/>
              </a:rPr>
              <a:t>viewName</a:t>
            </a:r>
            <a:r>
              <a:rPr lang="en-IN" sz="2500" dirty="0">
                <a:latin typeface="Times New Roman" panose="02020603050405020304" pitchFamily="18" charset="0"/>
                <a:cs typeface="Times New Roman" panose="02020603050405020304" pitchFamily="18" charset="0"/>
              </a:rPr>
              <a:t>");</a:t>
            </a:r>
          </a:p>
          <a:p>
            <a:r>
              <a:rPr lang="en-IN" sz="2500" dirty="0">
                <a:latin typeface="Times New Roman" panose="02020603050405020304" pitchFamily="18" charset="0"/>
                <a:cs typeface="Times New Roman" panose="02020603050405020304" pitchFamily="18" charset="0"/>
              </a:rPr>
              <a:t>        </a:t>
            </a:r>
            <a:r>
              <a:rPr lang="en-IN" sz="2500" dirty="0" err="1">
                <a:latin typeface="Times New Roman" panose="02020603050405020304" pitchFamily="18" charset="0"/>
                <a:cs typeface="Times New Roman" panose="02020603050405020304" pitchFamily="18" charset="0"/>
              </a:rPr>
              <a:t>mav.addObject</a:t>
            </a:r>
            <a:r>
              <a:rPr lang="en-IN" sz="2500" dirty="0">
                <a:latin typeface="Times New Roman" panose="02020603050405020304" pitchFamily="18" charset="0"/>
                <a:cs typeface="Times New Roman" panose="02020603050405020304" pitchFamily="18" charset="0"/>
              </a:rPr>
              <a:t>("message", "Hello from </a:t>
            </a:r>
            <a:r>
              <a:rPr lang="en-IN" sz="2500" dirty="0" err="1">
                <a:latin typeface="Times New Roman" panose="02020603050405020304" pitchFamily="18" charset="0"/>
                <a:cs typeface="Times New Roman" panose="02020603050405020304" pitchFamily="18" charset="0"/>
              </a:rPr>
              <a:t>ModelAndView</a:t>
            </a:r>
            <a:r>
              <a:rPr lang="en-IN" sz="2500" dirty="0">
                <a:latin typeface="Times New Roman" panose="02020603050405020304" pitchFamily="18" charset="0"/>
                <a:cs typeface="Times New Roman" panose="02020603050405020304" pitchFamily="18" charset="0"/>
              </a:rPr>
              <a:t>!");</a:t>
            </a:r>
          </a:p>
          <a:p>
            <a:r>
              <a:rPr lang="en-IN" sz="2500" dirty="0">
                <a:latin typeface="Times New Roman" panose="02020603050405020304" pitchFamily="18" charset="0"/>
                <a:cs typeface="Times New Roman" panose="02020603050405020304" pitchFamily="18" charset="0"/>
              </a:rPr>
              <a:t>        return </a:t>
            </a:r>
            <a:r>
              <a:rPr lang="en-IN" sz="2500" dirty="0" err="1">
                <a:latin typeface="Times New Roman" panose="02020603050405020304" pitchFamily="18" charset="0"/>
                <a:cs typeface="Times New Roman" panose="02020603050405020304" pitchFamily="18" charset="0"/>
              </a:rPr>
              <a:t>mav</a:t>
            </a:r>
            <a:r>
              <a:rPr lang="en-IN" sz="25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3323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8"/>
</p:tagLst>
</file>

<file path=ppt/tags/tag2.xml><?xml version="1.0" encoding="utf-8"?>
<p:tagLst xmlns:a="http://schemas.openxmlformats.org/drawingml/2006/main" xmlns:r="http://schemas.openxmlformats.org/officeDocument/2006/relationships" xmlns:p="http://schemas.openxmlformats.org/presentationml/2006/main">
  <p:tag name="AS_UNIQUEID" val="41"/>
</p:tagLst>
</file>

<file path=ppt/tags/tag3.xml><?xml version="1.0" encoding="utf-8"?>
<p:tagLst xmlns:a="http://schemas.openxmlformats.org/drawingml/2006/main" xmlns:r="http://schemas.openxmlformats.org/officeDocument/2006/relationships" xmlns:p="http://schemas.openxmlformats.org/presentationml/2006/main">
  <p:tag name="AS_UNIQUEID" val="42"/>
</p:tagLst>
</file>

<file path=ppt/tags/tag4.xml><?xml version="1.0" encoding="utf-8"?>
<p:tagLst xmlns:a="http://schemas.openxmlformats.org/drawingml/2006/main" xmlns:r="http://schemas.openxmlformats.org/officeDocument/2006/relationships" xmlns:p="http://schemas.openxmlformats.org/presentationml/2006/main">
  <p:tag name="AS_UNIQUEID" val="43"/>
</p:tagLst>
</file>

<file path=ppt/tags/tag5.xml><?xml version="1.0" encoding="utf-8"?>
<p:tagLst xmlns:a="http://schemas.openxmlformats.org/drawingml/2006/main" xmlns:r="http://schemas.openxmlformats.org/officeDocument/2006/relationships" xmlns:p="http://schemas.openxmlformats.org/presentationml/2006/main">
  <p:tag name="AS_UNIQUEID" val="60"/>
</p:tagLst>
</file>

<file path=ppt/tags/tag6.xml><?xml version="1.0" encoding="utf-8"?>
<p:tagLst xmlns:a="http://schemas.openxmlformats.org/drawingml/2006/main" xmlns:r="http://schemas.openxmlformats.org/officeDocument/2006/relationships" xmlns:p="http://schemas.openxmlformats.org/presentationml/2006/main">
  <p:tag name="AS_UNIQUEID" val="92"/>
</p:tagLst>
</file>

<file path=ppt/tags/tag7.xml><?xml version="1.0" encoding="utf-8"?>
<p:tagLst xmlns:a="http://schemas.openxmlformats.org/drawingml/2006/main" xmlns:r="http://schemas.openxmlformats.org/officeDocument/2006/relationships" xmlns:p="http://schemas.openxmlformats.org/presentationml/2006/main">
  <p:tag name="AS_UNIQUEID" val="93"/>
</p:tagLst>
</file>

<file path=ppt/tags/tag8.xml><?xml version="1.0" encoding="utf-8"?>
<p:tagLst xmlns:a="http://schemas.openxmlformats.org/drawingml/2006/main" xmlns:r="http://schemas.openxmlformats.org/officeDocument/2006/relationships" xmlns:p="http://schemas.openxmlformats.org/presentationml/2006/main">
  <p:tag name="AS_UNIQUEID" val="94"/>
</p:tagLst>
</file>

<file path=ppt/tags/tag9.xml><?xml version="1.0" encoding="utf-8"?>
<p:tagLst xmlns:a="http://schemas.openxmlformats.org/drawingml/2006/main" xmlns:r="http://schemas.openxmlformats.org/officeDocument/2006/relationships" xmlns:p="http://schemas.openxmlformats.org/presentationml/2006/main">
  <p:tag name="AS_UNIQUEID" val="95"/>
</p:tagLst>
</file>

<file path=ppt/tags/tag10.xml><?xml version="1.0" encoding="utf-8"?>
<p:tagLst xmlns:a="http://schemas.openxmlformats.org/drawingml/2006/main" xmlns:r="http://schemas.openxmlformats.org/officeDocument/2006/relationships" xmlns:p="http://schemas.openxmlformats.org/presentationml/2006/main">
  <p:tag name="AS_UNIQUEID" val="96"/>
</p:tagLst>
</file>

<file path=ppt/tags/tag11.xml><?xml version="1.0" encoding="utf-8"?>
<p:tagLst xmlns:a="http://schemas.openxmlformats.org/drawingml/2006/main" xmlns:r="http://schemas.openxmlformats.org/officeDocument/2006/relationships" xmlns:p="http://schemas.openxmlformats.org/presentationml/2006/main">
  <p:tag name="AS_UNIQUEID" val="97"/>
</p:tagLst>
</file>

<file path=ppt/tags/tag12.xml><?xml version="1.0" encoding="utf-8"?>
<p:tagLst xmlns:a="http://schemas.openxmlformats.org/drawingml/2006/main" xmlns:r="http://schemas.openxmlformats.org/officeDocument/2006/relationships" xmlns:p="http://schemas.openxmlformats.org/presentationml/2006/main">
  <p:tag name="AS_UNIQUEID" val="46"/>
</p:tagLst>
</file>

<file path=ppt/tags/tag13.xml><?xml version="1.0" encoding="utf-8"?>
<p:tagLst xmlns:a="http://schemas.openxmlformats.org/drawingml/2006/main" xmlns:r="http://schemas.openxmlformats.org/officeDocument/2006/relationships" xmlns:p="http://schemas.openxmlformats.org/presentationml/2006/main">
  <p:tag name="AS_UNIQUEID" val="48"/>
</p:tagLst>
</file>

<file path=ppt/tags/tag14.xml><?xml version="1.0" encoding="utf-8"?>
<p:tagLst xmlns:a="http://schemas.openxmlformats.org/drawingml/2006/main" xmlns:r="http://schemas.openxmlformats.org/officeDocument/2006/relationships" xmlns:p="http://schemas.openxmlformats.org/presentationml/2006/main">
  <p:tag name="AS_UNIQUEID" val="51"/>
</p:tagLst>
</file>

<file path=ppt/tags/tag15.xml><?xml version="1.0" encoding="utf-8"?>
<p:tagLst xmlns:a="http://schemas.openxmlformats.org/drawingml/2006/main" xmlns:r="http://schemas.openxmlformats.org/officeDocument/2006/relationships" xmlns:p="http://schemas.openxmlformats.org/presentationml/2006/main">
  <p:tag name="AS_UNIQUEID" val="52"/>
</p:tagLst>
</file>

<file path=ppt/tags/tag16.xml><?xml version="1.0" encoding="utf-8"?>
<p:tagLst xmlns:a="http://schemas.openxmlformats.org/drawingml/2006/main" xmlns:r="http://schemas.openxmlformats.org/officeDocument/2006/relationships" xmlns:p="http://schemas.openxmlformats.org/presentationml/2006/main">
  <p:tag name="AS_UNIQUEID" val="53"/>
</p:tagLst>
</file>

<file path=ppt/tags/tag17.xml><?xml version="1.0" encoding="utf-8"?>
<p:tagLst xmlns:a="http://schemas.openxmlformats.org/drawingml/2006/main" xmlns:r="http://schemas.openxmlformats.org/officeDocument/2006/relationships" xmlns:p="http://schemas.openxmlformats.org/presentationml/2006/main">
  <p:tag name="AS_UNIQUEID" val="51"/>
</p:tagLst>
</file>

<file path=ppt/tags/tag18.xml><?xml version="1.0" encoding="utf-8"?>
<p:tagLst xmlns:a="http://schemas.openxmlformats.org/drawingml/2006/main" xmlns:r="http://schemas.openxmlformats.org/officeDocument/2006/relationships" xmlns:p="http://schemas.openxmlformats.org/presentationml/2006/main">
  <p:tag name="AS_UNIQUEID" val="52"/>
</p:tagLst>
</file>

<file path=ppt/tags/tag19.xml><?xml version="1.0" encoding="utf-8"?>
<p:tagLst xmlns:a="http://schemas.openxmlformats.org/drawingml/2006/main" xmlns:r="http://schemas.openxmlformats.org/officeDocument/2006/relationships" xmlns:p="http://schemas.openxmlformats.org/presentationml/2006/main">
  <p:tag name="AS_UNIQUEID" val="53"/>
</p:tagLst>
</file>

<file path=ppt/tags/tag20.xml><?xml version="1.0" encoding="utf-8"?>
<p:tagLst xmlns:a="http://schemas.openxmlformats.org/drawingml/2006/main" xmlns:r="http://schemas.openxmlformats.org/officeDocument/2006/relationships" xmlns:p="http://schemas.openxmlformats.org/presentationml/2006/main">
  <p:tag name="AS_UNIQUEID" val="51"/>
</p:tagLst>
</file>

<file path=ppt/tags/tag21.xml><?xml version="1.0" encoding="utf-8"?>
<p:tagLst xmlns:a="http://schemas.openxmlformats.org/drawingml/2006/main" xmlns:r="http://schemas.openxmlformats.org/officeDocument/2006/relationships" xmlns:p="http://schemas.openxmlformats.org/presentationml/2006/main">
  <p:tag name="AS_UNIQUEID" val="52"/>
</p:tagLst>
</file>

<file path=ppt/tags/tag22.xml><?xml version="1.0" encoding="utf-8"?>
<p:tagLst xmlns:a="http://schemas.openxmlformats.org/drawingml/2006/main" xmlns:r="http://schemas.openxmlformats.org/officeDocument/2006/relationships" xmlns:p="http://schemas.openxmlformats.org/presentationml/2006/main">
  <p:tag name="AS_UNIQUEID" val="53"/>
</p:tagLst>
</file>

<file path=ppt/tags/tag23.xml><?xml version="1.0" encoding="utf-8"?>
<p:tagLst xmlns:a="http://schemas.openxmlformats.org/drawingml/2006/main" xmlns:r="http://schemas.openxmlformats.org/officeDocument/2006/relationships" xmlns:p="http://schemas.openxmlformats.org/presentationml/2006/main">
  <p:tag name="AS_UNIQUEID" val="51"/>
</p:tagLst>
</file>

<file path=ppt/tags/tag24.xml><?xml version="1.0" encoding="utf-8"?>
<p:tagLst xmlns:a="http://schemas.openxmlformats.org/drawingml/2006/main" xmlns:r="http://schemas.openxmlformats.org/officeDocument/2006/relationships" xmlns:p="http://schemas.openxmlformats.org/presentationml/2006/main">
  <p:tag name="AS_UNIQUEID" val="52"/>
</p:tagLst>
</file>

<file path=ppt/tags/tag25.xml><?xml version="1.0" encoding="utf-8"?>
<p:tagLst xmlns:a="http://schemas.openxmlformats.org/drawingml/2006/main" xmlns:r="http://schemas.openxmlformats.org/officeDocument/2006/relationships" xmlns:p="http://schemas.openxmlformats.org/presentationml/2006/main">
  <p:tag name="AS_UNIQUEID" val="53"/>
</p:tagLst>
</file>

<file path=ppt/tags/tag26.xml><?xml version="1.0" encoding="utf-8"?>
<p:tagLst xmlns:a="http://schemas.openxmlformats.org/drawingml/2006/main" xmlns:r="http://schemas.openxmlformats.org/officeDocument/2006/relationships" xmlns:p="http://schemas.openxmlformats.org/presentationml/2006/main">
  <p:tag name="AS_UNIQUEID" val="52"/>
</p:tagLst>
</file>

<file path=ppt/tags/tag27.xml><?xml version="1.0" encoding="utf-8"?>
<p:tagLst xmlns:a="http://schemas.openxmlformats.org/drawingml/2006/main" xmlns:r="http://schemas.openxmlformats.org/officeDocument/2006/relationships" xmlns:p="http://schemas.openxmlformats.org/presentationml/2006/main">
  <p:tag name="AS_UNIQUEID" val="53"/>
</p:tagLst>
</file>

<file path=ppt/tags/tag28.xml><?xml version="1.0" encoding="utf-8"?>
<p:tagLst xmlns:a="http://schemas.openxmlformats.org/drawingml/2006/main" xmlns:r="http://schemas.openxmlformats.org/officeDocument/2006/relationships" xmlns:p="http://schemas.openxmlformats.org/presentationml/2006/main">
  <p:tag name="AS_UNIQUEID" val="52"/>
</p:tagLst>
</file>

<file path=ppt/tags/tag29.xml><?xml version="1.0" encoding="utf-8"?>
<p:tagLst xmlns:a="http://schemas.openxmlformats.org/drawingml/2006/main" xmlns:r="http://schemas.openxmlformats.org/officeDocument/2006/relationships" xmlns:p="http://schemas.openxmlformats.org/presentationml/2006/main">
  <p:tag name="AS_UNIQUEID" val="53"/>
</p:tagLst>
</file>

<file path=ppt/tags/tag30.xml><?xml version="1.0" encoding="utf-8"?>
<p:tagLst xmlns:a="http://schemas.openxmlformats.org/drawingml/2006/main" xmlns:r="http://schemas.openxmlformats.org/officeDocument/2006/relationships" xmlns:p="http://schemas.openxmlformats.org/presentationml/2006/main">
  <p:tag name="AS_UNIQUEID" val="52"/>
</p:tagLst>
</file>

<file path=ppt/tags/tag31.xml><?xml version="1.0" encoding="utf-8"?>
<p:tagLst xmlns:a="http://schemas.openxmlformats.org/drawingml/2006/main" xmlns:r="http://schemas.openxmlformats.org/officeDocument/2006/relationships" xmlns:p="http://schemas.openxmlformats.org/presentationml/2006/main">
  <p:tag name="AS_UNIQUEID" val="53"/>
</p:tagLst>
</file>

<file path=ppt/tags/tag32.xml><?xml version="1.0" encoding="utf-8"?>
<p:tagLst xmlns:a="http://schemas.openxmlformats.org/drawingml/2006/main" xmlns:r="http://schemas.openxmlformats.org/officeDocument/2006/relationships" xmlns:p="http://schemas.openxmlformats.org/presentationml/2006/main">
  <p:tag name="AS_UNIQUEID" val="52"/>
</p:tagLst>
</file>

<file path=ppt/tags/tag33.xml><?xml version="1.0" encoding="utf-8"?>
<p:tagLst xmlns:a="http://schemas.openxmlformats.org/drawingml/2006/main" xmlns:r="http://schemas.openxmlformats.org/officeDocument/2006/relationships" xmlns:p="http://schemas.openxmlformats.org/presentationml/2006/main">
  <p:tag name="AS_UNIQUEID" val="53"/>
</p:tagLst>
</file>

<file path=ppt/tags/tag34.xml><?xml version="1.0" encoding="utf-8"?>
<p:tagLst xmlns:a="http://schemas.openxmlformats.org/drawingml/2006/main" xmlns:r="http://schemas.openxmlformats.org/officeDocument/2006/relationships" xmlns:p="http://schemas.openxmlformats.org/presentationml/2006/main">
  <p:tag name="AS_UNIQUEID" val="52"/>
</p:tagLst>
</file>

<file path=ppt/tags/tag35.xml><?xml version="1.0" encoding="utf-8"?>
<p:tagLst xmlns:a="http://schemas.openxmlformats.org/drawingml/2006/main" xmlns:r="http://schemas.openxmlformats.org/officeDocument/2006/relationships" xmlns:p="http://schemas.openxmlformats.org/presentationml/2006/main">
  <p:tag name="AS_UNIQUEID" val="53"/>
</p:tagLst>
</file>

<file path=ppt/tags/tag36.xml><?xml version="1.0" encoding="utf-8"?>
<p:tagLst xmlns:a="http://schemas.openxmlformats.org/drawingml/2006/main" xmlns:r="http://schemas.openxmlformats.org/officeDocument/2006/relationships" xmlns:p="http://schemas.openxmlformats.org/presentationml/2006/main">
  <p:tag name="AS_UNIQUEID" val="52"/>
</p:tagLst>
</file>

<file path=ppt/tags/tag37.xml><?xml version="1.0" encoding="utf-8"?>
<p:tagLst xmlns:a="http://schemas.openxmlformats.org/drawingml/2006/main" xmlns:r="http://schemas.openxmlformats.org/officeDocument/2006/relationships" xmlns:p="http://schemas.openxmlformats.org/presentationml/2006/main">
  <p:tag name="AS_UNIQUEID" val="53"/>
</p:tagLst>
</file>

<file path=ppt/tags/tag38.xml><?xml version="1.0" encoding="utf-8"?>
<p:tagLst xmlns:a="http://schemas.openxmlformats.org/drawingml/2006/main" xmlns:r="http://schemas.openxmlformats.org/officeDocument/2006/relationships" xmlns:p="http://schemas.openxmlformats.org/presentationml/2006/main">
  <p:tag name="AS_UNIQUEID" val="52"/>
</p:tagLst>
</file>

<file path=ppt/tags/tag39.xml><?xml version="1.0" encoding="utf-8"?>
<p:tagLst xmlns:a="http://schemas.openxmlformats.org/drawingml/2006/main" xmlns:r="http://schemas.openxmlformats.org/officeDocument/2006/relationships" xmlns:p="http://schemas.openxmlformats.org/presentationml/2006/main">
  <p:tag name="AS_UNIQUEID" val="53"/>
</p:tagLst>
</file>

<file path=ppt/tags/tag40.xml><?xml version="1.0" encoding="utf-8"?>
<p:tagLst xmlns:a="http://schemas.openxmlformats.org/drawingml/2006/main" xmlns:r="http://schemas.openxmlformats.org/officeDocument/2006/relationships" xmlns:p="http://schemas.openxmlformats.org/presentationml/2006/main">
  <p:tag name="AS_UNIQUEID" val="52"/>
</p:tagLst>
</file>

<file path=ppt/tags/tag41.xml><?xml version="1.0" encoding="utf-8"?>
<p:tagLst xmlns:a="http://schemas.openxmlformats.org/drawingml/2006/main" xmlns:r="http://schemas.openxmlformats.org/officeDocument/2006/relationships" xmlns:p="http://schemas.openxmlformats.org/presentationml/2006/main">
  <p:tag name="AS_UNIQUEID" val="53"/>
</p:tagLst>
</file>

<file path=ppt/tags/tag42.xml><?xml version="1.0" encoding="utf-8"?>
<p:tagLst xmlns:a="http://schemas.openxmlformats.org/drawingml/2006/main" xmlns:r="http://schemas.openxmlformats.org/officeDocument/2006/relationships" xmlns:p="http://schemas.openxmlformats.org/presentationml/2006/main">
  <p:tag name="AS_UNIQUEID" val="52"/>
</p:tagLst>
</file>

<file path=ppt/tags/tag43.xml><?xml version="1.0" encoding="utf-8"?>
<p:tagLst xmlns:a="http://schemas.openxmlformats.org/drawingml/2006/main" xmlns:r="http://schemas.openxmlformats.org/officeDocument/2006/relationships" xmlns:p="http://schemas.openxmlformats.org/presentationml/2006/main">
  <p:tag name="AS_UNIQUEID" val="53"/>
</p:tagLst>
</file>

<file path=ppt/tags/tag44.xml><?xml version="1.0" encoding="utf-8"?>
<p:tagLst xmlns:a="http://schemas.openxmlformats.org/drawingml/2006/main" xmlns:r="http://schemas.openxmlformats.org/officeDocument/2006/relationships" xmlns:p="http://schemas.openxmlformats.org/presentationml/2006/main">
  <p:tag name="AS_UNIQUEID" val="52"/>
</p:tagLst>
</file>

<file path=ppt/tags/tag45.xml><?xml version="1.0" encoding="utf-8"?>
<p:tagLst xmlns:a="http://schemas.openxmlformats.org/drawingml/2006/main" xmlns:r="http://schemas.openxmlformats.org/officeDocument/2006/relationships" xmlns:p="http://schemas.openxmlformats.org/presentationml/2006/main">
  <p:tag name="AS_UNIQUEID" val="53"/>
</p:tagLst>
</file>

<file path=ppt/tags/tag46.xml><?xml version="1.0" encoding="utf-8"?>
<p:tagLst xmlns:a="http://schemas.openxmlformats.org/drawingml/2006/main" xmlns:r="http://schemas.openxmlformats.org/officeDocument/2006/relationships" xmlns:p="http://schemas.openxmlformats.org/presentationml/2006/main">
  <p:tag name="AS_UNIQUEID" val="52"/>
</p:tagLst>
</file>

<file path=ppt/tags/tag47.xml><?xml version="1.0" encoding="utf-8"?>
<p:tagLst xmlns:a="http://schemas.openxmlformats.org/drawingml/2006/main" xmlns:r="http://schemas.openxmlformats.org/officeDocument/2006/relationships" xmlns:p="http://schemas.openxmlformats.org/presentationml/2006/main">
  <p:tag name="AS_UNIQUEID" val="53"/>
</p:tagLst>
</file>

<file path=ppt/tags/tag48.xml><?xml version="1.0" encoding="utf-8"?>
<p:tagLst xmlns:a="http://schemas.openxmlformats.org/drawingml/2006/main" xmlns:r="http://schemas.openxmlformats.org/officeDocument/2006/relationships" xmlns:p="http://schemas.openxmlformats.org/presentationml/2006/main">
  <p:tag name="AS_UNIQUEID" val="52"/>
</p:tagLst>
</file>

<file path=ppt/tags/tag49.xml><?xml version="1.0" encoding="utf-8"?>
<p:tagLst xmlns:a="http://schemas.openxmlformats.org/drawingml/2006/main" xmlns:r="http://schemas.openxmlformats.org/officeDocument/2006/relationships" xmlns:p="http://schemas.openxmlformats.org/presentationml/2006/main">
  <p:tag name="AS_UNIQUEID" val="53"/>
</p:tagLst>
</file>

<file path=ppt/tags/tag50.xml><?xml version="1.0" encoding="utf-8"?>
<p:tagLst xmlns:a="http://schemas.openxmlformats.org/drawingml/2006/main" xmlns:r="http://schemas.openxmlformats.org/officeDocument/2006/relationships" xmlns:p="http://schemas.openxmlformats.org/presentationml/2006/main">
  <p:tag name="AS_UNIQUEID" val="52"/>
</p:tagLst>
</file>

<file path=ppt/tags/tag51.xml><?xml version="1.0" encoding="utf-8"?>
<p:tagLst xmlns:a="http://schemas.openxmlformats.org/drawingml/2006/main" xmlns:r="http://schemas.openxmlformats.org/officeDocument/2006/relationships" xmlns:p="http://schemas.openxmlformats.org/presentationml/2006/main">
  <p:tag name="AS_UNIQUEID" val="53"/>
</p:tagLst>
</file>

<file path=ppt/tags/tag52.xml><?xml version="1.0" encoding="utf-8"?>
<p:tagLst xmlns:a="http://schemas.openxmlformats.org/drawingml/2006/main" xmlns:r="http://schemas.openxmlformats.org/officeDocument/2006/relationships" xmlns:p="http://schemas.openxmlformats.org/presentationml/2006/main">
  <p:tag name="AS_UNIQUEID" val="52"/>
</p:tagLst>
</file>

<file path=ppt/tags/tag53.xml><?xml version="1.0" encoding="utf-8"?>
<p:tagLst xmlns:a="http://schemas.openxmlformats.org/drawingml/2006/main" xmlns:r="http://schemas.openxmlformats.org/officeDocument/2006/relationships" xmlns:p="http://schemas.openxmlformats.org/presentationml/2006/main">
  <p:tag name="AS_UNIQUEID" val="53"/>
</p:tagLst>
</file>

<file path=ppt/tags/tag54.xml><?xml version="1.0" encoding="utf-8"?>
<p:tagLst xmlns:a="http://schemas.openxmlformats.org/drawingml/2006/main" xmlns:r="http://schemas.openxmlformats.org/officeDocument/2006/relationships" xmlns:p="http://schemas.openxmlformats.org/presentationml/2006/main">
  <p:tag name="AS_UNIQUEID" val="52"/>
</p:tagLst>
</file>

<file path=ppt/tags/tag55.xml><?xml version="1.0" encoding="utf-8"?>
<p:tagLst xmlns:a="http://schemas.openxmlformats.org/drawingml/2006/main" xmlns:r="http://schemas.openxmlformats.org/officeDocument/2006/relationships" xmlns:p="http://schemas.openxmlformats.org/presentationml/2006/main">
  <p:tag name="AS_UNIQUEID" val="53"/>
</p:tagLst>
</file>

<file path=ppt/tags/tag56.xml><?xml version="1.0" encoding="utf-8"?>
<p:tagLst xmlns:a="http://schemas.openxmlformats.org/drawingml/2006/main" xmlns:r="http://schemas.openxmlformats.org/officeDocument/2006/relationships" xmlns:p="http://schemas.openxmlformats.org/presentationml/2006/main">
  <p:tag name="AS_UNIQUEID" val="52"/>
</p:tagLst>
</file>

<file path=ppt/tags/tag57.xml><?xml version="1.0" encoding="utf-8"?>
<p:tagLst xmlns:a="http://schemas.openxmlformats.org/drawingml/2006/main" xmlns:r="http://schemas.openxmlformats.org/officeDocument/2006/relationships" xmlns:p="http://schemas.openxmlformats.org/presentationml/2006/main">
  <p:tag name="AS_UNIQUEID" val="53"/>
</p:tagLst>
</file>

<file path=ppt/tags/tag58.xml><?xml version="1.0" encoding="utf-8"?>
<p:tagLst xmlns:a="http://schemas.openxmlformats.org/drawingml/2006/main" xmlns:r="http://schemas.openxmlformats.org/officeDocument/2006/relationships" xmlns:p="http://schemas.openxmlformats.org/presentationml/2006/main">
  <p:tag name="AS_UNIQUEID" val="52"/>
</p:tagLst>
</file>

<file path=ppt/tags/tag59.xml><?xml version="1.0" encoding="utf-8"?>
<p:tagLst xmlns:a="http://schemas.openxmlformats.org/drawingml/2006/main" xmlns:r="http://schemas.openxmlformats.org/officeDocument/2006/relationships" xmlns:p="http://schemas.openxmlformats.org/presentationml/2006/main">
  <p:tag name="AS_UNIQUEID" val="53"/>
</p:tagLst>
</file>

<file path=ppt/tags/tag60.xml><?xml version="1.0" encoding="utf-8"?>
<p:tagLst xmlns:a="http://schemas.openxmlformats.org/drawingml/2006/main" xmlns:r="http://schemas.openxmlformats.org/officeDocument/2006/relationships" xmlns:p="http://schemas.openxmlformats.org/presentationml/2006/main">
  <p:tag name="AS_UNIQUEID" val="52"/>
</p:tagLst>
</file>

<file path=ppt/tags/tag61.xml><?xml version="1.0" encoding="utf-8"?>
<p:tagLst xmlns:a="http://schemas.openxmlformats.org/drawingml/2006/main" xmlns:r="http://schemas.openxmlformats.org/officeDocument/2006/relationships" xmlns:p="http://schemas.openxmlformats.org/presentationml/2006/main">
  <p:tag name="AS_UNIQUEID" val="53"/>
</p:tagLst>
</file>

<file path=ppt/tags/tag62.xml><?xml version="1.0" encoding="utf-8"?>
<p:tagLst xmlns:a="http://schemas.openxmlformats.org/drawingml/2006/main" xmlns:r="http://schemas.openxmlformats.org/officeDocument/2006/relationships" xmlns:p="http://schemas.openxmlformats.org/presentationml/2006/main">
  <p:tag name="AS_UNIQUEID" val="52"/>
</p:tagLst>
</file>

<file path=ppt/tags/tag63.xml><?xml version="1.0" encoding="utf-8"?>
<p:tagLst xmlns:a="http://schemas.openxmlformats.org/drawingml/2006/main" xmlns:r="http://schemas.openxmlformats.org/officeDocument/2006/relationships" xmlns:p="http://schemas.openxmlformats.org/presentationml/2006/main">
  <p:tag name="AS_UNIQUEID" val="53"/>
</p:tagLst>
</file>

<file path=ppt/tags/tag64.xml><?xml version="1.0" encoding="utf-8"?>
<p:tagLst xmlns:a="http://schemas.openxmlformats.org/drawingml/2006/main" xmlns:r="http://schemas.openxmlformats.org/officeDocument/2006/relationships" xmlns:p="http://schemas.openxmlformats.org/presentationml/2006/main">
  <p:tag name="AS_UNIQUEID" val="52"/>
</p:tagLst>
</file>

<file path=ppt/tags/tag65.xml><?xml version="1.0" encoding="utf-8"?>
<p:tagLst xmlns:a="http://schemas.openxmlformats.org/drawingml/2006/main" xmlns:r="http://schemas.openxmlformats.org/officeDocument/2006/relationships" xmlns:p="http://schemas.openxmlformats.org/presentationml/2006/main">
  <p:tag name="AS_UNIQUEID" val="53"/>
</p:tagLst>
</file>

<file path=ppt/tags/tag66.xml><?xml version="1.0" encoding="utf-8"?>
<p:tagLst xmlns:a="http://schemas.openxmlformats.org/drawingml/2006/main" xmlns:r="http://schemas.openxmlformats.org/officeDocument/2006/relationships" xmlns:p="http://schemas.openxmlformats.org/presentationml/2006/main">
  <p:tag name="AS_UNIQUEID" val="52"/>
</p:tagLst>
</file>

<file path=ppt/tags/tag67.xml><?xml version="1.0" encoding="utf-8"?>
<p:tagLst xmlns:a="http://schemas.openxmlformats.org/drawingml/2006/main" xmlns:r="http://schemas.openxmlformats.org/officeDocument/2006/relationships" xmlns:p="http://schemas.openxmlformats.org/presentationml/2006/main">
  <p:tag name="AS_UNIQUEID" val="53"/>
</p:tagLst>
</file>

<file path=ppt/tags/tag68.xml><?xml version="1.0" encoding="utf-8"?>
<p:tagLst xmlns:a="http://schemas.openxmlformats.org/drawingml/2006/main" xmlns:r="http://schemas.openxmlformats.org/officeDocument/2006/relationships" xmlns:p="http://schemas.openxmlformats.org/presentationml/2006/main">
  <p:tag name="AS_UNIQUEID" val="52"/>
</p:tagLst>
</file>

<file path=ppt/tags/tag69.xml><?xml version="1.0" encoding="utf-8"?>
<p:tagLst xmlns:a="http://schemas.openxmlformats.org/drawingml/2006/main" xmlns:r="http://schemas.openxmlformats.org/officeDocument/2006/relationships" xmlns:p="http://schemas.openxmlformats.org/presentationml/2006/main">
  <p:tag name="AS_UNIQUEID" val="53"/>
</p:tagLst>
</file>

<file path=ppt/tags/tag70.xml><?xml version="1.0" encoding="utf-8"?>
<p:tagLst xmlns:a="http://schemas.openxmlformats.org/drawingml/2006/main" xmlns:r="http://schemas.openxmlformats.org/officeDocument/2006/relationships" xmlns:p="http://schemas.openxmlformats.org/presentationml/2006/main">
  <p:tag name="AS_UNIQUEID" val="52"/>
</p:tagLst>
</file>

<file path=ppt/tags/tag71.xml><?xml version="1.0" encoding="utf-8"?>
<p:tagLst xmlns:a="http://schemas.openxmlformats.org/drawingml/2006/main" xmlns:r="http://schemas.openxmlformats.org/officeDocument/2006/relationships" xmlns:p="http://schemas.openxmlformats.org/presentationml/2006/main">
  <p:tag name="AS_UNIQUEID" val="53"/>
</p:tagLst>
</file>

<file path=ppt/tags/tag72.xml><?xml version="1.0" encoding="utf-8"?>
<p:tagLst xmlns:a="http://schemas.openxmlformats.org/drawingml/2006/main" xmlns:r="http://schemas.openxmlformats.org/officeDocument/2006/relationships" xmlns:p="http://schemas.openxmlformats.org/presentationml/2006/main">
  <p:tag name="AS_UNIQUEID" val="52"/>
</p:tagLst>
</file>

<file path=ppt/tags/tag73.xml><?xml version="1.0" encoding="utf-8"?>
<p:tagLst xmlns:a="http://schemas.openxmlformats.org/drawingml/2006/main" xmlns:r="http://schemas.openxmlformats.org/officeDocument/2006/relationships" xmlns:p="http://schemas.openxmlformats.org/presentationml/2006/main">
  <p:tag name="AS_UNIQUEID" val="53"/>
</p:tagLst>
</file>

<file path=ppt/tags/tag74.xml><?xml version="1.0" encoding="utf-8"?>
<p:tagLst xmlns:a="http://schemas.openxmlformats.org/drawingml/2006/main" xmlns:r="http://schemas.openxmlformats.org/officeDocument/2006/relationships" xmlns:p="http://schemas.openxmlformats.org/presentationml/2006/main">
  <p:tag name="AS_UNIQUEID" val="52"/>
</p:tagLst>
</file>

<file path=ppt/tags/tag75.xml><?xml version="1.0" encoding="utf-8"?>
<p:tagLst xmlns:a="http://schemas.openxmlformats.org/drawingml/2006/main" xmlns:r="http://schemas.openxmlformats.org/officeDocument/2006/relationships" xmlns:p="http://schemas.openxmlformats.org/presentationml/2006/main">
  <p:tag name="AS_UNIQUEID" val="53"/>
</p:tagLst>
</file>

<file path=ppt/tags/tag76.xml><?xml version="1.0" encoding="utf-8"?>
<p:tagLst xmlns:a="http://schemas.openxmlformats.org/drawingml/2006/main" xmlns:r="http://schemas.openxmlformats.org/officeDocument/2006/relationships" xmlns:p="http://schemas.openxmlformats.org/presentationml/2006/main">
  <p:tag name="AS_UNIQUEID" val="52"/>
</p:tagLst>
</file>

<file path=ppt/tags/tag77.xml><?xml version="1.0" encoding="utf-8"?>
<p:tagLst xmlns:a="http://schemas.openxmlformats.org/drawingml/2006/main" xmlns:r="http://schemas.openxmlformats.org/officeDocument/2006/relationships" xmlns:p="http://schemas.openxmlformats.org/presentationml/2006/main">
  <p:tag name="AS_UNIQUEID" val="53"/>
</p:tagLst>
</file>

<file path=ppt/tags/tag78.xml><?xml version="1.0" encoding="utf-8"?>
<p:tagLst xmlns:a="http://schemas.openxmlformats.org/drawingml/2006/main" xmlns:r="http://schemas.openxmlformats.org/officeDocument/2006/relationships" xmlns:p="http://schemas.openxmlformats.org/presentationml/2006/main">
  <p:tag name="AS_UNIQUEID" val="52"/>
</p:tagLst>
</file>

<file path=ppt/tags/tag79.xml><?xml version="1.0" encoding="utf-8"?>
<p:tagLst xmlns:a="http://schemas.openxmlformats.org/drawingml/2006/main" xmlns:r="http://schemas.openxmlformats.org/officeDocument/2006/relationships" xmlns:p="http://schemas.openxmlformats.org/presentationml/2006/main">
  <p:tag name="AS_UNIQUEID" val="5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7158</TotalTime>
  <Words>2018</Words>
  <Application>Microsoft Office PowerPoint</Application>
  <PresentationFormat>On-screen Show (4:3)</PresentationFormat>
  <Paragraphs>245</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Courier New</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Kumar</dc:creator>
  <cp:lastModifiedBy>Gaurav Kumar</cp:lastModifiedBy>
  <cp:revision>183</cp:revision>
  <dcterms:created xsi:type="dcterms:W3CDTF">2024-08-22T07:30:41Z</dcterms:created>
  <dcterms:modified xsi:type="dcterms:W3CDTF">2026-10-23T03:11:39Z</dcterms:modified>
</cp:coreProperties>
</file>